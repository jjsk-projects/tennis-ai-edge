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pening" id="{97ec4df9-0eee-081a-04ab-204238e151c9}">
          <p14:sldIdLst>
            <p14:sldId id="256"/>
          </p14:sldIdLst>
        </p14:section>
        <p14:section name="Problem" id="{0bd142b6-2f47-c619-0757-a7fda03e9e37}">
          <p14:sldIdLst>
            <p14:sldId id="257"/>
          </p14:sldIdLst>
        </p14:section>
        <p14:section name="Solution" id="{1df219d5-7224-5319-b240-3ff455dec26c}">
          <p14:sldIdLst>
            <p14:sldId id="258"/>
            <p14:sldId id="259"/>
            <p14:sldId id="260"/>
          </p14:sldIdLst>
        </p14:section>
        <p14:section name="Results" id="{e28d17e0-9158-b284-3985-e271282bb34e}">
          <p14:sldIdLst>
            <p14:sldId id="261"/>
            <p14:sldId id="262"/>
            <p14:sldId id="263"/>
          </p14:sldIdLst>
        </p14:section>
        <p14:section name="Readiness" id="{0dcad191-e207-3c4d-f7bb-2924d57c5cc1}">
          <p14:sldIdLst>
            <p14:sldId id="264"/>
          </p14:sldIdLst>
        </p14:section>
        <p14:section name="Close" id="{21d127eb-4ef6-1f78-13aa-71efa115df51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373A31"/>
                </a:solidFill>
                <a:latin typeface="+mn-lt"/>
              </a:defRPr>
            </a:pPr>
            <a:r>
              <a:rPr sz="1300" b="0" i="0" u="none" strike="noStrike">
                <a:solidFill>
                  <a:srgbClr val="373A31"/>
                </a:solidFill>
                <a:latin typeface="+mn-lt"/>
              </a:rPr>
              <a:t>Where the 199 s go today (CPU only)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seconds</c:v>
                </c:pt>
              </c:strCache>
            </c:strRef>
          </c:tx>
          <c:spPr>
            <a:solidFill>
              <a:srgbClr val="79BA00"/>
            </a:solidFill>
            <a:effectLst/>
          </c:spPr>
          <c:invertIfNegative val="0"/>
          <c:dLbls>
            <c:numFmt formatCode="0&quot; s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F211C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Split into frames</c:v>
                  </c:pt>
                  <c:pt idx="1">
                    <c:v>Player detection</c:v>
                  </c:pt>
                  <c:pt idx="2">
                    <c:v>Skeleton</c:v>
                  </c:pt>
                  <c:pt idx="3">
                    <c:v>Ball candidates</c:v>
                  </c:pt>
                  <c:pt idx="4">
                    <c:v>Strokes + racquet</c:v>
                  </c:pt>
                  <c:pt idx="5">
                    <c:v>Pictures + GIFs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34</c:v>
                </c:pt>
                <c:pt idx="1">
                  <c:v>10</c:v>
                </c:pt>
                <c:pt idx="2">
                  <c:v>25</c:v>
                </c:pt>
                <c:pt idx="3">
                  <c:v>46</c:v>
                </c:pt>
                <c:pt idx="4">
                  <c:v>47</c:v>
                </c:pt>
                <c:pt idx="5">
                  <c:v>26</c:v>
                </c:pt>
              </c:numCache>
            </c:numRef>
          </c:val>
        </c:ser>
        <c:dLbls>
          <c:numFmt formatCode="0&quot; s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F211C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F211C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A phone films a serve or forehand; the AI runs at the edge - phone plus ASUS UGen300 - and coaches the player right there on court, with no cloud. Jefferson covers the product and the forehand; Ben covers the serve, the demo and edge readiness.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Frame the problem as a hypothesis; the edge is not a gimmick here - network, privacy and speed all point to on-device processing.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Frames go from the phone to the UGen300 over USB-C; boxes and skeletons come back; the light logic runs on the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The ball is now searched on the full screen, which is what makes the bounce visible. A stroke only counts when the ball is followed out of a fast-moving racquet.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No machine learning in the judgement: each check is an explainable rule on a measured number. The coach lists everything: what is good, every fix in priority order, and what could not be measured. The template runs offline; a local LLM or Claude can reword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Ben. Yellow = toss fitted to a gravity curve; star = contact (midpoint between the last toss frame and the first frame of the hit ball); orange = ball leaving. Contact frame 50.5 matches the manual frame-by-frame check.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Each row is one forehand; 'Fixes' counts the failed checks, all of which the coach reports in priority order.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Ben. Live demo: python app/server.py, then analyse IMG_3025.mov (serve, about 45 s) or forehand_120fps.mp4 (about 3.3 min on a laptop CPU).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Ben. Today's numbers are CPU-only. First step at the hackathon: compile YOLOX-tiny for Hailo and measure per-frame latency on the UGen300. On a Mac, ONNX Runtime uses CoreML automatically when available.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Presenter: Jefferson. Close and hand over to the live demo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373A3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4069080"/>
            <a:ext cx="87782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800" dirty="0">
                <a:solidFill>
                  <a:schemeClr val="accent4"/>
                </a:solidFill>
              </a:defRPr>
            </a:lvl1pPr>
          </a:lstStyle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100" b="1" spc="1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3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20272" y="256032"/>
            <a:ext cx="384048" cy="384048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731520" y="731520"/>
            <a:ext cx="1005840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 Lab: instant tennis coaching, computed on the court</a:t>
            </a:r>
            <a:endParaRPr lang="en-US" sz="40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73152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chemeClr val="accent4"/>
                </a:solidFill>
              </a:rPr>
              <a:t>ASUS Hackathon 2026  |  Android phone + ASUS UGen300 (Hailo NPU)  |  Jefferson &amp; Ben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PROBLEM AND WHY EDGE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Players cannot see their own technique, and the fix has to be instant, private and offline - a natural edge problem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Our hypothesis, to be validated with players and coaches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5"/>
                </a:solidFill>
              </a:rPr>
              <a:t>The problem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48640" y="224028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240487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463040" y="222199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Invisible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258775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Foot order, toss height and the hitting point happen in a fraction of a second.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347472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3639312"/>
            <a:ext cx="356616" cy="356616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63040" y="345643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Delayed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63040" y="382219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Video review happens after the session, when the feel of the stroke is gone.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709160"/>
            <a:ext cx="685800" cy="685800"/>
          </a:xfrm>
          <a:prstGeom prst="ellipse">
            <a:avLst/>
          </a:prstGeom>
          <a:solidFill>
            <a:schemeClr val="tx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4873752"/>
            <a:ext cx="356616" cy="35661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63040" y="4690872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Coach-dependent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63040" y="5056632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Frame-by-frame analysis needs a coach's time for every stroke.</a:t>
            </a:r>
            <a:endParaRPr lang="en-US" sz="1400" dirty="0"/>
          </a:p>
        </p:txBody>
      </p:sp>
      <p:sp>
        <p:nvSpPr>
          <p:cNvPr id="18" name="why edge"/>
          <p:cNvSpPr/>
          <p:nvPr/>
        </p:nvSpPr>
        <p:spPr>
          <a:xfrm>
            <a:off x="6675120" y="1737360"/>
            <a:ext cx="4937760" cy="420624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949440" y="192024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edge computing</a:t>
            </a:r>
            <a:endParaRPr lang="en-US" sz="1800" dirty="0"/>
          </a:p>
        </p:txBody>
      </p:sp>
      <p:sp>
        <p:nvSpPr>
          <p:cNvPr id="20" name="Text 15"/>
          <p:cNvSpPr txBox="1"/>
          <p:nvPr/>
        </p:nvSpPr>
        <p:spPr>
          <a:xfrm>
            <a:off x="6949440" y="251460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Offline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949440" y="28620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Courts often have weak or no Wi-Fi; every step runs on the phone and the UGen300.</a:t>
            </a:r>
            <a:endParaRPr lang="en-US" sz="1400" dirty="0"/>
          </a:p>
        </p:txBody>
      </p:sp>
      <p:sp>
        <p:nvSpPr>
          <p:cNvPr id="22" name="Text 17"/>
          <p:cNvSpPr txBox="1"/>
          <p:nvPr/>
        </p:nvSpPr>
        <p:spPr>
          <a:xfrm>
            <a:off x="6949440" y="361188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Private</a:t>
            </a:r>
            <a:endParaRPr lang="en-US" sz="1600" dirty="0"/>
          </a:p>
        </p:txBody>
      </p:sp>
      <p:sp>
        <p:nvSpPr>
          <p:cNvPr id="23" name="Text 18"/>
          <p:cNvSpPr txBox="1"/>
          <p:nvPr/>
        </p:nvSpPr>
        <p:spPr>
          <a:xfrm>
            <a:off x="6949440" y="395935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Video of players (often juniors) never leaves the court.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6949440" y="470916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Instant</a:t>
            </a:r>
            <a:endParaRPr lang="en-US" sz="1600" dirty="0"/>
          </a:p>
        </p:txBody>
      </p:sp>
      <p:sp>
        <p:nvSpPr>
          <p:cNvPr id="25" name="Text 20"/>
          <p:cNvSpPr txBox="1"/>
          <p:nvPr/>
        </p:nvSpPr>
        <p:spPr>
          <a:xfrm>
            <a:off x="6949440" y="505663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4"/>
                </a:solidFill>
              </a:rPr>
              <a:t>Feedback between points, while the player can still feel the stroke.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SOLUTION AND EDGE ARCHITECTURE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stages turn a phone clip into coaching; the phone does capture and logic, the UGen300's NPU runs the neural models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Hackathon demo runs the same pipeline as a web app on a laptop; YOLOX is in the Hailo Model Zoo, the pose model still has to be converted and benchmarked</a:t>
            </a:r>
            <a:endParaRPr lang="en-US" sz="1000" dirty="0"/>
          </a:p>
        </p:txBody>
      </p:sp>
      <p:sp>
        <p:nvSpPr>
          <p:cNvPr id="5" name="stage 1"/>
          <p:cNvSpPr/>
          <p:nvPr/>
        </p:nvSpPr>
        <p:spPr>
          <a:xfrm>
            <a:off x="548640" y="1828800"/>
            <a:ext cx="2194560" cy="914400"/>
          </a:xfrm>
          <a:prstGeom prst="homePlate">
            <a:avLst/>
          </a:prstGeom>
          <a:solidFill>
            <a:schemeClr val="tx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03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16152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 Frames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Video split into one image per frame (120 per second)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640080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Runs on: Phone</a:t>
            </a:r>
            <a:endParaRPr lang="en-US" sz="1200" dirty="0"/>
          </a:p>
        </p:txBody>
      </p:sp>
      <p:sp>
        <p:nvSpPr>
          <p:cNvPr id="10" name="stage 2"/>
          <p:cNvSpPr/>
          <p:nvPr/>
        </p:nvSpPr>
        <p:spPr>
          <a:xfrm>
            <a:off x="2779776" y="1828800"/>
            <a:ext cx="2194560" cy="914400"/>
          </a:xfrm>
          <a:prstGeom prst="chevron">
            <a:avLst/>
          </a:prstGeom>
          <a:solidFill>
            <a:schemeClr val="tx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6976" y="21031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675888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 Skeleton</a:t>
            </a:r>
            <a:endParaRPr lang="en-US" sz="1500" dirty="0"/>
          </a:p>
        </p:txBody>
      </p:sp>
      <p:sp>
        <p:nvSpPr>
          <p:cNvPr id="13" name="Text 9"/>
          <p:cNvSpPr txBox="1"/>
          <p:nvPr/>
        </p:nvSpPr>
        <p:spPr>
          <a:xfrm>
            <a:off x="2871216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Player box + 33-point skeleton on a zoomed crop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871216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Runs on: UGen300</a:t>
            </a:r>
            <a:endParaRPr lang="en-US" sz="1200" dirty="0"/>
          </a:p>
        </p:txBody>
      </p:sp>
      <p:sp>
        <p:nvSpPr>
          <p:cNvPr id="15" name="stage 3"/>
          <p:cNvSpPr/>
          <p:nvPr/>
        </p:nvSpPr>
        <p:spPr>
          <a:xfrm>
            <a:off x="5010912" y="1828800"/>
            <a:ext cx="2194560" cy="914400"/>
          </a:xfrm>
          <a:prstGeom prst="chevron">
            <a:avLst/>
          </a:prstGeom>
          <a:solidFill>
            <a:schemeClr val="tx2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8112" y="210312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5907024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 Ball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5102352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Racquet, full-screen ball path, bounce, hitting point</a:t>
            </a:r>
            <a:endParaRPr lang="en-US" sz="1300" dirty="0"/>
          </a:p>
        </p:txBody>
      </p:sp>
      <p:sp>
        <p:nvSpPr>
          <p:cNvPr id="19" name="Text 14"/>
          <p:cNvSpPr txBox="1"/>
          <p:nvPr/>
        </p:nvSpPr>
        <p:spPr>
          <a:xfrm>
            <a:off x="5102352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Runs on: UGen300 + phone</a:t>
            </a:r>
            <a:endParaRPr lang="en-US" sz="1200" dirty="0"/>
          </a:p>
        </p:txBody>
      </p:sp>
      <p:sp>
        <p:nvSpPr>
          <p:cNvPr id="20" name="stage 4"/>
          <p:cNvSpPr/>
          <p:nvPr/>
        </p:nvSpPr>
        <p:spPr>
          <a:xfrm>
            <a:off x="7242048" y="1828800"/>
            <a:ext cx="2194560" cy="914400"/>
          </a:xfrm>
          <a:prstGeom prst="chevron">
            <a:avLst/>
          </a:prstGeom>
          <a:solidFill>
            <a:schemeClr val="tx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9248" y="2103120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8138160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 Judge</a:t>
            </a:r>
            <a:endParaRPr lang="en-US" sz="1500" dirty="0"/>
          </a:p>
        </p:txBody>
      </p:sp>
      <p:sp>
        <p:nvSpPr>
          <p:cNvPr id="23" name="Text 17"/>
          <p:cNvSpPr txBox="1"/>
          <p:nvPr/>
        </p:nvSpPr>
        <p:spPr>
          <a:xfrm>
            <a:off x="7333488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18 forehand / 15 serve coaching checks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333488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Runs on: Phone</a:t>
            </a:r>
            <a:endParaRPr lang="en-US" sz="1200" dirty="0"/>
          </a:p>
        </p:txBody>
      </p:sp>
      <p:sp>
        <p:nvSpPr>
          <p:cNvPr id="25" name="stage 5"/>
          <p:cNvSpPr/>
          <p:nvPr/>
        </p:nvSpPr>
        <p:spPr>
          <a:xfrm>
            <a:off x="9473184" y="1828800"/>
            <a:ext cx="2194560" cy="914400"/>
          </a:xfrm>
          <a:prstGeom prst="chevron">
            <a:avLst/>
          </a:prstGeom>
          <a:solidFill>
            <a:schemeClr val="accent1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30384" y="2103120"/>
            <a:ext cx="365760" cy="36576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0369296" y="2011680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5 Coach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9564624" y="2926080"/>
            <a:ext cx="2057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result as plain-language feedback</a:t>
            </a:r>
            <a:endParaRPr lang="en-US" sz="1300" dirty="0"/>
          </a:p>
        </p:txBody>
      </p:sp>
      <p:sp>
        <p:nvSpPr>
          <p:cNvPr id="29" name="Text 22"/>
          <p:cNvSpPr txBox="1"/>
          <p:nvPr/>
        </p:nvSpPr>
        <p:spPr>
          <a:xfrm>
            <a:off x="9564624" y="3794760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Runs on: Phone or UGen300</a:t>
            </a:r>
            <a:endParaRPr lang="en-US" sz="1200" dirty="0"/>
          </a:p>
        </p:txBody>
      </p:sp>
      <p:sp>
        <p:nvSpPr>
          <p:cNvPr id="30" name="Android phone"/>
          <p:cNvSpPr/>
          <p:nvPr/>
        </p:nvSpPr>
        <p:spPr>
          <a:xfrm>
            <a:off x="548640" y="4389120"/>
            <a:ext cx="5440680" cy="1554480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82296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Android phone</a:t>
            </a:r>
            <a:endParaRPr lang="en-US" sz="1600" dirty="0"/>
          </a:p>
        </p:txBody>
      </p:sp>
      <p:sp>
        <p:nvSpPr>
          <p:cNvPr id="32" name="Text 25"/>
          <p:cNvSpPr txBox="1"/>
          <p:nvPr/>
        </p:nvSpPr>
        <p:spPr>
          <a:xfrm>
            <a:off x="82296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120 fps camera, frame splitting, ball maths (OpenCV), coaching logic, results screen</a:t>
            </a:r>
            <a:endParaRPr lang="en-US" sz="1400" dirty="0"/>
          </a:p>
        </p:txBody>
      </p:sp>
      <p:sp>
        <p:nvSpPr>
          <p:cNvPr id="33" name="ASUS UGen300 (Hailo NPU)"/>
          <p:cNvSpPr/>
          <p:nvPr/>
        </p:nvSpPr>
        <p:spPr>
          <a:xfrm>
            <a:off x="6172200" y="4389120"/>
            <a:ext cx="5440680" cy="155448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4" name="Text 27"/>
          <p:cNvSpPr txBox="1"/>
          <p:nvPr/>
        </p:nvSpPr>
        <p:spPr>
          <a:xfrm>
            <a:off x="6446520" y="4526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ASUS UGen300 (Hailo NPU)</a:t>
            </a:r>
            <a:endParaRPr lang="en-US" sz="1600" dirty="0"/>
          </a:p>
        </p:txBody>
      </p:sp>
      <p:sp>
        <p:nvSpPr>
          <p:cNvPr id="35" name="Text 28"/>
          <p:cNvSpPr txBox="1"/>
          <p:nvPr/>
        </p:nvSpPr>
        <p:spPr>
          <a:xfrm>
            <a:off x="6446520" y="493776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Player and racquet detection (YOLOX), skeleton model; optional small local LLM coach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STAGES 1-3: SEE THE STROKE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frame is kept, the skeleton is fitted on a zoom, and the ball is tracked across the whole screen to find the bounce and the hitting point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Forehand 2 of the 120 fps clip. Skeleton: MediaPipe BlazePose; player and racquet: YOLOX-tiny (both Apache-2.0)</a:t>
            </a:r>
            <a:endParaRPr lang="en-US" sz="1000" dirty="0"/>
          </a:p>
        </p:txBody>
      </p:sp>
      <p:pic>
        <p:nvPicPr>
          <p:cNvPr id="5" name="trajectory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583680" cy="3703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4864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Full-frame ball path: incoming ball, bounce (cross), hitting point (star) and the ball leaving (arrow)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7830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1 Frames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498080" y="214884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120 images per second, written once to disk, so a 1080p clip never fills memory.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1089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2 Skeleton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47472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33 joints on a zoomed crop, smoothed over ~33 ms and converted to metres from the player's height.</a:t>
            </a:r>
            <a:endParaRPr lang="en-US" sz="1300" dirty="0"/>
          </a:p>
        </p:txBody>
      </p:sp>
      <p:sp>
        <p:nvSpPr>
          <p:cNvPr id="11" name="Text 8"/>
          <p:cNvSpPr txBox="1"/>
          <p:nvPr/>
        </p:nvSpPr>
        <p:spPr>
          <a:xfrm>
            <a:off x="7498080" y="4434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3 Ball and racquet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498080" y="4800600"/>
            <a:ext cx="4114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Yellow moving blobs anywhere on screen are chained frame to frame; the hitting point is the midpoint of the two frames closest to the racquet head.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STAGES 4-5: JUDGE AND COACH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Plain coaching logic - 18 forehand and 15 serve checks - and the coach reports every one of them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Targets are general club-coaching ranges for a right-handed player; a check shows 'not measurable' when the clip cannot support it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73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Top-priority forehand rules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48640" y="21945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143000" y="217627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Hitting point above your head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50545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Behind the baseline: move forward. Inside the court: leave no-man's land and let the ball drop.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320040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48640" y="32004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1143000" y="318211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Ball bounced too far in front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5112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Ball took longer than 0.8 s from bounce to racquet: move forward to meet it.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438912" cy="43891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420624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143000" y="4187952"/>
            <a:ext cx="49377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Not sideways in preparation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51713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Turn shoulders and hips sideways before the swing.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2578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5"/>
                </a:solidFill>
              </a:rPr>
              <a:t>Also checked: </a:t>
            </a:r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 in front, left foot in front, contact height, spacing, arm, head still, early preparation, left arm, knees, base, racquet drop, low-to-high, leg drive, finish, balance.</a:t>
            </a:r>
            <a:endParaRPr lang="en-US" sz="1200" dirty="0"/>
          </a:p>
        </p:txBody>
      </p:sp>
      <p:sp>
        <p:nvSpPr>
          <p:cNvPr id="19" name="coach note"/>
          <p:cNvSpPr/>
          <p:nvPr/>
        </p:nvSpPr>
        <p:spPr>
          <a:xfrm>
            <a:off x="6400800" y="1737360"/>
            <a:ext cx="5212080" cy="4297680"/>
          </a:xfrm>
          <a:prstGeom prst="rect">
            <a:avLst/>
          </a:prstGeom>
          <a:solidFill>
            <a:schemeClr val="accent4"/>
          </a:solidFill>
          <a:ln/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920240"/>
            <a:ext cx="365760" cy="36576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7132320" y="192024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Coach, forehand 5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6629400" y="2423160"/>
            <a:ext cx="4800600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Good (12): Contact not above your head; Ball bounced close enough; Body sideways in preparation; Contact in front of the body; Early preparation; Left arm tracks the ball; Load the legs (squat); Stable base; Racquet drops below the ball; Low-to-high swing (topspin); Legs drive up into the ball; Finish over the left shoulder.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To improve on your next forehands (5, most important first):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1. [Footwork] At contact your right foot is in front of your left. Step in with the LEFT foot so your weight transfers forward through the ball.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2. [Contact] You are hitting the ball too low - bend your knees to get down to it or take it a little earlier.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3. [Contact] Give yourself room: meet the ball about an arm's length to your right, not jammed into the body or at full stretch.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4. [Contact] Keep your head still and your eyes on the contact point until the ball has left the strings.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5. [Finish] Stay balanced: at the finish your head should be over your feet, not falling away.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Could not measure (1): Arm not cramped at contact (film a little closer, steady, with the ball in view).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DEMO RESULT: SERVE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Serve: the toss, the exact contact moment and the heights that matter, from a low-resolution phone clip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Clip IMG_3025: phone, 30 fps, player about 86 px tall. Heights scaled from the player's entered height (1.80 m); ball speed is a lower bound</a:t>
            </a:r>
            <a:endParaRPr lang="en-US" sz="1000" dirty="0"/>
          </a:p>
        </p:txBody>
      </p:sp>
      <p:pic>
        <p:nvPicPr>
          <p:cNvPr id="5" name="serve key momen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8229600" cy="27432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9098280" y="169164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3.25 m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9098280" y="205740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 height, with a jump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9098280" y="240487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4.23 m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277063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toss peak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3118104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≥ 100 km/h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9098280" y="348386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ball speed off the racquet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9098280" y="3831336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Frame 50.5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419709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contact, same as the manual check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4663440"/>
            <a:ext cx="11064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What the coach says: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10 of 15 checks good; 3 fixes in priority order - shoulders tilted up to the ball; toss arm stays up; land inside the court.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DEMO RESULT: FOREHAND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Forehand: 5 strokes found in one 15 s clip, each with racquet, hitting point and a full list of checks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Clip forehand_120fps.mp4: 1080p at 120 fps. A stroke counts only when the ball leaves a fast-moving racquet in the swing direction; unclear strokes are skipped</a:t>
            </a:r>
            <a:endParaRPr lang="en-US" sz="1000" dirty="0"/>
          </a:p>
        </p:txBody>
      </p:sp>
      <p:pic>
        <p:nvPicPr>
          <p:cNvPr id="5" name="forehand key moments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737360"/>
            <a:ext cx="6949440" cy="23225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1330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Forehand 2: white = racquet, star = hitting point, yellow = incoming ball, orange = ball leaving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4572000"/>
            <a:ext cx="69494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5"/>
                </a:solidFill>
              </a:rPr>
              <a:t>Read-out: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hitting point at 1.67 m, 13 of 18 checks good; fix: contact in front of the body; room between body and ball; early preparation; stable base.</a:t>
            </a:r>
            <a:endParaRPr lang="en-US" sz="1400" dirty="0"/>
          </a:p>
        </p:txBody>
      </p:sp>
      <p:graphicFrame>
        <p:nvGraphicFramePr>
          <p:cNvPr id="8" name="forehand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863840" y="1737360"/>
          <a:ext cx="374904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1097280"/>
                <a:gridCol w="1097280"/>
                <a:gridCol w="11887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#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Hitting point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Bounce to hit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chemeClr val="bg1"/>
                          </a:solidFill>
                        </a:rPr>
                        <a:t>Fixes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tx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1.11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0.86 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1.67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0.52 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0.52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seen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0.95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not seen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2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0.54 m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0.55 s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73152" marR="73152" marT="36576" marB="36576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chemeClr val="bg1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DEMO EXPERIENCE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 gets the answer first - the coach's note - and the visual evidence underneath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Screenshot of the Serve Lab web demo (serve mode, clip IMG_3025)</a:t>
            </a:r>
            <a:endParaRPr lang="en-US" sz="1000" dirty="0"/>
          </a:p>
        </p:txBody>
      </p:sp>
      <p:pic>
        <p:nvPicPr>
          <p:cNvPr id="5" name="web demo screenshot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5760720" cy="43434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75120" y="178308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6675120" y="17830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7360920" y="176479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Coach's note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360920" y="213055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everything that is good, every fix in priority order, what could not be measured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675120" y="283464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67512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360920" y="281635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Ball trajectory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360920" y="318211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full-screen path: incoming ball, bounce, hitting point, ball leaving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675120" y="388620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6675120" y="3886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7360920" y="386791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Slow motion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7360920" y="423367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annotated sequence with skeleton and racquet, key moments, joint heights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675120" y="4937760"/>
            <a:ext cx="502920" cy="5029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9" name="Text 16"/>
          <p:cNvSpPr txBox="1"/>
          <p:nvPr/>
        </p:nvSpPr>
        <p:spPr>
          <a:xfrm>
            <a:off x="6675120" y="49377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7360920" y="491947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2"/>
                </a:solidFill>
              </a:rPr>
              <a:t>Checklist</a:t>
            </a:r>
            <a:endParaRPr lang="en-US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7360920" y="5285232"/>
            <a:ext cx="4206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 check: good, improve or not measurable, with the measured value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chemeClr val="accent1"/>
                </a:solidFill>
              </a:rPr>
              <a:t>EDGE READINESS</a:t>
            </a:r>
            <a:endParaRPr lang="en-US" sz="11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603504"/>
            <a:ext cx="10424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heavy part is exactly what the NPU accelerates, and the whole stack is licensed for commercial use</a:t>
            </a:r>
            <a:endParaRPr lang="en-US" sz="26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6327648"/>
            <a:ext cx="9692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CPU time on a 2-core cloud machine, forehand clip (1818 frames, 1280x720 at 120 fps). Not yet benchmarked on the UGen300</a:t>
            </a:r>
            <a:endParaRPr lang="en-US" sz="1000" dirty="0"/>
          </a:p>
        </p:txBody>
      </p:sp>
      <p:graphicFrame>
        <p:nvGraphicFramePr>
          <p:cNvPr id="5" name="compute chart" descr=""/>
          <p:cNvGraphicFramePr/>
          <p:nvPr/>
        </p:nvGraphicFramePr>
        <p:xfrm>
          <a:off x="548640" y="1691640"/>
          <a:ext cx="58521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6858000" y="17830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Speed-ups already 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858000" y="21488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Detector at 10 Hz, skeleton at 60 Hz with gaps filled, shake estimate on a small copy: the forehand clip went from 270-390 s to 199 s.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6858000" y="31546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To the NPU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858000" y="35204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Detection, racquet and skeleton are standard networks - the work the Hailo NPU is built for.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858000" y="452628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5"/>
                </a:solidFill>
              </a:rPr>
              <a:t>Commercially clean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6858000" y="4892040"/>
            <a:ext cx="4754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OpenCV, MediaPipe, YOLOX, ONNX Runtime: Apache / BSD / MIT. Ultralytics YOLO (AGPL) deliberately avoided.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27648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A8F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go tile"/>
          <p:cNvSpPr/>
          <p:nvPr/>
        </p:nvSpPr>
        <p:spPr>
          <a:xfrm>
            <a:off x="731520" y="731520"/>
            <a:ext cx="1005840" cy="1005840"/>
          </a:xfrm>
          <a:prstGeom prst="roundRect">
            <a:avLst>
              <a:gd name="adj" fmla="val 13636"/>
            </a:avLst>
          </a:prstGeom>
          <a:solidFill>
            <a:schemeClr val="bg1"/>
          </a:solidFill>
          <a:ln/>
        </p:spPr>
      </p:sp>
      <p:pic>
        <p:nvPicPr>
          <p:cNvPr id="3" name="logo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822960"/>
            <a:ext cx="822960" cy="8229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0" type="title" hasCustomPrompt="1"/>
          </p:nvPr>
        </p:nvSpPr>
        <p:spPr>
          <a:xfrm>
            <a:off x="731520" y="2148840"/>
            <a:ext cx="8778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Next: from web demo to an Android app with the UGen300 doing the heavy lifting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Now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73152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Serve and forehand working end to end; web 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34340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Next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434340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YOLOX + pose on the Hailo NPU; Android app with filming guide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7955280" y="420624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Then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7955280" y="4617720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Coaches validate thresholds; backhand; club trials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3152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4"/>
                </a:solidFill>
              </a:rPr>
              <a:t>Thank you - Jefferson &amp; Ben</a:t>
            </a:r>
            <a:endParaRPr lang="en-US" sz="1800" dirty="0"/>
          </a:p>
        </p:txBody>
      </p:sp>
      <p:sp>
        <p:nvSpPr>
          <p:cNvPr id="13" name="Text 0"/>
          <p:cNvSpPr/>
          <p:nvPr>
            <p:ph idx="101" type="body" hasCustomPrompt="1"/>
          </p:nvPr>
        </p:nvSpPr>
        <p:spPr>
          <a:xfrm>
            <a:off x="731520" y="4069080"/>
            <a:ext cx="8778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erve Lab">
  <a:themeElements>
    <a:clrScheme name="Serve Lab">
      <a:dk1>
        <a:srgbClr val="1F211C"/>
      </a:dk1>
      <a:lt1>
        <a:srgbClr val="FFFFFF"/>
      </a:lt1>
      <a:dk2>
        <a:srgbClr val="373A31"/>
      </a:dk2>
      <a:lt2>
        <a:srgbClr val="F1F2EE"/>
      </a:lt2>
      <a:accent1>
        <a:srgbClr val="79BA00"/>
      </a:accent1>
      <a:accent2>
        <a:srgbClr val="373A31"/>
      </a:accent2>
      <a:accent3>
        <a:srgbClr val="8A8F80"/>
      </a:accent3>
      <a:accent4>
        <a:srgbClr val="C6E39A"/>
      </a:accent4>
      <a:accent5>
        <a:srgbClr val="3E6B00"/>
      </a:accent5>
      <a:accent6>
        <a:srgbClr val="B9BCB2"/>
      </a:accent6>
      <a:hlink>
        <a:srgbClr val="3E6B00"/>
      </a:hlink>
      <a:folHlink>
        <a:srgbClr val="5E6355"/>
      </a:folHlink>
    </a:clrScheme>
    <a:fontScheme name="Serve Lab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Serve Lab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Serve Lab - ASUS Hackathon</dc:title>
  <dc:subject>PptxGenJS Presentation</dc:subject>
  <dc:creator>PptxGenJS</dc:creator>
  <cp:lastModifiedBy>PptxGenJS</cp:lastModifiedBy>
  <cp:revision>1</cp:revision>
  <dcterms:created xsi:type="dcterms:W3CDTF">2026-10-11T22:54:46Z</dcterms:created>
  <dcterms:modified xsi:type="dcterms:W3CDTF">2026-10-11T22:54:46Z</dcterms:modified>
</cp:coreProperties>
</file>