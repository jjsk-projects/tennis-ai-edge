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1.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2.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a210d1ac-d079-44a9-0d3b-324c85b06cee}">
          <p14:sldIdLst>
            <p14:sldId id="256"/>
          </p14:sldIdLst>
        </p14:section>
        <p14:section name="Team" id="{f46429c9-f764-4bbc-3459-c7c5e72d6201}">
          <p14:sldIdLst>
            <p14:sldId id="257"/>
          </p14:sldIdLst>
        </p14:section>
        <p14:section name="Problem" id="{abd7f793-87ac-7c79-a8d5-95d41de30af4}">
          <p14:sldIdLst>
            <p14:sldId id="258"/>
          </p14:sldIdLst>
        </p14:section>
        <p14:section name="Solution" id="{f068d3f3-1911-9b8d-769b-59cd4ae433cd}">
          <p14:sldIdLst>
            <p14:sldId id="259"/>
            <p14:sldId id="260"/>
            <p14:sldId id="261"/>
          </p14:sldIdLst>
        </p14:section>
        <p14:section name="Results" id="{b3424bfc-c096-1a11-1af9-1dd768c0ba6c}">
          <p14:sldIdLst>
            <p14:sldId id="262"/>
            <p14:sldId id="263"/>
            <p14:sldId id="264"/>
          </p14:sldIdLst>
        </p14:section>
        <p14:section name="Readiness" id="{1c678ba8-19d6-b5df-28a1-176559a45f13}">
          <p14:sldIdLst>
            <p14:sldId id="265"/>
          </p14:sldIdLst>
        </p14:section>
        <p14:section name="Close" id="{96d2a712-1bb4-dcd8-09c0-82d3910411c9}">
          <p14:sldIdLst>
            <p14:sldId id="26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7A5233"/>
                </a:solidFill>
                <a:latin typeface="+mj-lt"/>
              </a:defRPr>
            </a:pPr>
            <a:r>
              <a:rPr sz="1300" b="0" i="0" u="none" strike="noStrike">
                <a:solidFill>
                  <a:srgbClr val="7A5233"/>
                </a:solidFill>
                <a:latin typeface="+mj-lt"/>
              </a:rPr>
              <a:t>Score out of 100, by level</a:t>
            </a:r>
          </a:p>
        </c:rich>
      </c:tx>
      <c:layout/>
      <c:overlay val="0"/>
    </c:title>
    <c:autoTitleDeleted val="0"/>
    <c:plotArea>
      <c:layout/>
      <c:barChart>
        <c:barDir val="col"/>
        <c:grouping val="clustered"/>
        <c:varyColors val="0"/>
        <c:ser>
          <c:idx val="0"/>
          <c:order val="0"/>
          <c:tx>
            <c:strRef>
              <c:f>Sheet1!$B$1</c:f>
              <c:strCache>
                <c:ptCount val="1"/>
                <c:pt idx="0">
                  <c:v>Beginner</c:v>
                </c:pt>
              </c:strCache>
            </c:strRef>
          </c:tx>
          <c:spPr>
            <a:solidFill>
              <a:srgbClr val="E2C79A"/>
            </a:solidFill>
            <a:effectLst/>
          </c:spPr>
          <c:invertIfNegative val="0"/>
          <c:dLbls>
            <c:numFmt formatCode="#,##0" sourceLinked="0"/>
            <c:txPr>
              <a:bodyPr/>
              <a:lstStyle/>
              <a:p>
                <a:pPr>
                  <a:defRPr b="0" i="0" strike="noStrike" sz="900" u="none">
                    <a:solidFill>
                      <a:srgbClr val="4A3121"/>
                    </a:solidFill>
                    <a:latin typeface="+mn-lt"/>
                  </a:defRPr>
                </a:pPr>
              </a:p>
            </c:txPr>
            <c:showLegendKey val="0"/>
            <c:showVal val="1"/>
            <c:showCatName val="0"/>
            <c:showSerName val="0"/>
            <c:showPercent val="0"/>
            <c:showBubbleSize val="0"/>
            <c:showLeaderLines val="0"/>
          </c:dLbls>
          <c:cat>
            <c:multiLvlStrRef>
              <c:f>Sheet1!$A$2:$A$5</c:f>
              <c:multiLvlStrCache>
                <c:ptCount val="4"/>
                <c:lvl>
                  <c:pt idx="0">
                    <c:v>Forehand 1</c:v>
                  </c:pt>
                  <c:pt idx="1">
                    <c:v>Forehand 2</c:v>
                  </c:pt>
                  <c:pt idx="2">
                    <c:v>Forehand 3</c:v>
                  </c:pt>
                  <c:pt idx="3">
                    <c:v>Forehand 4</c:v>
                  </c:pt>
                </c:lvl>
              </c:multiLvlStrCache>
            </c:multiLvlStrRef>
          </c:cat>
          <c:val>
            <c:numRef>
              <c:f>Sheet1!$B$2:$B$5</c:f>
              <c:numCache>
                <c:formatCode>General</c:formatCode>
                <c:ptCount val="4"/>
                <c:pt idx="0">
                  <c:v>91</c:v>
                </c:pt>
                <c:pt idx="1">
                  <c:v>95</c:v>
                </c:pt>
                <c:pt idx="2">
                  <c:v>90</c:v>
                </c:pt>
                <c:pt idx="3">
                  <c:v>78</c:v>
                </c:pt>
              </c:numCache>
            </c:numRef>
          </c:val>
        </c:ser>
        <c:ser>
          <c:idx val="1"/>
          <c:order val="1"/>
          <c:tx>
            <c:strRef>
              <c:f>Sheet1!$C$1</c:f>
              <c:strCache>
                <c:ptCount val="1"/>
                <c:pt idx="0">
                  <c:v>Intermediate</c:v>
                </c:pt>
              </c:strCache>
            </c:strRef>
          </c:tx>
          <c:spPr>
            <a:solidFill>
              <a:srgbClr val="7A5233"/>
            </a:solidFill>
            <a:effectLst/>
          </c:spPr>
          <c:invertIfNegative val="0"/>
          <c:dLbls>
            <c:numFmt formatCode="#,##0" sourceLinked="0"/>
            <c:txPr>
              <a:bodyPr/>
              <a:lstStyle/>
              <a:p>
                <a:pPr>
                  <a:defRPr b="0" i="0" strike="noStrike" sz="900" u="none">
                    <a:solidFill>
                      <a:srgbClr val="4A3121"/>
                    </a:solidFill>
                    <a:latin typeface="+mn-lt"/>
                  </a:defRPr>
                </a:pPr>
              </a:p>
            </c:txPr>
            <c:showLegendKey val="0"/>
            <c:showVal val="1"/>
            <c:showCatName val="0"/>
            <c:showSerName val="0"/>
            <c:showPercent val="0"/>
            <c:showBubbleSize val="0"/>
            <c:showLeaderLines val="0"/>
          </c:dLbls>
          <c:cat>
            <c:multiLvlStrRef>
              <c:f>Sheet1!$A$2:$A$5</c:f>
              <c:multiLvlStrCache>
                <c:ptCount val="4"/>
                <c:lvl>
                  <c:pt idx="0">
                    <c:v>Forehand 1</c:v>
                  </c:pt>
                  <c:pt idx="1">
                    <c:v>Forehand 2</c:v>
                  </c:pt>
                  <c:pt idx="2">
                    <c:v>Forehand 3</c:v>
                  </c:pt>
                  <c:pt idx="3">
                    <c:v>Forehand 4</c:v>
                  </c:pt>
                </c:lvl>
              </c:multiLvlStrCache>
            </c:multiLvlStrRef>
          </c:cat>
          <c:val>
            <c:numRef>
              <c:f>Sheet1!$C$2:$C$5</c:f>
              <c:numCache>
                <c:formatCode>General</c:formatCode>
                <c:ptCount val="4"/>
                <c:pt idx="0">
                  <c:v>68</c:v>
                </c:pt>
                <c:pt idx="1">
                  <c:v>73</c:v>
                </c:pt>
                <c:pt idx="2">
                  <c:v>65</c:v>
                </c:pt>
                <c:pt idx="3">
                  <c:v>62</c:v>
                </c:pt>
              </c:numCache>
            </c:numRef>
          </c:val>
        </c:ser>
        <c:ser>
          <c:idx val="2"/>
          <c:order val="2"/>
          <c:tx>
            <c:strRef>
              <c:f>Sheet1!$D$1</c:f>
              <c:strCache>
                <c:ptCount val="1"/>
                <c:pt idx="0">
                  <c:v>Club level</c:v>
                </c:pt>
              </c:strCache>
            </c:strRef>
          </c:tx>
          <c:spPr>
            <a:solidFill>
              <a:srgbClr val="3F6B3A"/>
            </a:solidFill>
            <a:effectLst/>
          </c:spPr>
          <c:invertIfNegative val="0"/>
          <c:dLbls>
            <c:numFmt formatCode="#,##0" sourceLinked="0"/>
            <c:txPr>
              <a:bodyPr/>
              <a:lstStyle/>
              <a:p>
                <a:pPr>
                  <a:defRPr b="0" i="0" strike="noStrike" sz="900" u="none">
                    <a:solidFill>
                      <a:srgbClr val="4A3121"/>
                    </a:solidFill>
                    <a:latin typeface="+mn-lt"/>
                  </a:defRPr>
                </a:pPr>
              </a:p>
            </c:txPr>
            <c:showLegendKey val="0"/>
            <c:showVal val="1"/>
            <c:showCatName val="0"/>
            <c:showSerName val="0"/>
            <c:showPercent val="0"/>
            <c:showBubbleSize val="0"/>
            <c:showLeaderLines val="0"/>
          </c:dLbls>
          <c:cat>
            <c:multiLvlStrRef>
              <c:f>Sheet1!$A$2:$A$5</c:f>
              <c:multiLvlStrCache>
                <c:ptCount val="4"/>
                <c:lvl>
                  <c:pt idx="0">
                    <c:v>Forehand 1</c:v>
                  </c:pt>
                  <c:pt idx="1">
                    <c:v>Forehand 2</c:v>
                  </c:pt>
                  <c:pt idx="2">
                    <c:v>Forehand 3</c:v>
                  </c:pt>
                  <c:pt idx="3">
                    <c:v>Forehand 4</c:v>
                  </c:pt>
                </c:lvl>
              </c:multiLvlStrCache>
            </c:multiLvlStrRef>
          </c:cat>
          <c:val>
            <c:numRef>
              <c:f>Sheet1!$D$2:$D$5</c:f>
              <c:numCache>
                <c:formatCode>General</c:formatCode>
                <c:ptCount val="4"/>
                <c:pt idx="0">
                  <c:v>56</c:v>
                </c:pt>
                <c:pt idx="1">
                  <c:v>50</c:v>
                </c:pt>
                <c:pt idx="2">
                  <c:v>61</c:v>
                </c:pt>
                <c:pt idx="3">
                  <c:v>52</c:v>
                </c:pt>
              </c:numCache>
            </c:numRef>
          </c:val>
        </c:ser>
        <c:dLbls>
          <c:numFmt formatCode="#,##0" sourceLinked="0"/>
          <c:txPr>
            <a:bodyPr/>
            <a:lstStyle/>
            <a:p>
              <a:pPr>
                <a:defRPr b="0" i="0" strike="noStrike" sz="900" u="none">
                  <a:solidFill>
                    <a:srgbClr val="4A3121"/>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000" b="0" i="0" u="none" strike="noStrike">
                <a:solidFill>
                  <a:srgbClr val="4A3121"/>
                </a:solidFill>
                <a:latin typeface="+mn-lt"/>
              </a:defRPr>
            </a:pPr>
            <a:endParaRPr lang="en-US"/>
          </a:p>
        </c:txPr>
        <c:crossAx val="2094734552"/>
        <c:crosses val="autoZero"/>
        <c:auto val="1"/>
        <c:lblAlgn val="ctr"/>
        <c:noMultiLvlLbl val="1"/>
      </c:catAx>
      <c:valAx>
        <c:axId val="2094734552"/>
        <c:scaling>
          <c:orientation val="minMax"/>
          <c:max val="110"/>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00">
              <a:solidFill>
                <a:srgbClr val="4A3121"/>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7A5233"/>
                </a:solidFill>
                <a:latin typeface="+mj-lt"/>
              </a:defRPr>
            </a:pPr>
            <a:r>
              <a:rPr sz="1300" b="0" i="0" u="none" strike="noStrike">
                <a:solidFill>
                  <a:srgbClr val="7A5233"/>
                </a:solidFill>
                <a:latin typeface="+mj-lt"/>
              </a:rPr>
              <a:t>Where the 199 s go today (CPU only)</a:t>
            </a:r>
          </a:p>
        </c:rich>
      </c:tx>
      <c:layout/>
      <c:overlay val="0"/>
    </c:title>
    <c:autoTitleDeleted val="0"/>
    <c:plotArea>
      <c:layout/>
      <c:barChart>
        <c:barDir val="bar"/>
        <c:grouping val="clustered"/>
        <c:varyColors val="0"/>
        <c:ser>
          <c:idx val="0"/>
          <c:order val="0"/>
          <c:tx>
            <c:strRef>
              <c:f>Sheet1!$B$1</c:f>
              <c:strCache>
                <c:ptCount val="1"/>
                <c:pt idx="0">
                  <c:v>seconds</c:v>
                </c:pt>
              </c:strCache>
            </c:strRef>
          </c:tx>
          <c:spPr>
            <a:solidFill>
              <a:srgbClr val="3F6B3A"/>
            </a:solidFill>
            <a:effectLst/>
          </c:spPr>
          <c:invertIfNegative val="0"/>
          <c:dLbls>
            <c:numFmt formatCode="0&quot; s&quot;" sourceLinked="0"/>
            <c:txPr>
              <a:bodyPr/>
              <a:lstStyle/>
              <a:p>
                <a:pPr>
                  <a:defRPr b="0" i="0" strike="noStrike" sz="1100" u="none">
                    <a:solidFill>
                      <a:srgbClr val="4A3121"/>
                    </a:solidFill>
                    <a:latin typeface="+mn-lt"/>
                  </a:defRPr>
                </a:pPr>
              </a:p>
            </c:txPr>
            <c:showLegendKey val="0"/>
            <c:showVal val="1"/>
            <c:showCatName val="0"/>
            <c:showSerName val="0"/>
            <c:showPercent val="0"/>
            <c:showBubbleSize val="0"/>
            <c:showLeaderLines val="0"/>
          </c:dLbls>
          <c:cat>
            <c:multiLvlStrRef>
              <c:f>Sheet1!$A$2:$A$7</c:f>
              <c:multiLvlStrCache>
                <c:ptCount val="6"/>
                <c:lvl>
                  <c:pt idx="0">
                    <c:v>Split into frames</c:v>
                  </c:pt>
                  <c:pt idx="1">
                    <c:v>Player detection</c:v>
                  </c:pt>
                  <c:pt idx="2">
                    <c:v>Skeleton</c:v>
                  </c:pt>
                  <c:pt idx="3">
                    <c:v>Ball candidates</c:v>
                  </c:pt>
                  <c:pt idx="4">
                    <c:v>Strokes + racquet</c:v>
                  </c:pt>
                  <c:pt idx="5">
                    <c:v>Pictures + GIFs</c:v>
                  </c:pt>
                </c:lvl>
              </c:multiLvlStrCache>
            </c:multiLvlStrRef>
          </c:cat>
          <c:val>
            <c:numRef>
              <c:f>Sheet1!$B$2:$B$7</c:f>
              <c:numCache>
                <c:formatCode>General</c:formatCode>
                <c:ptCount val="6"/>
                <c:pt idx="0">
                  <c:v>34</c:v>
                </c:pt>
                <c:pt idx="1">
                  <c:v>10</c:v>
                </c:pt>
                <c:pt idx="2">
                  <c:v>25</c:v>
                </c:pt>
                <c:pt idx="3">
                  <c:v>46</c:v>
                </c:pt>
                <c:pt idx="4">
                  <c:v>47</c:v>
                </c:pt>
                <c:pt idx="5">
                  <c:v>26</c:v>
                </c:pt>
              </c:numCache>
            </c:numRef>
          </c:val>
        </c:ser>
        <c:dLbls>
          <c:numFmt formatCode="0&quot; s&quot;" sourceLinked="0"/>
          <c:txPr>
            <a:bodyPr/>
            <a:lstStyle/>
            <a:p>
              <a:pPr>
                <a:defRPr b="0" i="0" strike="noStrike" sz="1100" u="none">
                  <a:solidFill>
                    <a:srgbClr val="4A3121"/>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100" b="0" i="0" u="none" strike="noStrike">
                <a:solidFill>
                  <a:srgbClr val="4A3121"/>
                </a:solidFill>
                <a:latin typeface="+mn-lt"/>
              </a:defRPr>
            </a:pPr>
            <a:endParaRPr lang="en-US"/>
          </a:p>
        </c:txPr>
        <c:crossAx val="2094734552"/>
        <c:crosses val="autoZero"/>
        <c:auto val="1"/>
        <c:lblAlgn val="ctr"/>
        <c:noMultiLvlLbl val="1"/>
      </c:catAx>
      <c:valAx>
        <c:axId val="2094734552"/>
        <c:scaling>
          <c:orientation val="minMax"/>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Ben. Hi everyone, I'm Ben Wylie, and this is Jefferson Lee. We're from Brisbane, and this is Centre Court: Baseline - instant tennis coaching, computed right on the court, on an Android phone and the ASUS UGen300.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Ben. We both work at Aurecon, a 7,000-person Australian engineering consultancy with projects across Asia-Pacific, from Hong Kong International Airport to the tallest building in mainland China. I'm a senior asset consultant in infrastructure advisory, and Jefferson is a senior data scientist in asset performance. Jefferson grew up in Taiwan and started his career as an intern at ASUS, so this is a bit of a homecoming for him. Our day jobs use data to understand how physical assets perform; Centre Court does the same for a tennis stroke. To be clear, this is our own independent project, not an Aurecon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Ben. Now the problem - and for me it's personal. I've played tennis for over twenty years, I still play at club level, and I still can't see my own technique. Is my right foot in front at contact? Is my toss too low? Am I hitting the ball above my head? It all happens in a fraction of a second. Today you either film yourself and watch it at home, when the feel of the stroke is gone, or pay a coach to watch every ball, which most club players can't do every week. And the court itself makes it hard: weak or no Wi-Fi, and lots of junior players whose video shouldn't be uploaded anywhere. So the answer has to be instant, private and offline. That's an edge-computing problem, and that's why we built it for the UGen300. Jefferson will show you how it works.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Jefferson. Thanks, Ben. The phone films at 120 frames a second, and then there are five stages. One: split the video into frames. Two: find the player and fit a 33-point skeleton. Three: find the racquet, the ball, the bounce and the exact hitting point. Four: judge the stroke against coaching rules. Five: turn it into plain-language coaching. The phone does the camera and the light maths; the UGen300's Hailo NPU runs the neural networks.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Jefferson. Here's what stages one to three see. We keep every frame, because at 120 frames a second we catch the few milliseconds around contact. The skeleton is fitted on a zoomed crop and converted into metres from the player's height. And the ball is tracked across the whole screen: you can see it come in, bounce, and the star is the hitting point - the midpoint of the two frames where the ball is closest to the racquet head. The arrow is the ball leaving.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Jefferson. Stage four is deliberately not a black box. Every check is a rule on a measured number, and every check has a ladder: a Beginner, an Intermediate and a Club target. Pick your level and the checks, the targets and the coach's words change with it. A beginner hears 'hit the ball in front of you'. A club player gets the measured value against the club target, including joint analysis such as hip-shoulder separation, the kinetic chain and a steady head. And the score is strict: just meeting a target earns 40 percent; full marks only come close to excellent.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Jefferson. Here's a serve from an ordinary phone clip: 30 frames a second, with the player only 86 pixels tall. It fits the toss to a gravity curve and finds the contact at frame 50.5, exactly what we found checking frame by frame. Contact at 3.2 metres. It scores 68 at Beginner, 67 at Intermediate and 62 at Club level, where the toss placement, the trophy lean and the landing are what to work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Jefferson. On a 15-second forehand clip at 120 frames a second, it found four forehands, and it recognised the one backhand and skipped it - we'd rather miss a stroke than coach the wrong one. The same forehand scores in the nineties at Beginner, about 65 to 73 at Intermediate and 50 to 61 at Club. The club checks catch what an intermediate player still does: the head moving 13 centimetres in the swing and the knees straightening before contact.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Jefferson. This is what the player sees. [DEMO: switch to the web app with IMG_3025 already analysed.] Choose your level, film, and the coach's note comes first, then the evidence: the ball trajectory, slow motion with skeleton and racquet, and every check with the level it reaches.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Jefferson. Today this runs on a CPU: about three minutes for that 15-second clip at 120 frames a second. Most of that time is detection, skeleton and racquet - standard neural networks, exactly what the Hailo NPU accelerates. And it's commercially clean: every component is Apache, BSD or MIT licensed. We deliberately avoided AGPL models.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Ben. Next, we put the models on the UGen300, build the Android app with a filming guide, and get coaches to validate the thresholds on real courts - then we add the backhand. Every club player deserves a coach on the court.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NET-image-2.pn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NE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31520" y="777240"/>
            <a:ext cx="1005840" cy="1005840"/>
          </a:xfrm>
          <a:prstGeom prst="rect">
            <a:avLst/>
          </a:prstGeom>
        </p:spPr>
      </p:pic>
      <p:sp>
        <p:nvSpPr>
          <p:cNvPr id="3" name="Text 0"/>
          <p:cNvSpPr/>
          <p:nvPr>
            <p:ph idx="101" type="title" hasCustomPrompt="1"/>
          </p:nvPr>
        </p:nvSpPr>
        <p:spPr>
          <a:xfrm>
            <a:off x="731520" y="2331720"/>
            <a:ext cx="8595360" cy="1371600"/>
          </a:xfrm>
          <a:prstGeom prst="rect">
            <a:avLst/>
          </a:prstGeom>
          <a:noFill/>
          <a:ln/>
        </p:spPr>
        <p:txBody>
          <a:bodyPr wrap="square" rtlCol="0"/>
          <a:lstStyle>
            <a:lvl1pPr algn="l" indent="0" marL="0">
              <a:buNone/>
              <a:defRPr lang="en-US" sz="4600" b="1" dirty="0">
                <a:solidFill>
                  <a:schemeClr val="accent4"/>
                </a:solidFill>
                <a:latin typeface="Cormorant Garamond" pitchFamily="34" charset="0"/>
                <a:ea typeface="Cormorant Garamond" pitchFamily="34" charset="-122"/>
                <a:cs typeface="Cormorant Garamond" pitchFamily="34" charset="-120"/>
              </a:defRPr>
            </a:lvl1pPr>
          </a:lstStyle>
          <a:p>
            <a:pPr algn="l" indent="0" marL="0">
              <a:buNone/>
            </a:pPr>
            <a:endParaRPr lang="en-US" sz="4600" dirty="0"/>
          </a:p>
        </p:txBody>
      </p:sp>
      <p:sp>
        <p:nvSpPr>
          <p:cNvPr id="4" name="Text 0"/>
          <p:cNvSpPr/>
          <p:nvPr>
            <p:ph idx="102" type="body" hasCustomPrompt="1"/>
          </p:nvPr>
        </p:nvSpPr>
        <p:spPr>
          <a:xfrm>
            <a:off x="731520" y="3794760"/>
            <a:ext cx="8595360" cy="2377440"/>
          </a:xfrm>
          <a:prstGeom prst="rect">
            <a:avLst/>
          </a:prstGeom>
          <a:noFill/>
          <a:ln/>
        </p:spPr>
        <p:txBody>
          <a:bodyPr wrap="square" rtlCol="0"/>
          <a:lstStyle>
            <a:lvl1pPr algn="l" indent="0" marL="0">
              <a:buNone/>
              <a:defRPr lang="en-US" sz="1600" dirty="0">
                <a:solidFill>
                  <a:schemeClr val="accent4"/>
                </a:solidFill>
              </a:defRPr>
            </a:lvl1pPr>
          </a:lstStyle>
          <a:p>
            <a:pPr algn="l" indent="0" marL="0">
              <a:buNone/>
            </a:pPr>
            <a:endParaRPr lang="en-US" sz="1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URT">
    <p:bg>
      <p:bgPr>
        <a:solidFill>
          <a:srgbClr val="F5F4EC"/>
        </a:solidFill>
      </p:bgPr>
    </p:bg>
    <p:spTree>
      <p:nvGrpSpPr>
        <p:cNvPr id="1" name=""/>
        <p:cNvGrpSpPr/>
        <p:nvPr/>
      </p:nvGrpSpPr>
      <p:grpSpPr>
        <a:xfrm>
          <a:off x="0" y="0"/>
          <a:ext cx="0" cy="0"/>
          <a:chOff x="0" y="0"/>
          <a:chExt cx="0" cy="0"/>
        </a:xfrm>
      </p:grpSpPr>
      <p:sp>
        <p:nvSpPr>
          <p:cNvPr id="2" name="Shape 0"/>
          <p:cNvSpPr/>
          <p:nvPr/>
        </p:nvSpPr>
        <p:spPr>
          <a:xfrm>
            <a:off x="320040" y="320040"/>
            <a:ext cx="11551615" cy="6217920"/>
          </a:xfrm>
          <a:prstGeom prst="rect">
            <a:avLst/>
          </a:prstGeom>
          <a:ln w="19050">
            <a:solidFill>
              <a:srgbClr val="3F6B3A"/>
            </a:solidFill>
            <a:prstDash val="solid"/>
          </a:ln>
        </p:spPr>
      </p:sp>
      <p:sp>
        <p:nvSpPr>
          <p:cNvPr id="3" name="Shape 1"/>
          <p:cNvSpPr/>
          <p:nvPr/>
        </p:nvSpPr>
        <p:spPr>
          <a:xfrm>
            <a:off x="521208" y="320040"/>
            <a:ext cx="0" cy="6217920"/>
          </a:xfrm>
          <a:prstGeom prst="line">
            <a:avLst/>
          </a:prstGeom>
          <a:noFill/>
          <a:ln w="9525">
            <a:solidFill>
              <a:srgbClr val="3F6B3A"/>
            </a:solidFill>
            <a:prstDash val="solid"/>
          </a:ln>
        </p:spPr>
      </p:sp>
      <p:sp>
        <p:nvSpPr>
          <p:cNvPr id="4" name="Shape 2"/>
          <p:cNvSpPr/>
          <p:nvPr/>
        </p:nvSpPr>
        <p:spPr>
          <a:xfrm>
            <a:off x="11670487" y="320040"/>
            <a:ext cx="0" cy="6217920"/>
          </a:xfrm>
          <a:prstGeom prst="line">
            <a:avLst/>
          </a:prstGeom>
          <a:noFill/>
          <a:ln w="9525">
            <a:solidFill>
              <a:srgbClr val="3F6B3A"/>
            </a:solidFill>
            <a:prstDash val="solid"/>
          </a:ln>
        </p:spPr>
      </p:sp>
      <p:sp>
        <p:nvSpPr>
          <p:cNvPr id="5" name="Shape 3"/>
          <p:cNvSpPr/>
          <p:nvPr/>
        </p:nvSpPr>
        <p:spPr>
          <a:xfrm>
            <a:off x="6095848" y="320040"/>
            <a:ext cx="0" cy="146304"/>
          </a:xfrm>
          <a:prstGeom prst="line">
            <a:avLst/>
          </a:prstGeom>
          <a:noFill/>
          <a:ln w="19050">
            <a:solidFill>
              <a:srgbClr val="3F6B3A"/>
            </a:solidFill>
            <a:prstDash val="solid"/>
          </a:ln>
        </p:spPr>
      </p:sp>
      <p:sp>
        <p:nvSpPr>
          <p:cNvPr id="6" name="Shape 4"/>
          <p:cNvSpPr/>
          <p:nvPr/>
        </p:nvSpPr>
        <p:spPr>
          <a:xfrm>
            <a:off x="6095848" y="6391656"/>
            <a:ext cx="0" cy="146304"/>
          </a:xfrm>
          <a:prstGeom prst="line">
            <a:avLst/>
          </a:prstGeom>
          <a:noFill/>
          <a:ln w="19050">
            <a:solidFill>
              <a:srgbClr val="3F6B3A"/>
            </a:solidFill>
            <a:prstDash val="solid"/>
          </a:ln>
        </p:spPr>
      </p:sp>
      <p:pic>
        <p:nvPicPr>
          <p:cNvPr id="7" name="Image 0" descr="preencoded.png">    </p:cNvPr>
          <p:cNvPicPr>
            <a:picLocks noChangeAspect="1"/>
          </p:cNvPicPr>
          <p:nvPr/>
        </p:nvPicPr>
        <p:blipFill>
          <a:blip r:embed="rId1"/>
          <a:stretch>
            <a:fillRect/>
          </a:stretch>
        </p:blipFill>
        <p:spPr>
          <a:xfrm>
            <a:off x="10927080" y="548640"/>
            <a:ext cx="502920" cy="502920"/>
          </a:xfrm>
          <a:prstGeom prst="rect">
            <a:avLst/>
          </a:prstGeom>
        </p:spPr>
      </p:pic>
      <p:sp>
        <p:nvSpPr>
          <p:cNvPr id="8" name="Text 5"/>
          <p:cNvSpPr/>
          <p:nvPr>
            <p:ph idx="106" type="body" hasCustomPrompt="1"/>
          </p:nvPr>
        </p:nvSpPr>
        <p:spPr>
          <a:xfrm>
            <a:off x="777240" y="566928"/>
            <a:ext cx="8229600" cy="274320"/>
          </a:xfrm>
          <a:prstGeom prst="rect">
            <a:avLst/>
          </a:prstGeom>
          <a:noFill/>
          <a:ln/>
        </p:spPr>
        <p:txBody>
          <a:bodyPr wrap="square" rtlCol="0"/>
          <a:lstStyle>
            <a:lvl1pPr indent="0" marL="0">
              <a:buNone/>
              <a:defRPr lang="en-US" sz="1200" i="1" dirty="0">
                <a:solidFill>
                  <a:schemeClr val="accent3"/>
                </a:solidFill>
              </a:defRPr>
            </a:lvl1pPr>
          </a:lstStyle>
          <a:p>
            <a:pPr indent="0" marL="0">
              <a:buNone/>
            </a:pPr>
            <a:endParaRPr lang="en-US" sz="1200" dirty="0"/>
          </a:p>
        </p:txBody>
      </p:sp>
      <p:sp>
        <p:nvSpPr>
          <p:cNvPr id="9" name="Text 5"/>
          <p:cNvSpPr/>
          <p:nvPr>
            <p:ph idx="107" type="title" hasCustomPrompt="1"/>
          </p:nvPr>
        </p:nvSpPr>
        <p:spPr>
          <a:xfrm>
            <a:off x="777240" y="841248"/>
            <a:ext cx="9966960" cy="914400"/>
          </a:xfrm>
          <a:prstGeom prst="rect">
            <a:avLst/>
          </a:prstGeom>
          <a:noFill/>
          <a:ln/>
        </p:spPr>
        <p:txBody>
          <a:bodyPr wrap="square" rtlCol="0"/>
          <a:lstStyle>
            <a:lvl1pPr algn="l" indent="0" marL="0">
              <a:buNone/>
              <a:defRPr lang="en-US" sz="2800" b="1" dirty="0">
                <a:solidFill>
                  <a:schemeClr val="accent2"/>
                </a:solidFill>
                <a:latin typeface="Cormorant Garamond" pitchFamily="34" charset="0"/>
                <a:ea typeface="Cormorant Garamond" pitchFamily="34" charset="-122"/>
                <a:cs typeface="Cormorant Garamond" pitchFamily="34" charset="-120"/>
              </a:defRPr>
            </a:lvl1pPr>
          </a:lstStyle>
          <a:p>
            <a:pPr algn="l" indent="0" marL="0">
              <a:buNone/>
            </a:pPr>
            <a:endParaRPr lang="en-US" sz="2800" dirty="0"/>
          </a:p>
        </p:txBody>
      </p:sp>
      <p:sp>
        <p:nvSpPr>
          <p:cNvPr id="10" name="Text 5"/>
          <p:cNvSpPr/>
          <p:nvPr>
            <p:ph idx="108" type="body" hasCustomPrompt="1"/>
          </p:nvPr>
        </p:nvSpPr>
        <p:spPr>
          <a:xfrm>
            <a:off x="777240" y="6108192"/>
            <a:ext cx="9875520" cy="274320"/>
          </a:xfrm>
          <a:prstGeom prst="rect">
            <a:avLst/>
          </a:prstGeom>
          <a:noFill/>
          <a:ln/>
        </p:spPr>
        <p:txBody>
          <a:bodyPr wrap="square" rtlCol="0"/>
          <a:lstStyle>
            <a:lvl1pPr indent="0" marL="0">
              <a:buNone/>
              <a:defRPr lang="en-US" sz="1000" dirty="0">
                <a:solidFill>
                  <a:schemeClr val="accent3"/>
                </a:solidFill>
              </a:defRPr>
            </a:lvl1pPr>
          </a:lstStyle>
          <a:p>
            <a:pPr indent="0" marL="0">
              <a:buNone/>
            </a:pPr>
            <a:endParaRPr lang="en-US" sz="1000" dirty="0"/>
          </a:p>
        </p:txBody>
      </p:sp>
      <p:sp>
        <p:nvSpPr>
          <p:cNvPr id="25" name="Slide Number Placeholder 0"/>
          <p:cNvSpPr>
            <a:spLocks noGrp="1"/>
          </p:cNvSpPr>
          <p:nvPr>
            <p:ph type="sldNum" sz="quarter" idx="4294967295"/>
          </p:nvPr>
        </p:nvSpPr>
        <p:spPr>
          <a:xfrm>
            <a:off x="10927080" y="6108192"/>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C6B4F"/>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27080" y="6108192"/>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C6B4F"/>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e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e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2" Type="http://schemas.openxmlformats.org/officeDocument/2006/relationships/chart" Target="/ppt/charts/chart1.xml"/><Relationship Id="rId1" Type="http://schemas.openxmlformats.org/officeDocument/2006/relationships/image" Target="../media/image-8-1.jpeg"/><Relationship Id="rId3" Type="http://schemas.openxmlformats.org/officeDocument/2006/relationships/slideLayout" Target="../slideLayouts/slideLayout3.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3.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1" type="title" hasCustomPrompt="1"/>
          </p:nvPr>
        </p:nvSpPr>
        <p:spPr>
          <a:xfrm>
            <a:off x="731520" y="2331720"/>
            <a:ext cx="8595360" cy="1371600"/>
          </a:xfrm>
          <a:prstGeom prst="rect">
            <a:avLst/>
          </a:prstGeom>
          <a:noFill/>
          <a:ln/>
        </p:spPr>
        <p:txBody>
          <a:bodyPr wrap="square" lIns="0" tIns="0" rIns="0" bIns="0" rtlCol="0" anchor="b"/>
          <a:lstStyle/>
          <a:p>
            <a:pPr algn="l" indent="0" marL="0">
              <a:buNone/>
            </a:pPr>
            <a:r>
              <a:rPr lang="en-US" sz="4600" b="1" dirty="0">
                <a:solidFill>
                  <a:schemeClr val="accent4"/>
                </a:solidFill>
                <a:latin typeface="Cormorant Garamond" pitchFamily="34" charset="0"/>
                <a:ea typeface="Cormorant Garamond" pitchFamily="34" charset="-122"/>
                <a:cs typeface="Cormorant Garamond" pitchFamily="34" charset="-120"/>
              </a:rPr>
              <a:t>Centre Court: Baseline</a:t>
            </a:r>
            <a:endParaRPr lang="en-US" sz="4600" dirty="0"/>
          </a:p>
        </p:txBody>
      </p:sp>
      <p:sp>
        <p:nvSpPr>
          <p:cNvPr id="3" name="Text 0"/>
          <p:cNvSpPr/>
          <p:nvPr>
            <p:ph idx="102" type="body" hasCustomPrompt="1"/>
          </p:nvPr>
        </p:nvSpPr>
        <p:spPr>
          <a:xfrm>
            <a:off x="731520" y="3794760"/>
            <a:ext cx="8595360" cy="2377440"/>
          </a:xfrm>
          <a:prstGeom prst="rect">
            <a:avLst/>
          </a:prstGeom>
          <a:noFill/>
          <a:ln/>
        </p:spPr>
        <p:txBody>
          <a:bodyPr wrap="square" lIns="0" tIns="0" rIns="0" bIns="0" rtlCol="0" anchor="t"/>
          <a:lstStyle/>
          <a:p>
            <a:pPr algn="l" indent="0" marL="0">
              <a:buNone/>
            </a:pPr>
            <a:r>
              <a:rPr lang="en-US" sz="2400" i="1" dirty="0">
                <a:solidFill>
                  <a:schemeClr val="accent4"/>
                </a:solidFill>
                <a:latin typeface="Cormorant Garamond" pitchFamily="34" charset="0"/>
                <a:ea typeface="Cormorant Garamond" pitchFamily="34" charset="-122"/>
                <a:cs typeface="Cormorant Garamond" pitchFamily="34" charset="-120"/>
              </a:rPr>
              <a:t>Instant tennis coaching, computed on the court</a:t>
            </a:r>
            <a:endParaRPr lang="en-US" sz="1600" dirty="0"/>
          </a:p>
          <a:p>
            <a:pPr algn="l" indent="0" marL="0">
              <a:buNone/>
            </a:pPr>
            <a:r>
              <a:rPr lang="en-US" sz="1000" dirty="0">
                <a:solidFill>
                  <a:schemeClr val="accent4"/>
                </a:solidFill>
              </a:rPr>
              <a:t> </a:t>
            </a:r>
            <a:endParaRPr lang="en-US" sz="1600" dirty="0"/>
          </a:p>
          <a:p>
            <a:pPr algn="l" indent="0" marL="0">
              <a:buNone/>
            </a:pPr>
            <a:r>
              <a:rPr lang="en-US" sz="1600" dirty="0">
                <a:solidFill>
                  <a:schemeClr val="accent4"/>
                </a:solidFill>
              </a:rPr>
              <a:t>2026 ASUS UGen AI League Innovation Hackathon</a:t>
            </a:r>
            <a:endParaRPr lang="en-US" sz="1600" dirty="0"/>
          </a:p>
          <a:p>
            <a:pPr algn="l" indent="0" marL="0">
              <a:buNone/>
            </a:pPr>
            <a:r>
              <a:rPr lang="en-US" sz="1600" dirty="0">
                <a:solidFill>
                  <a:schemeClr val="accent4"/>
                </a:solidFill>
              </a:rPr>
              <a:t>Battlefield Lightning: ASUS UGen300 AI Accelerator</a:t>
            </a:r>
            <a:endParaRPr lang="en-US" sz="1600" dirty="0"/>
          </a:p>
          <a:p>
            <a:pPr algn="l" indent="0" marL="0">
              <a:buNone/>
            </a:pPr>
            <a:r>
              <a:rPr lang="en-US" sz="1000" dirty="0">
                <a:solidFill>
                  <a:schemeClr val="accent4"/>
                </a:solidFill>
              </a:rPr>
              <a:t> </a:t>
            </a:r>
            <a:endParaRPr lang="en-US" sz="1600" dirty="0"/>
          </a:p>
          <a:p>
            <a:pPr algn="l" indent="0" marL="0">
              <a:buNone/>
            </a:pPr>
            <a:r>
              <a:rPr lang="en-US" sz="1600" dirty="0">
                <a:solidFill>
                  <a:schemeClr val="accent4"/>
                </a:solidFill>
              </a:rPr>
              <a:t>Jefferson Tse-Wei Lee, Senior Data Scientist, Aurecon</a:t>
            </a:r>
            <a:endParaRPr lang="en-US" sz="1600" dirty="0"/>
          </a:p>
          <a:p>
            <a:pPr algn="l" indent="0" marL="0">
              <a:buNone/>
            </a:pPr>
            <a:r>
              <a:rPr lang="en-US" sz="1600" dirty="0">
                <a:solidFill>
                  <a:schemeClr val="accent4"/>
                </a:solidFill>
              </a:rPr>
              <a:t>Ben Wylie, Senior Asset Consultant, Aurecon</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5"/>
          <p:cNvSpPr/>
          <p:nvPr>
            <p:ph idx="106" type="body" hasCustomPrompt="1"/>
          </p:nvPr>
        </p:nvSpPr>
        <p:spPr>
          <a:xfrm>
            <a:off x="777240" y="566928"/>
            <a:ext cx="8229600" cy="274320"/>
          </a:xfrm>
          <a:prstGeom prst="rect">
            <a:avLst/>
          </a:prstGeom>
          <a:noFill/>
          <a:ln/>
        </p:spPr>
        <p:txBody>
          <a:bodyPr wrap="square" lIns="0" tIns="0" rIns="0" bIns="0" rtlCol="0" anchor="t"/>
          <a:lstStyle/>
          <a:p>
            <a:pPr indent="0" marL="0">
              <a:buNone/>
            </a:pPr>
            <a:r>
              <a:rPr lang="en-US" sz="1200" i="1" dirty="0">
                <a:solidFill>
                  <a:schemeClr val="accent3"/>
                </a:solidFill>
              </a:rPr>
              <a:t>The team</a:t>
            </a:r>
            <a:endParaRPr lang="en-US" sz="1200" dirty="0"/>
          </a:p>
        </p:txBody>
      </p:sp>
      <p:sp>
        <p:nvSpPr>
          <p:cNvPr id="3" name="Text 5"/>
          <p:cNvSpPr/>
          <p:nvPr>
            <p:ph idx="107" type="title" hasCustomPrompt="1"/>
          </p:nvPr>
        </p:nvSpPr>
        <p:spPr>
          <a:xfrm>
            <a:off x="777240" y="841248"/>
            <a:ext cx="9966960" cy="914400"/>
          </a:xfrm>
          <a:prstGeom prst="rect">
            <a:avLst/>
          </a:prstGeom>
          <a:noFill/>
          <a:ln/>
        </p:spPr>
        <p:txBody>
          <a:bodyPr wrap="square" lIns="0" tIns="0" rIns="0" bIns="0" rtlCol="0" anchor="t"/>
          <a:lstStyle/>
          <a:p>
            <a:pPr algn="l" indent="0" marL="0">
              <a:buNone/>
            </a:pPr>
            <a:r>
              <a:rPr lang="en-US" sz="2800" b="1" dirty="0">
                <a:solidFill>
                  <a:schemeClr val="accent2"/>
                </a:solidFill>
                <a:latin typeface="Cormorant Garamond" pitchFamily="34" charset="0"/>
                <a:ea typeface="Cormorant Garamond" pitchFamily="34" charset="-122"/>
                <a:cs typeface="Cormorant Garamond" pitchFamily="34" charset="-120"/>
              </a:rPr>
              <a:t>Two tennis players from Aurecon, both based in Brisbane</a:t>
            </a:r>
            <a:endParaRPr lang="en-US" sz="2800" dirty="0"/>
          </a:p>
        </p:txBody>
      </p:sp>
      <p:pic>
        <p:nvPicPr>
          <p:cNvPr id="4" name="team photo" descr="preencoded.png">    </p:cNvPr>
          <p:cNvPicPr>
            <a:picLocks noChangeAspect="1"/>
          </p:cNvPicPr>
          <p:nvPr/>
        </p:nvPicPr>
        <p:blipFill>
          <a:blip r:embed="rId1"/>
          <a:srcRect l="0" r="0" t="0" b="0"/>
          <a:stretch/>
        </p:blipFill>
        <p:spPr>
          <a:xfrm>
            <a:off x="8229600" y="1691640"/>
            <a:ext cx="3154680" cy="4206240"/>
          </a:xfrm>
          <a:prstGeom prst="rect">
            <a:avLst/>
          </a:prstGeom>
        </p:spPr>
      </p:pic>
      <p:sp>
        <p:nvSpPr>
          <p:cNvPr id="5" name="Text 2"/>
          <p:cNvSpPr txBox="1"/>
          <p:nvPr/>
        </p:nvSpPr>
        <p:spPr>
          <a:xfrm>
            <a:off x="777240" y="1783080"/>
            <a:ext cx="6949440" cy="384048"/>
          </a:xfrm>
          <a:prstGeom prst="rect">
            <a:avLst/>
          </a:prstGeom>
          <a:noFill/>
          <a:ln/>
        </p:spPr>
        <p:txBody>
          <a:bodyPr wrap="square" lIns="0" tIns="0" rIns="0" bIns="0" rtlCol="0" anchor="t"/>
          <a:lstStyle/>
          <a:p>
            <a:pPr indent="0" marL="0">
              <a:buNone/>
            </a:pPr>
            <a:r>
              <a:rPr lang="en-US" sz="2000" b="1" dirty="0">
                <a:solidFill>
                  <a:schemeClr val="accent2"/>
                </a:solidFill>
                <a:latin typeface="Cormorant Garamond" pitchFamily="34" charset="0"/>
                <a:ea typeface="Cormorant Garamond" pitchFamily="34" charset="-122"/>
                <a:cs typeface="Cormorant Garamond" pitchFamily="34" charset="-120"/>
              </a:rPr>
              <a:t>Jefferson Tse-Wei Lee</a:t>
            </a:r>
            <a:endParaRPr lang="en-US" sz="2000" dirty="0"/>
          </a:p>
        </p:txBody>
      </p:sp>
      <p:sp>
        <p:nvSpPr>
          <p:cNvPr id="6" name="Text 3"/>
          <p:cNvSpPr txBox="1"/>
          <p:nvPr/>
        </p:nvSpPr>
        <p:spPr>
          <a:xfrm>
            <a:off x="777240" y="2194560"/>
            <a:ext cx="6949440" cy="731520"/>
          </a:xfrm>
          <a:prstGeom prst="rect">
            <a:avLst/>
          </a:prstGeom>
          <a:noFill/>
          <a:ln/>
        </p:spPr>
        <p:txBody>
          <a:bodyPr wrap="square" lIns="0" tIns="0" rIns="0" bIns="0" rtlCol="0" anchor="t"/>
          <a:lstStyle/>
          <a:p>
            <a:pPr indent="0" marL="0">
              <a:buNone/>
            </a:pPr>
            <a:r>
              <a:rPr lang="en-US" sz="1400" dirty="0">
                <a:solidFill>
                  <a:schemeClr val="tx1"/>
                </a:solidFill>
              </a:rPr>
              <a:t>Born and raised in Taiwan; started his career as an intern at ASUS Taiwan. Senior Data Scientist in Asset Performance at Aurecon.</a:t>
            </a:r>
            <a:endParaRPr lang="en-US" sz="1400" dirty="0"/>
          </a:p>
        </p:txBody>
      </p:sp>
      <p:sp>
        <p:nvSpPr>
          <p:cNvPr id="7" name="Text 4"/>
          <p:cNvSpPr txBox="1"/>
          <p:nvPr/>
        </p:nvSpPr>
        <p:spPr>
          <a:xfrm>
            <a:off x="777240" y="3017520"/>
            <a:ext cx="6949440" cy="384048"/>
          </a:xfrm>
          <a:prstGeom prst="rect">
            <a:avLst/>
          </a:prstGeom>
          <a:noFill/>
          <a:ln/>
        </p:spPr>
        <p:txBody>
          <a:bodyPr wrap="square" lIns="0" tIns="0" rIns="0" bIns="0" rtlCol="0" anchor="t"/>
          <a:lstStyle/>
          <a:p>
            <a:pPr indent="0" marL="0">
              <a:buNone/>
            </a:pPr>
            <a:r>
              <a:rPr lang="en-US" sz="2000" b="1" dirty="0">
                <a:solidFill>
                  <a:schemeClr val="accent2"/>
                </a:solidFill>
                <a:latin typeface="Cormorant Garamond" pitchFamily="34" charset="0"/>
                <a:ea typeface="Cormorant Garamond" pitchFamily="34" charset="-122"/>
                <a:cs typeface="Cormorant Garamond" pitchFamily="34" charset="-120"/>
              </a:rPr>
              <a:t>Ben Wylie</a:t>
            </a:r>
            <a:endParaRPr lang="en-US" sz="2000" dirty="0"/>
          </a:p>
        </p:txBody>
      </p:sp>
      <p:sp>
        <p:nvSpPr>
          <p:cNvPr id="8" name="Text 5"/>
          <p:cNvSpPr txBox="1"/>
          <p:nvPr/>
        </p:nvSpPr>
        <p:spPr>
          <a:xfrm>
            <a:off x="777240" y="3429000"/>
            <a:ext cx="6949440" cy="731520"/>
          </a:xfrm>
          <a:prstGeom prst="rect">
            <a:avLst/>
          </a:prstGeom>
          <a:noFill/>
          <a:ln/>
        </p:spPr>
        <p:txBody>
          <a:bodyPr wrap="square" lIns="0" tIns="0" rIns="0" bIns="0" rtlCol="0" anchor="t"/>
          <a:lstStyle/>
          <a:p>
            <a:pPr indent="0" marL="0">
              <a:buNone/>
            </a:pPr>
            <a:r>
              <a:rPr lang="en-US" sz="1400" dirty="0">
                <a:solidFill>
                  <a:schemeClr val="tx1"/>
                </a:solidFill>
              </a:rPr>
              <a:t>Twenty-plus years of tennis; plays club level in Brisbane. Senior Asset Consultant in Infrastructure Advisory at Aurecon.</a:t>
            </a:r>
            <a:endParaRPr lang="en-US" sz="1400" dirty="0"/>
          </a:p>
        </p:txBody>
      </p:sp>
      <p:sp>
        <p:nvSpPr>
          <p:cNvPr id="9" name="Shape 6"/>
          <p:cNvSpPr/>
          <p:nvPr/>
        </p:nvSpPr>
        <p:spPr>
          <a:xfrm>
            <a:off x="777240" y="4343400"/>
            <a:ext cx="6949440" cy="0"/>
          </a:xfrm>
          <a:prstGeom prst="line">
            <a:avLst/>
          </a:prstGeom>
          <a:noFill/>
          <a:ln w="12700">
            <a:solidFill>
              <a:srgbClr val="DCD8C8"/>
            </a:solidFill>
            <a:prstDash val="solid"/>
          </a:ln>
        </p:spPr>
      </p:sp>
      <p:sp>
        <p:nvSpPr>
          <p:cNvPr id="10" name="Text 7"/>
          <p:cNvSpPr txBox="1"/>
          <p:nvPr/>
        </p:nvSpPr>
        <p:spPr>
          <a:xfrm>
            <a:off x="777240" y="4526280"/>
            <a:ext cx="6949440" cy="1371600"/>
          </a:xfrm>
          <a:prstGeom prst="rect">
            <a:avLst/>
          </a:prstGeom>
          <a:noFill/>
          <a:ln/>
        </p:spPr>
        <p:txBody>
          <a:bodyPr wrap="square" lIns="0" tIns="0" rIns="0" bIns="0" rtlCol="0" anchor="t"/>
          <a:lstStyle/>
          <a:p>
            <a:pPr indent="0" marL="0">
              <a:buNone/>
            </a:pPr>
            <a:r>
              <a:rPr lang="en-US" sz="1300" b="1" dirty="0">
                <a:solidFill>
                  <a:schemeClr val="accent2"/>
                </a:solidFill>
              </a:rPr>
              <a:t>Aurecon </a:t>
            </a:r>
            <a:pPr indent="0" marL="0">
              <a:buNone/>
            </a:pPr>
            <a:r>
              <a:rPr lang="en-US" sz="1300" dirty="0">
                <a:solidFill>
                  <a:schemeClr val="tx1"/>
                </a:solidFill>
              </a:rPr>
              <a:t>is a 7,000-person engineering consultancy from Australia, with projects across Asia-Pacific including Hong Kong International Airport and the tallest building in mainland China.</a:t>
            </a:r>
            <a:endParaRPr lang="en-US" sz="1300" dirty="0"/>
          </a:p>
          <a:p>
            <a:pPr indent="0" marL="0">
              <a:buNone/>
            </a:pPr>
            <a:r>
              <a:rPr lang="en-US" sz="600" dirty="0">
                <a:solidFill>
                  <a:schemeClr val="tx1"/>
                </a:solidFill>
              </a:rPr>
              <a:t> </a:t>
            </a:r>
            <a:endParaRPr lang="en-US" sz="1300" dirty="0"/>
          </a:p>
          <a:p>
            <a:pPr indent="0" marL="0">
              <a:buNone/>
            </a:pPr>
            <a:r>
              <a:rPr lang="en-US" sz="1300" b="1" dirty="0">
                <a:solidFill>
                  <a:schemeClr val="accent2"/>
                </a:solidFill>
              </a:rPr>
              <a:t>Disclosure: </a:t>
            </a:r>
            <a:pPr indent="0" marL="0">
              <a:buNone/>
            </a:pPr>
            <a:r>
              <a:rPr lang="en-US" sz="1300" dirty="0">
                <a:solidFill>
                  <a:schemeClr val="tx1"/>
                </a:solidFill>
              </a:rPr>
              <a:t>this is an independent project, with no commercial relationship with, or endorsement from, Aurecon.</a:t>
            </a:r>
            <a:endParaRPr lang="en-US" sz="1300" dirty="0"/>
          </a:p>
        </p:txBody>
      </p:sp>
      <p:sp>
        <p:nvSpPr>
          <p:cNvPr id="12" name="Text 5"/>
          <p:cNvSpPr/>
          <p:nvPr>
            <p:ph idx="108" type="body" hasCustomPrompt="1"/>
          </p:nvPr>
        </p:nvSpPr>
        <p:spPr>
          <a:xfrm>
            <a:off x="777240" y="6108192"/>
            <a:ext cx="9875520" cy="274320"/>
          </a:xfrm>
          <a:prstGeom prst="rect">
            <a:avLst/>
          </a:prstGeom>
          <a:noFill/>
          <a:ln/>
        </p:spPr>
        <p:txBody>
          <a:bodyPr wrap="square" lIns="0" tIns="0" rIns="0" bIns="0" rtlCol="0" anchor="t"/>
          <a:lstStyle/>
          <a:p>
            <a:pPr indent="0" marL="0">
              <a:buNone/>
            </a:pPr>
            <a:endParaRPr lang="en-US" sz="1000" dirty="0"/>
          </a:p>
        </p:txBody>
      </p:sp>
      <p:sp>
        <p:nvSpPr>
          <p:cNvPr id="25" name="Slide Number Placeholder 0"/>
          <p:cNvSpPr>
            <a:spLocks noGrp="1"/>
          </p:cNvSpPr>
          <p:nvPr>
            <p:ph type="sldNum" sz="quarter" idx="4294967295"/>
          </p:nvPr>
        </p:nvSpPr>
        <p:spPr>
          <a:xfrm>
            <a:off x="10927080" y="6108192"/>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C6B4F"/>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5"/>
          <p:cNvSpPr/>
          <p:nvPr>
            <p:ph idx="106" type="body" hasCustomPrompt="1"/>
          </p:nvPr>
        </p:nvSpPr>
        <p:spPr>
          <a:xfrm>
            <a:off x="777240" y="566928"/>
            <a:ext cx="8229600" cy="274320"/>
          </a:xfrm>
          <a:prstGeom prst="rect">
            <a:avLst/>
          </a:prstGeom>
          <a:noFill/>
          <a:ln/>
        </p:spPr>
        <p:txBody>
          <a:bodyPr wrap="square" lIns="0" tIns="0" rIns="0" bIns="0" rtlCol="0" anchor="t"/>
          <a:lstStyle/>
          <a:p>
            <a:pPr indent="0" marL="0">
              <a:buNone/>
            </a:pPr>
            <a:r>
              <a:rPr lang="en-US" sz="1200" i="1" dirty="0">
                <a:solidFill>
                  <a:schemeClr val="accent3"/>
                </a:solidFill>
              </a:rPr>
              <a:t>Problem and why edge</a:t>
            </a:r>
            <a:endParaRPr lang="en-US" sz="1200" dirty="0"/>
          </a:p>
        </p:txBody>
      </p:sp>
      <p:sp>
        <p:nvSpPr>
          <p:cNvPr id="3" name="Text 5"/>
          <p:cNvSpPr/>
          <p:nvPr>
            <p:ph idx="107" type="title" hasCustomPrompt="1"/>
          </p:nvPr>
        </p:nvSpPr>
        <p:spPr>
          <a:xfrm>
            <a:off x="777240" y="841248"/>
            <a:ext cx="9966960" cy="914400"/>
          </a:xfrm>
          <a:prstGeom prst="rect">
            <a:avLst/>
          </a:prstGeom>
          <a:noFill/>
          <a:ln/>
        </p:spPr>
        <p:txBody>
          <a:bodyPr wrap="square" lIns="0" tIns="0" rIns="0" bIns="0" rtlCol="0" anchor="t"/>
          <a:lstStyle/>
          <a:p>
            <a:pPr algn="l" indent="0" marL="0">
              <a:buNone/>
            </a:pPr>
            <a:r>
              <a:rPr lang="en-US" sz="2800" b="1" dirty="0">
                <a:solidFill>
                  <a:schemeClr val="accent2"/>
                </a:solidFill>
                <a:latin typeface="Cormorant Garamond" pitchFamily="34" charset="0"/>
                <a:ea typeface="Cormorant Garamond" pitchFamily="34" charset="-122"/>
                <a:cs typeface="Cormorant Garamond" pitchFamily="34" charset="-120"/>
              </a:rPr>
              <a:t>Players cannot see their own technique, and the fix has to be instant, private and offline</a:t>
            </a:r>
            <a:endParaRPr lang="en-US" sz="2800" dirty="0"/>
          </a:p>
        </p:txBody>
      </p:sp>
      <p:sp>
        <p:nvSpPr>
          <p:cNvPr id="4" name="Text 5"/>
          <p:cNvSpPr/>
          <p:nvPr>
            <p:ph idx="108" type="body" hasCustomPrompt="1"/>
          </p:nvPr>
        </p:nvSpPr>
        <p:spPr>
          <a:xfrm>
            <a:off x="777240" y="6108192"/>
            <a:ext cx="9875520" cy="274320"/>
          </a:xfrm>
          <a:prstGeom prst="rect">
            <a:avLst/>
          </a:prstGeom>
          <a:noFill/>
          <a:ln/>
        </p:spPr>
        <p:txBody>
          <a:bodyPr wrap="square" lIns="0" tIns="0" rIns="0" bIns="0" rtlCol="0" anchor="t"/>
          <a:lstStyle/>
          <a:p>
            <a:pPr indent="0" marL="0">
              <a:buNone/>
            </a:pPr>
            <a:r>
              <a:rPr lang="en-US" sz="1000" dirty="0">
                <a:solidFill>
                  <a:schemeClr val="accent3"/>
                </a:solidFill>
              </a:rPr>
              <a:t>Our hypothesis, to be validated with players and coaches</a:t>
            </a:r>
            <a:endParaRPr lang="en-US" sz="1000" dirty="0"/>
          </a:p>
        </p:txBody>
      </p:sp>
      <p:sp>
        <p:nvSpPr>
          <p:cNvPr id="5" name="Text 3"/>
          <p:cNvSpPr txBox="1"/>
          <p:nvPr/>
        </p:nvSpPr>
        <p:spPr>
          <a:xfrm>
            <a:off x="777240" y="1828800"/>
            <a:ext cx="5669280" cy="411480"/>
          </a:xfrm>
          <a:prstGeom prst="rect">
            <a:avLst/>
          </a:prstGeom>
          <a:noFill/>
          <a:ln/>
        </p:spPr>
        <p:txBody>
          <a:bodyPr wrap="square" lIns="0" tIns="0" rIns="0" bIns="0" rtlCol="0" anchor="t"/>
          <a:lstStyle/>
          <a:p>
            <a:pPr indent="0" marL="0">
              <a:buNone/>
            </a:pPr>
            <a:r>
              <a:rPr lang="en-US" sz="2000" b="1" dirty="0">
                <a:solidFill>
                  <a:schemeClr val="accent2"/>
                </a:solidFill>
                <a:latin typeface="Cormorant Garamond" pitchFamily="34" charset="0"/>
                <a:ea typeface="Cormorant Garamond" pitchFamily="34" charset="-122"/>
                <a:cs typeface="Cormorant Garamond" pitchFamily="34" charset="-120"/>
              </a:rPr>
              <a:t>The problem</a:t>
            </a:r>
            <a:endParaRPr lang="en-US" sz="2000" dirty="0"/>
          </a:p>
        </p:txBody>
      </p:sp>
      <p:sp>
        <p:nvSpPr>
          <p:cNvPr id="6" name="Text 4"/>
          <p:cNvSpPr txBox="1"/>
          <p:nvPr/>
        </p:nvSpPr>
        <p:spPr>
          <a:xfrm>
            <a:off x="777240" y="2423160"/>
            <a:ext cx="5669280" cy="365760"/>
          </a:xfrm>
          <a:prstGeom prst="rect">
            <a:avLst/>
          </a:prstGeom>
          <a:noFill/>
          <a:ln/>
        </p:spPr>
        <p:txBody>
          <a:bodyPr wrap="square" lIns="0" tIns="0" rIns="0" bIns="0" rtlCol="0" anchor="t"/>
          <a:lstStyle/>
          <a:p>
            <a:pPr indent="0" marL="0">
              <a:buNone/>
            </a:pPr>
            <a:r>
              <a:rPr lang="en-US" sz="1600" b="1" dirty="0">
                <a:solidFill>
                  <a:schemeClr val="accent2"/>
                </a:solidFill>
              </a:rPr>
              <a:t>Invisible</a:t>
            </a:r>
            <a:endParaRPr lang="en-US" sz="1600" dirty="0"/>
          </a:p>
        </p:txBody>
      </p:sp>
      <p:sp>
        <p:nvSpPr>
          <p:cNvPr id="7" name="Text 5"/>
          <p:cNvSpPr txBox="1"/>
          <p:nvPr/>
        </p:nvSpPr>
        <p:spPr>
          <a:xfrm>
            <a:off x="777240" y="2788920"/>
            <a:ext cx="5669280" cy="640080"/>
          </a:xfrm>
          <a:prstGeom prst="rect">
            <a:avLst/>
          </a:prstGeom>
          <a:noFill/>
          <a:ln/>
        </p:spPr>
        <p:txBody>
          <a:bodyPr wrap="square" lIns="0" tIns="0" rIns="0" bIns="0" rtlCol="0" anchor="t"/>
          <a:lstStyle/>
          <a:p>
            <a:pPr indent="0" marL="0">
              <a:buNone/>
            </a:pPr>
            <a:r>
              <a:rPr lang="en-US" sz="1400" dirty="0">
                <a:solidFill>
                  <a:schemeClr val="tx1"/>
                </a:solidFill>
              </a:rPr>
              <a:t>Foot order, toss height and the hitting point happen in a fraction of a second.</a:t>
            </a:r>
            <a:endParaRPr lang="en-US" sz="1400" dirty="0"/>
          </a:p>
        </p:txBody>
      </p:sp>
      <p:sp>
        <p:nvSpPr>
          <p:cNvPr id="8" name="Text 6"/>
          <p:cNvSpPr txBox="1"/>
          <p:nvPr/>
        </p:nvSpPr>
        <p:spPr>
          <a:xfrm>
            <a:off x="777240" y="3566160"/>
            <a:ext cx="5669280" cy="365760"/>
          </a:xfrm>
          <a:prstGeom prst="rect">
            <a:avLst/>
          </a:prstGeom>
          <a:noFill/>
          <a:ln/>
        </p:spPr>
        <p:txBody>
          <a:bodyPr wrap="square" lIns="0" tIns="0" rIns="0" bIns="0" rtlCol="0" anchor="t"/>
          <a:lstStyle/>
          <a:p>
            <a:pPr indent="0" marL="0">
              <a:buNone/>
            </a:pPr>
            <a:r>
              <a:rPr lang="en-US" sz="1600" b="1" dirty="0">
                <a:solidFill>
                  <a:schemeClr val="accent2"/>
                </a:solidFill>
              </a:rPr>
              <a:t>Delayed</a:t>
            </a:r>
            <a:endParaRPr lang="en-US" sz="1600" dirty="0"/>
          </a:p>
        </p:txBody>
      </p:sp>
      <p:sp>
        <p:nvSpPr>
          <p:cNvPr id="9" name="Text 7"/>
          <p:cNvSpPr txBox="1"/>
          <p:nvPr/>
        </p:nvSpPr>
        <p:spPr>
          <a:xfrm>
            <a:off x="777240" y="3931920"/>
            <a:ext cx="5669280" cy="640080"/>
          </a:xfrm>
          <a:prstGeom prst="rect">
            <a:avLst/>
          </a:prstGeom>
          <a:noFill/>
          <a:ln/>
        </p:spPr>
        <p:txBody>
          <a:bodyPr wrap="square" lIns="0" tIns="0" rIns="0" bIns="0" rtlCol="0" anchor="t"/>
          <a:lstStyle/>
          <a:p>
            <a:pPr indent="0" marL="0">
              <a:buNone/>
            </a:pPr>
            <a:r>
              <a:rPr lang="en-US" sz="1400" dirty="0">
                <a:solidFill>
                  <a:schemeClr val="tx1"/>
                </a:solidFill>
              </a:rPr>
              <a:t>Video review happens after the session, when the feel of the stroke is gone.</a:t>
            </a:r>
            <a:endParaRPr lang="en-US" sz="1400" dirty="0"/>
          </a:p>
        </p:txBody>
      </p:sp>
      <p:sp>
        <p:nvSpPr>
          <p:cNvPr id="10" name="Text 8"/>
          <p:cNvSpPr txBox="1"/>
          <p:nvPr/>
        </p:nvSpPr>
        <p:spPr>
          <a:xfrm>
            <a:off x="777240" y="4709160"/>
            <a:ext cx="5669280" cy="365760"/>
          </a:xfrm>
          <a:prstGeom prst="rect">
            <a:avLst/>
          </a:prstGeom>
          <a:noFill/>
          <a:ln/>
        </p:spPr>
        <p:txBody>
          <a:bodyPr wrap="square" lIns="0" tIns="0" rIns="0" bIns="0" rtlCol="0" anchor="t"/>
          <a:lstStyle/>
          <a:p>
            <a:pPr indent="0" marL="0">
              <a:buNone/>
            </a:pPr>
            <a:r>
              <a:rPr lang="en-US" sz="1600" b="1" dirty="0">
                <a:solidFill>
                  <a:schemeClr val="accent2"/>
                </a:solidFill>
              </a:rPr>
              <a:t>Coach-dependent</a:t>
            </a:r>
            <a:endParaRPr lang="en-US" sz="1600" dirty="0"/>
          </a:p>
        </p:txBody>
      </p:sp>
      <p:sp>
        <p:nvSpPr>
          <p:cNvPr id="11" name="Text 9"/>
          <p:cNvSpPr txBox="1"/>
          <p:nvPr/>
        </p:nvSpPr>
        <p:spPr>
          <a:xfrm>
            <a:off x="777240" y="5074920"/>
            <a:ext cx="5669280" cy="640080"/>
          </a:xfrm>
          <a:prstGeom prst="rect">
            <a:avLst/>
          </a:prstGeom>
          <a:noFill/>
          <a:ln/>
        </p:spPr>
        <p:txBody>
          <a:bodyPr wrap="square" lIns="0" tIns="0" rIns="0" bIns="0" rtlCol="0" anchor="t"/>
          <a:lstStyle/>
          <a:p>
            <a:pPr indent="0" marL="0">
              <a:buNone/>
            </a:pPr>
            <a:r>
              <a:rPr lang="en-US" sz="1400" dirty="0">
                <a:solidFill>
                  <a:schemeClr val="tx1"/>
                </a:solidFill>
              </a:rPr>
              <a:t>Frame-by-frame analysis needs a coach's time for every stroke.</a:t>
            </a:r>
            <a:endParaRPr lang="en-US" sz="1400" dirty="0"/>
          </a:p>
        </p:txBody>
      </p:sp>
      <p:sp>
        <p:nvSpPr>
          <p:cNvPr id="12" name="net panel"/>
          <p:cNvSpPr/>
          <p:nvPr/>
        </p:nvSpPr>
        <p:spPr>
          <a:xfrm>
            <a:off x="6903720" y="1783080"/>
            <a:ext cx="4526280" cy="4069080"/>
          </a:xfrm>
          <a:prstGeom prst="rect">
            <a:avLst/>
          </a:prstGeom>
          <a:solidFill>
            <a:srgbClr val="1F2A24"/>
          </a:solidFill>
          <a:ln/>
        </p:spPr>
      </p:sp>
      <p:sp>
        <p:nvSpPr>
          <p:cNvPr id="13" name="net tape"/>
          <p:cNvSpPr/>
          <p:nvPr/>
        </p:nvSpPr>
        <p:spPr>
          <a:xfrm>
            <a:off x="6903720" y="1783080"/>
            <a:ext cx="4526280" cy="109728"/>
          </a:xfrm>
          <a:prstGeom prst="rect">
            <a:avLst/>
          </a:prstGeom>
          <a:solidFill>
            <a:srgbClr val="F4F1E6"/>
          </a:solidFill>
          <a:ln/>
        </p:spPr>
      </p:sp>
      <p:sp>
        <p:nvSpPr>
          <p:cNvPr id="14" name="Text 12"/>
          <p:cNvSpPr txBox="1"/>
          <p:nvPr/>
        </p:nvSpPr>
        <p:spPr>
          <a:xfrm>
            <a:off x="7223760" y="2103120"/>
            <a:ext cx="3931920" cy="411480"/>
          </a:xfrm>
          <a:prstGeom prst="rect">
            <a:avLst/>
          </a:prstGeom>
          <a:noFill/>
          <a:ln/>
        </p:spPr>
        <p:txBody>
          <a:bodyPr wrap="square" lIns="0" tIns="0" rIns="0" bIns="0" rtlCol="0" anchor="t"/>
          <a:lstStyle/>
          <a:p>
            <a:pPr indent="0" marL="0">
              <a:buNone/>
            </a:pPr>
            <a:r>
              <a:rPr lang="en-US" sz="2000" b="1" dirty="0">
                <a:solidFill>
                  <a:schemeClr val="accent4"/>
                </a:solidFill>
                <a:latin typeface="Cormorant Garamond" pitchFamily="34" charset="0"/>
                <a:ea typeface="Cormorant Garamond" pitchFamily="34" charset="-122"/>
                <a:cs typeface="Cormorant Garamond" pitchFamily="34" charset="-120"/>
              </a:rPr>
              <a:t>Why edge computing</a:t>
            </a:r>
            <a:endParaRPr lang="en-US" sz="2000" dirty="0"/>
          </a:p>
        </p:txBody>
      </p:sp>
      <p:sp>
        <p:nvSpPr>
          <p:cNvPr id="15" name="Text 13"/>
          <p:cNvSpPr txBox="1"/>
          <p:nvPr/>
        </p:nvSpPr>
        <p:spPr>
          <a:xfrm>
            <a:off x="7223760" y="2697480"/>
            <a:ext cx="3931920" cy="329184"/>
          </a:xfrm>
          <a:prstGeom prst="rect">
            <a:avLst/>
          </a:prstGeom>
          <a:noFill/>
          <a:ln/>
        </p:spPr>
        <p:txBody>
          <a:bodyPr wrap="square" lIns="0" tIns="0" rIns="0" bIns="0" rtlCol="0" anchor="t"/>
          <a:lstStyle/>
          <a:p>
            <a:pPr indent="0" marL="0">
              <a:buNone/>
            </a:pPr>
            <a:r>
              <a:rPr lang="en-US" sz="1500" b="1" dirty="0">
                <a:solidFill>
                  <a:schemeClr val="accent4"/>
                </a:solidFill>
              </a:rPr>
              <a:t>Offline</a:t>
            </a:r>
            <a:endParaRPr lang="en-US" sz="1500" dirty="0"/>
          </a:p>
        </p:txBody>
      </p:sp>
      <p:sp>
        <p:nvSpPr>
          <p:cNvPr id="16" name="Text 14"/>
          <p:cNvSpPr txBox="1"/>
          <p:nvPr/>
        </p:nvSpPr>
        <p:spPr>
          <a:xfrm>
            <a:off x="7223760" y="3026664"/>
            <a:ext cx="3931920" cy="640080"/>
          </a:xfrm>
          <a:prstGeom prst="rect">
            <a:avLst/>
          </a:prstGeom>
          <a:noFill/>
          <a:ln/>
        </p:spPr>
        <p:txBody>
          <a:bodyPr wrap="square" lIns="0" tIns="0" rIns="0" bIns="0" rtlCol="0" anchor="t"/>
          <a:lstStyle/>
          <a:p>
            <a:pPr indent="0" marL="0">
              <a:buNone/>
            </a:pPr>
            <a:r>
              <a:rPr lang="en-US" sz="1300" dirty="0">
                <a:solidFill>
                  <a:schemeClr val="bg1"/>
                </a:solidFill>
              </a:rPr>
              <a:t>Courts often have weak or no Wi-Fi; every step runs on the phone and the UGen300.</a:t>
            </a:r>
            <a:endParaRPr lang="en-US" sz="1300" dirty="0"/>
          </a:p>
        </p:txBody>
      </p:sp>
      <p:sp>
        <p:nvSpPr>
          <p:cNvPr id="17" name="Text 15"/>
          <p:cNvSpPr txBox="1"/>
          <p:nvPr/>
        </p:nvSpPr>
        <p:spPr>
          <a:xfrm>
            <a:off x="7223760" y="3703320"/>
            <a:ext cx="3931920" cy="329184"/>
          </a:xfrm>
          <a:prstGeom prst="rect">
            <a:avLst/>
          </a:prstGeom>
          <a:noFill/>
          <a:ln/>
        </p:spPr>
        <p:txBody>
          <a:bodyPr wrap="square" lIns="0" tIns="0" rIns="0" bIns="0" rtlCol="0" anchor="t"/>
          <a:lstStyle/>
          <a:p>
            <a:pPr indent="0" marL="0">
              <a:buNone/>
            </a:pPr>
            <a:r>
              <a:rPr lang="en-US" sz="1500" b="1" dirty="0">
                <a:solidFill>
                  <a:schemeClr val="accent4"/>
                </a:solidFill>
              </a:rPr>
              <a:t>Private</a:t>
            </a:r>
            <a:endParaRPr lang="en-US" sz="1500" dirty="0"/>
          </a:p>
        </p:txBody>
      </p:sp>
      <p:sp>
        <p:nvSpPr>
          <p:cNvPr id="18" name="Text 16"/>
          <p:cNvSpPr txBox="1"/>
          <p:nvPr/>
        </p:nvSpPr>
        <p:spPr>
          <a:xfrm>
            <a:off x="7223760" y="4032504"/>
            <a:ext cx="3931920" cy="640080"/>
          </a:xfrm>
          <a:prstGeom prst="rect">
            <a:avLst/>
          </a:prstGeom>
          <a:noFill/>
          <a:ln/>
        </p:spPr>
        <p:txBody>
          <a:bodyPr wrap="square" lIns="0" tIns="0" rIns="0" bIns="0" rtlCol="0" anchor="t"/>
          <a:lstStyle/>
          <a:p>
            <a:pPr indent="0" marL="0">
              <a:buNone/>
            </a:pPr>
            <a:r>
              <a:rPr lang="en-US" sz="1300" dirty="0">
                <a:solidFill>
                  <a:schemeClr val="bg1"/>
                </a:solidFill>
              </a:rPr>
              <a:t>Video of players, often juniors, never leaves the court.</a:t>
            </a:r>
            <a:endParaRPr lang="en-US" sz="1300" dirty="0"/>
          </a:p>
        </p:txBody>
      </p:sp>
      <p:sp>
        <p:nvSpPr>
          <p:cNvPr id="19" name="Text 17"/>
          <p:cNvSpPr txBox="1"/>
          <p:nvPr/>
        </p:nvSpPr>
        <p:spPr>
          <a:xfrm>
            <a:off x="7223760" y="4709160"/>
            <a:ext cx="3931920" cy="329184"/>
          </a:xfrm>
          <a:prstGeom prst="rect">
            <a:avLst/>
          </a:prstGeom>
          <a:noFill/>
          <a:ln/>
        </p:spPr>
        <p:txBody>
          <a:bodyPr wrap="square" lIns="0" tIns="0" rIns="0" bIns="0" rtlCol="0" anchor="t"/>
          <a:lstStyle/>
          <a:p>
            <a:pPr indent="0" marL="0">
              <a:buNone/>
            </a:pPr>
            <a:r>
              <a:rPr lang="en-US" sz="1500" b="1" dirty="0">
                <a:solidFill>
                  <a:schemeClr val="accent4"/>
                </a:solidFill>
              </a:rPr>
              <a:t>Instant</a:t>
            </a:r>
            <a:endParaRPr lang="en-US" sz="1500" dirty="0"/>
          </a:p>
        </p:txBody>
      </p:sp>
      <p:sp>
        <p:nvSpPr>
          <p:cNvPr id="20" name="Text 18"/>
          <p:cNvSpPr txBox="1"/>
          <p:nvPr/>
        </p:nvSpPr>
        <p:spPr>
          <a:xfrm>
            <a:off x="7223760" y="5038344"/>
            <a:ext cx="3931920" cy="640080"/>
          </a:xfrm>
          <a:prstGeom prst="rect">
            <a:avLst/>
          </a:prstGeom>
          <a:noFill/>
          <a:ln/>
        </p:spPr>
        <p:txBody>
          <a:bodyPr wrap="square" lIns="0" tIns="0" rIns="0" bIns="0" rtlCol="0" anchor="t"/>
          <a:lstStyle/>
          <a:p>
            <a:pPr indent="0" marL="0">
              <a:buNone/>
            </a:pPr>
            <a:r>
              <a:rPr lang="en-US" sz="1300" dirty="0">
                <a:solidFill>
                  <a:schemeClr val="bg1"/>
                </a:solidFill>
              </a:rPr>
              <a:t>Feedback between points, while the player can still feel the stroke.</a:t>
            </a:r>
            <a:endParaRPr lang="en-US" sz="1300" dirty="0"/>
          </a:p>
        </p:txBody>
      </p:sp>
      <p:sp>
        <p:nvSpPr>
          <p:cNvPr id="25" name="Slide Number Placeholder 0"/>
          <p:cNvSpPr>
            <a:spLocks noGrp="1"/>
          </p:cNvSpPr>
          <p:nvPr>
            <p:ph type="sldNum" sz="quarter" idx="4294967295"/>
          </p:nvPr>
        </p:nvSpPr>
        <p:spPr>
          <a:xfrm>
            <a:off x="10927080" y="6108192"/>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C6B4F"/>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5"/>
          <p:cNvSpPr/>
          <p:nvPr>
            <p:ph idx="106" type="body" hasCustomPrompt="1"/>
          </p:nvPr>
        </p:nvSpPr>
        <p:spPr>
          <a:xfrm>
            <a:off x="777240" y="566928"/>
            <a:ext cx="8229600" cy="274320"/>
          </a:xfrm>
          <a:prstGeom prst="rect">
            <a:avLst/>
          </a:prstGeom>
          <a:noFill/>
          <a:ln/>
        </p:spPr>
        <p:txBody>
          <a:bodyPr wrap="square" lIns="0" tIns="0" rIns="0" bIns="0" rtlCol="0" anchor="t"/>
          <a:lstStyle/>
          <a:p>
            <a:pPr indent="0" marL="0">
              <a:buNone/>
            </a:pPr>
            <a:r>
              <a:rPr lang="en-US" sz="1200" i="1" dirty="0">
                <a:solidFill>
                  <a:schemeClr val="accent3"/>
                </a:solidFill>
              </a:rPr>
              <a:t>Solution and edge architecture</a:t>
            </a:r>
            <a:endParaRPr lang="en-US" sz="1200" dirty="0"/>
          </a:p>
        </p:txBody>
      </p:sp>
      <p:sp>
        <p:nvSpPr>
          <p:cNvPr id="3" name="Text 5"/>
          <p:cNvSpPr/>
          <p:nvPr>
            <p:ph idx="107" type="title" hasCustomPrompt="1"/>
          </p:nvPr>
        </p:nvSpPr>
        <p:spPr>
          <a:xfrm>
            <a:off x="777240" y="841248"/>
            <a:ext cx="9966960" cy="914400"/>
          </a:xfrm>
          <a:prstGeom prst="rect">
            <a:avLst/>
          </a:prstGeom>
          <a:noFill/>
          <a:ln/>
        </p:spPr>
        <p:txBody>
          <a:bodyPr wrap="square" lIns="0" tIns="0" rIns="0" bIns="0" rtlCol="0" anchor="t"/>
          <a:lstStyle/>
          <a:p>
            <a:pPr algn="l" indent="0" marL="0">
              <a:buNone/>
            </a:pPr>
            <a:r>
              <a:rPr lang="en-US" sz="2800" b="1" dirty="0">
                <a:solidFill>
                  <a:schemeClr val="accent2"/>
                </a:solidFill>
                <a:latin typeface="Cormorant Garamond" pitchFamily="34" charset="0"/>
                <a:ea typeface="Cormorant Garamond" pitchFamily="34" charset="-122"/>
                <a:cs typeface="Cormorant Garamond" pitchFamily="34" charset="-120"/>
              </a:rPr>
              <a:t>Five stages turn a phone clip into coaching; the UGen300's NPU runs the neural models</a:t>
            </a:r>
            <a:endParaRPr lang="en-US" sz="2800" dirty="0"/>
          </a:p>
        </p:txBody>
      </p:sp>
      <p:sp>
        <p:nvSpPr>
          <p:cNvPr id="4" name="Text 5"/>
          <p:cNvSpPr/>
          <p:nvPr>
            <p:ph idx="108" type="body" hasCustomPrompt="1"/>
          </p:nvPr>
        </p:nvSpPr>
        <p:spPr>
          <a:xfrm>
            <a:off x="777240" y="6108192"/>
            <a:ext cx="9875520" cy="274320"/>
          </a:xfrm>
          <a:prstGeom prst="rect">
            <a:avLst/>
          </a:prstGeom>
          <a:noFill/>
          <a:ln/>
        </p:spPr>
        <p:txBody>
          <a:bodyPr wrap="square" lIns="0" tIns="0" rIns="0" bIns="0" rtlCol="0" anchor="t"/>
          <a:lstStyle/>
          <a:p>
            <a:pPr indent="0" marL="0">
              <a:buNone/>
            </a:pPr>
            <a:r>
              <a:rPr lang="en-US" sz="1000" dirty="0">
                <a:solidFill>
                  <a:schemeClr val="accent3"/>
                </a:solidFill>
              </a:rPr>
              <a:t>The demo runs the same pipeline as a web app on a laptop. YOLOX is in the Hailo Model Zoo; the pose model still has to be converted and benchmarked</a:t>
            </a:r>
            <a:endParaRPr lang="en-US" sz="1000" dirty="0"/>
          </a:p>
        </p:txBody>
      </p:sp>
      <p:sp>
        <p:nvSpPr>
          <p:cNvPr id="5" name="stage 1"/>
          <p:cNvSpPr/>
          <p:nvPr/>
        </p:nvSpPr>
        <p:spPr>
          <a:xfrm>
            <a:off x="777240" y="1783080"/>
            <a:ext cx="1965960" cy="2331720"/>
          </a:xfrm>
          <a:prstGeom prst="rect">
            <a:avLst/>
          </a:prstGeom>
          <a:solidFill>
            <a:srgbClr val="FCFBF6"/>
          </a:solidFill>
          <a:ln w="12700">
            <a:solidFill>
              <a:srgbClr val="3F6B3A"/>
            </a:solidFill>
            <a:prstDash val="solid"/>
          </a:ln>
        </p:spPr>
      </p:sp>
      <p:sp>
        <p:nvSpPr>
          <p:cNvPr id="6" name="Shape 4"/>
          <p:cNvSpPr/>
          <p:nvPr/>
        </p:nvSpPr>
        <p:spPr>
          <a:xfrm>
            <a:off x="886968" y="1783080"/>
            <a:ext cx="0" cy="2331720"/>
          </a:xfrm>
          <a:prstGeom prst="line">
            <a:avLst/>
          </a:prstGeom>
          <a:noFill/>
          <a:ln w="6350">
            <a:solidFill>
              <a:srgbClr val="3F6B3A"/>
            </a:solidFill>
            <a:prstDash val="solid"/>
          </a:ln>
        </p:spPr>
      </p:sp>
      <p:sp>
        <p:nvSpPr>
          <p:cNvPr id="7" name="Shape 5"/>
          <p:cNvSpPr/>
          <p:nvPr/>
        </p:nvSpPr>
        <p:spPr>
          <a:xfrm>
            <a:off x="2633472" y="1783080"/>
            <a:ext cx="0" cy="2331720"/>
          </a:xfrm>
          <a:prstGeom prst="line">
            <a:avLst/>
          </a:prstGeom>
          <a:noFill/>
          <a:ln w="6350">
            <a:solidFill>
              <a:srgbClr val="3F6B3A"/>
            </a:solidFill>
            <a:prstDash val="solid"/>
          </a:ln>
        </p:spPr>
      </p:sp>
      <p:sp>
        <p:nvSpPr>
          <p:cNvPr id="8" name="Text 6"/>
          <p:cNvSpPr txBox="1"/>
          <p:nvPr/>
        </p:nvSpPr>
        <p:spPr>
          <a:xfrm>
            <a:off x="1005840" y="1947672"/>
            <a:ext cx="548640" cy="457200"/>
          </a:xfrm>
          <a:prstGeom prst="rect">
            <a:avLst/>
          </a:prstGeom>
          <a:noFill/>
          <a:ln/>
        </p:spPr>
        <p:txBody>
          <a:bodyPr wrap="square" lIns="0" tIns="0" rIns="0" bIns="0" rtlCol="0" anchor="t"/>
          <a:lstStyle/>
          <a:p>
            <a:pPr indent="0" marL="0">
              <a:buNone/>
            </a:pPr>
            <a:r>
              <a:rPr lang="en-US" sz="2600" b="1" dirty="0">
                <a:solidFill>
                  <a:schemeClr val="accent1"/>
                </a:solidFill>
                <a:latin typeface="Cormorant Garamond" pitchFamily="34" charset="0"/>
                <a:ea typeface="Cormorant Garamond" pitchFamily="34" charset="-122"/>
                <a:cs typeface="Cormorant Garamond" pitchFamily="34" charset="-120"/>
              </a:rPr>
              <a:t>1</a:t>
            </a:r>
            <a:endParaRPr lang="en-US" sz="2600" dirty="0"/>
          </a:p>
        </p:txBody>
      </p:sp>
      <p:sp>
        <p:nvSpPr>
          <p:cNvPr id="9" name="Text 7"/>
          <p:cNvSpPr txBox="1"/>
          <p:nvPr/>
        </p:nvSpPr>
        <p:spPr>
          <a:xfrm>
            <a:off x="1005840" y="2423160"/>
            <a:ext cx="1508760" cy="365760"/>
          </a:xfrm>
          <a:prstGeom prst="rect">
            <a:avLst/>
          </a:prstGeom>
          <a:noFill/>
          <a:ln/>
        </p:spPr>
        <p:txBody>
          <a:bodyPr wrap="square" lIns="0" tIns="0" rIns="0" bIns="0" rtlCol="0" anchor="t"/>
          <a:lstStyle/>
          <a:p>
            <a:pPr indent="0" marL="0">
              <a:buNone/>
            </a:pPr>
            <a:r>
              <a:rPr lang="en-US" sz="2000" b="1" dirty="0">
                <a:solidFill>
                  <a:schemeClr val="accent2"/>
                </a:solidFill>
                <a:latin typeface="Cormorant Garamond" pitchFamily="34" charset="0"/>
                <a:ea typeface="Cormorant Garamond" pitchFamily="34" charset="-122"/>
                <a:cs typeface="Cormorant Garamond" pitchFamily="34" charset="-120"/>
              </a:rPr>
              <a:t>Frames</a:t>
            </a:r>
            <a:endParaRPr lang="en-US" sz="2000" dirty="0"/>
          </a:p>
        </p:txBody>
      </p:sp>
      <p:sp>
        <p:nvSpPr>
          <p:cNvPr id="10" name="Text 8"/>
          <p:cNvSpPr txBox="1"/>
          <p:nvPr/>
        </p:nvSpPr>
        <p:spPr>
          <a:xfrm>
            <a:off x="1005840" y="2807208"/>
            <a:ext cx="1508760" cy="868680"/>
          </a:xfrm>
          <a:prstGeom prst="rect">
            <a:avLst/>
          </a:prstGeom>
          <a:noFill/>
          <a:ln/>
        </p:spPr>
        <p:txBody>
          <a:bodyPr wrap="square" lIns="0" tIns="0" rIns="0" bIns="0" rtlCol="0" anchor="t"/>
          <a:lstStyle/>
          <a:p>
            <a:pPr indent="0" marL="0">
              <a:buNone/>
            </a:pPr>
            <a:r>
              <a:rPr lang="en-US" sz="1200" dirty="0">
                <a:solidFill>
                  <a:schemeClr val="tx1"/>
                </a:solidFill>
              </a:rPr>
              <a:t>Video split into one image per frame, 120 per second</a:t>
            </a:r>
            <a:endParaRPr lang="en-US" sz="1200" dirty="0"/>
          </a:p>
        </p:txBody>
      </p:sp>
      <p:sp>
        <p:nvSpPr>
          <p:cNvPr id="11" name="Text 9"/>
          <p:cNvSpPr txBox="1"/>
          <p:nvPr/>
        </p:nvSpPr>
        <p:spPr>
          <a:xfrm>
            <a:off x="1005840" y="3703320"/>
            <a:ext cx="1508760" cy="274320"/>
          </a:xfrm>
          <a:prstGeom prst="rect">
            <a:avLst/>
          </a:prstGeom>
          <a:noFill/>
          <a:ln/>
        </p:spPr>
        <p:txBody>
          <a:bodyPr wrap="square" lIns="0" tIns="0" rIns="0" bIns="0" rtlCol="0" anchor="t"/>
          <a:lstStyle/>
          <a:p>
            <a:pPr indent="0" marL="0">
              <a:buNone/>
            </a:pPr>
            <a:r>
              <a:rPr lang="en-US" sz="1100" i="1" dirty="0">
                <a:solidFill>
                  <a:schemeClr val="accent3"/>
                </a:solidFill>
              </a:rPr>
              <a:t>Runs on: Phone</a:t>
            </a:r>
            <a:endParaRPr lang="en-US" sz="1100" dirty="0"/>
          </a:p>
        </p:txBody>
      </p:sp>
      <p:sp>
        <p:nvSpPr>
          <p:cNvPr id="12" name="stage 2"/>
          <p:cNvSpPr/>
          <p:nvPr/>
        </p:nvSpPr>
        <p:spPr>
          <a:xfrm>
            <a:off x="2907792" y="1783080"/>
            <a:ext cx="1965960" cy="2331720"/>
          </a:xfrm>
          <a:prstGeom prst="rect">
            <a:avLst/>
          </a:prstGeom>
          <a:solidFill>
            <a:srgbClr val="FCFBF6"/>
          </a:solidFill>
          <a:ln w="12700">
            <a:solidFill>
              <a:srgbClr val="3F6B3A"/>
            </a:solidFill>
            <a:prstDash val="solid"/>
          </a:ln>
        </p:spPr>
      </p:sp>
      <p:sp>
        <p:nvSpPr>
          <p:cNvPr id="13" name="Shape 11"/>
          <p:cNvSpPr/>
          <p:nvPr/>
        </p:nvSpPr>
        <p:spPr>
          <a:xfrm>
            <a:off x="3017520" y="1783080"/>
            <a:ext cx="0" cy="2331720"/>
          </a:xfrm>
          <a:prstGeom prst="line">
            <a:avLst/>
          </a:prstGeom>
          <a:noFill/>
          <a:ln w="6350">
            <a:solidFill>
              <a:srgbClr val="3F6B3A"/>
            </a:solidFill>
            <a:prstDash val="solid"/>
          </a:ln>
        </p:spPr>
      </p:sp>
      <p:sp>
        <p:nvSpPr>
          <p:cNvPr id="14" name="Shape 12"/>
          <p:cNvSpPr/>
          <p:nvPr/>
        </p:nvSpPr>
        <p:spPr>
          <a:xfrm>
            <a:off x="4764024" y="1783080"/>
            <a:ext cx="0" cy="2331720"/>
          </a:xfrm>
          <a:prstGeom prst="line">
            <a:avLst/>
          </a:prstGeom>
          <a:noFill/>
          <a:ln w="6350">
            <a:solidFill>
              <a:srgbClr val="3F6B3A"/>
            </a:solidFill>
            <a:prstDash val="solid"/>
          </a:ln>
        </p:spPr>
      </p:sp>
      <p:sp>
        <p:nvSpPr>
          <p:cNvPr id="15" name="Text 13"/>
          <p:cNvSpPr txBox="1"/>
          <p:nvPr/>
        </p:nvSpPr>
        <p:spPr>
          <a:xfrm>
            <a:off x="3136392" y="1947672"/>
            <a:ext cx="548640" cy="457200"/>
          </a:xfrm>
          <a:prstGeom prst="rect">
            <a:avLst/>
          </a:prstGeom>
          <a:noFill/>
          <a:ln/>
        </p:spPr>
        <p:txBody>
          <a:bodyPr wrap="square" lIns="0" tIns="0" rIns="0" bIns="0" rtlCol="0" anchor="t"/>
          <a:lstStyle/>
          <a:p>
            <a:pPr indent="0" marL="0">
              <a:buNone/>
            </a:pPr>
            <a:r>
              <a:rPr lang="en-US" sz="2600" b="1" dirty="0">
                <a:solidFill>
                  <a:schemeClr val="accent1"/>
                </a:solidFill>
                <a:latin typeface="Cormorant Garamond" pitchFamily="34" charset="0"/>
                <a:ea typeface="Cormorant Garamond" pitchFamily="34" charset="-122"/>
                <a:cs typeface="Cormorant Garamond" pitchFamily="34" charset="-120"/>
              </a:rPr>
              <a:t>2</a:t>
            </a:r>
            <a:endParaRPr lang="en-US" sz="2600" dirty="0"/>
          </a:p>
        </p:txBody>
      </p:sp>
      <p:sp>
        <p:nvSpPr>
          <p:cNvPr id="16" name="Text 14"/>
          <p:cNvSpPr txBox="1"/>
          <p:nvPr/>
        </p:nvSpPr>
        <p:spPr>
          <a:xfrm>
            <a:off x="3136392" y="2423160"/>
            <a:ext cx="1508760" cy="365760"/>
          </a:xfrm>
          <a:prstGeom prst="rect">
            <a:avLst/>
          </a:prstGeom>
          <a:noFill/>
          <a:ln/>
        </p:spPr>
        <p:txBody>
          <a:bodyPr wrap="square" lIns="0" tIns="0" rIns="0" bIns="0" rtlCol="0" anchor="t"/>
          <a:lstStyle/>
          <a:p>
            <a:pPr indent="0" marL="0">
              <a:buNone/>
            </a:pPr>
            <a:r>
              <a:rPr lang="en-US" sz="2000" b="1" dirty="0">
                <a:solidFill>
                  <a:schemeClr val="accent2"/>
                </a:solidFill>
                <a:latin typeface="Cormorant Garamond" pitchFamily="34" charset="0"/>
                <a:ea typeface="Cormorant Garamond" pitchFamily="34" charset="-122"/>
                <a:cs typeface="Cormorant Garamond" pitchFamily="34" charset="-120"/>
              </a:rPr>
              <a:t>Skeleton</a:t>
            </a:r>
            <a:endParaRPr lang="en-US" sz="2000" dirty="0"/>
          </a:p>
        </p:txBody>
      </p:sp>
      <p:sp>
        <p:nvSpPr>
          <p:cNvPr id="17" name="Text 15"/>
          <p:cNvSpPr txBox="1"/>
          <p:nvPr/>
        </p:nvSpPr>
        <p:spPr>
          <a:xfrm>
            <a:off x="3136392" y="2807208"/>
            <a:ext cx="1508760" cy="868680"/>
          </a:xfrm>
          <a:prstGeom prst="rect">
            <a:avLst/>
          </a:prstGeom>
          <a:noFill/>
          <a:ln/>
        </p:spPr>
        <p:txBody>
          <a:bodyPr wrap="square" lIns="0" tIns="0" rIns="0" bIns="0" rtlCol="0" anchor="t"/>
          <a:lstStyle/>
          <a:p>
            <a:pPr indent="0" marL="0">
              <a:buNone/>
            </a:pPr>
            <a:r>
              <a:rPr lang="en-US" sz="1200" dirty="0">
                <a:solidFill>
                  <a:schemeClr val="tx1"/>
                </a:solidFill>
              </a:rPr>
              <a:t>Player box and a 33-point skeleton on a zoomed crop</a:t>
            </a:r>
            <a:endParaRPr lang="en-US" sz="1200" dirty="0"/>
          </a:p>
        </p:txBody>
      </p:sp>
      <p:sp>
        <p:nvSpPr>
          <p:cNvPr id="18" name="Text 16"/>
          <p:cNvSpPr txBox="1"/>
          <p:nvPr/>
        </p:nvSpPr>
        <p:spPr>
          <a:xfrm>
            <a:off x="3136392" y="3703320"/>
            <a:ext cx="1508760" cy="274320"/>
          </a:xfrm>
          <a:prstGeom prst="rect">
            <a:avLst/>
          </a:prstGeom>
          <a:noFill/>
          <a:ln/>
        </p:spPr>
        <p:txBody>
          <a:bodyPr wrap="square" lIns="0" tIns="0" rIns="0" bIns="0" rtlCol="0" anchor="t"/>
          <a:lstStyle/>
          <a:p>
            <a:pPr indent="0" marL="0">
              <a:buNone/>
            </a:pPr>
            <a:r>
              <a:rPr lang="en-US" sz="1100" i="1" dirty="0">
                <a:solidFill>
                  <a:schemeClr val="accent3"/>
                </a:solidFill>
              </a:rPr>
              <a:t>Runs on: UGen300</a:t>
            </a:r>
            <a:endParaRPr lang="en-US" sz="1100" dirty="0"/>
          </a:p>
        </p:txBody>
      </p:sp>
      <p:sp>
        <p:nvSpPr>
          <p:cNvPr id="19" name="stage 3"/>
          <p:cNvSpPr/>
          <p:nvPr/>
        </p:nvSpPr>
        <p:spPr>
          <a:xfrm>
            <a:off x="5038344" y="1783080"/>
            <a:ext cx="1965960" cy="2331720"/>
          </a:xfrm>
          <a:prstGeom prst="rect">
            <a:avLst/>
          </a:prstGeom>
          <a:solidFill>
            <a:srgbClr val="FCFBF6"/>
          </a:solidFill>
          <a:ln w="12700">
            <a:solidFill>
              <a:srgbClr val="3F6B3A"/>
            </a:solidFill>
            <a:prstDash val="solid"/>
          </a:ln>
        </p:spPr>
      </p:sp>
      <p:sp>
        <p:nvSpPr>
          <p:cNvPr id="20" name="Shape 18"/>
          <p:cNvSpPr/>
          <p:nvPr/>
        </p:nvSpPr>
        <p:spPr>
          <a:xfrm>
            <a:off x="5148072" y="1783080"/>
            <a:ext cx="0" cy="2331720"/>
          </a:xfrm>
          <a:prstGeom prst="line">
            <a:avLst/>
          </a:prstGeom>
          <a:noFill/>
          <a:ln w="6350">
            <a:solidFill>
              <a:srgbClr val="3F6B3A"/>
            </a:solidFill>
            <a:prstDash val="solid"/>
          </a:ln>
        </p:spPr>
      </p:sp>
      <p:sp>
        <p:nvSpPr>
          <p:cNvPr id="21" name="Shape 19"/>
          <p:cNvSpPr/>
          <p:nvPr/>
        </p:nvSpPr>
        <p:spPr>
          <a:xfrm>
            <a:off x="6894576" y="1783080"/>
            <a:ext cx="0" cy="2331720"/>
          </a:xfrm>
          <a:prstGeom prst="line">
            <a:avLst/>
          </a:prstGeom>
          <a:noFill/>
          <a:ln w="6350">
            <a:solidFill>
              <a:srgbClr val="3F6B3A"/>
            </a:solidFill>
            <a:prstDash val="solid"/>
          </a:ln>
        </p:spPr>
      </p:sp>
      <p:sp>
        <p:nvSpPr>
          <p:cNvPr id="22" name="Text 20"/>
          <p:cNvSpPr txBox="1"/>
          <p:nvPr/>
        </p:nvSpPr>
        <p:spPr>
          <a:xfrm>
            <a:off x="5266944" y="1947672"/>
            <a:ext cx="548640" cy="457200"/>
          </a:xfrm>
          <a:prstGeom prst="rect">
            <a:avLst/>
          </a:prstGeom>
          <a:noFill/>
          <a:ln/>
        </p:spPr>
        <p:txBody>
          <a:bodyPr wrap="square" lIns="0" tIns="0" rIns="0" bIns="0" rtlCol="0" anchor="t"/>
          <a:lstStyle/>
          <a:p>
            <a:pPr indent="0" marL="0">
              <a:buNone/>
            </a:pPr>
            <a:r>
              <a:rPr lang="en-US" sz="2600" b="1" dirty="0">
                <a:solidFill>
                  <a:schemeClr val="accent1"/>
                </a:solidFill>
                <a:latin typeface="Cormorant Garamond" pitchFamily="34" charset="0"/>
                <a:ea typeface="Cormorant Garamond" pitchFamily="34" charset="-122"/>
                <a:cs typeface="Cormorant Garamond" pitchFamily="34" charset="-120"/>
              </a:rPr>
              <a:t>3</a:t>
            </a:r>
            <a:endParaRPr lang="en-US" sz="2600" dirty="0"/>
          </a:p>
        </p:txBody>
      </p:sp>
      <p:sp>
        <p:nvSpPr>
          <p:cNvPr id="23" name="Text 21"/>
          <p:cNvSpPr txBox="1"/>
          <p:nvPr/>
        </p:nvSpPr>
        <p:spPr>
          <a:xfrm>
            <a:off x="5266944" y="2423160"/>
            <a:ext cx="1508760" cy="365760"/>
          </a:xfrm>
          <a:prstGeom prst="rect">
            <a:avLst/>
          </a:prstGeom>
          <a:noFill/>
          <a:ln/>
        </p:spPr>
        <p:txBody>
          <a:bodyPr wrap="square" lIns="0" tIns="0" rIns="0" bIns="0" rtlCol="0" anchor="t"/>
          <a:lstStyle/>
          <a:p>
            <a:pPr indent="0" marL="0">
              <a:buNone/>
            </a:pPr>
            <a:r>
              <a:rPr lang="en-US" sz="2000" b="1" dirty="0">
                <a:solidFill>
                  <a:schemeClr val="accent2"/>
                </a:solidFill>
                <a:latin typeface="Cormorant Garamond" pitchFamily="34" charset="0"/>
                <a:ea typeface="Cormorant Garamond" pitchFamily="34" charset="-122"/>
                <a:cs typeface="Cormorant Garamond" pitchFamily="34" charset="-120"/>
              </a:rPr>
              <a:t>Ball</a:t>
            </a:r>
            <a:endParaRPr lang="en-US" sz="2000" dirty="0"/>
          </a:p>
        </p:txBody>
      </p:sp>
      <p:sp>
        <p:nvSpPr>
          <p:cNvPr id="24" name="Text 22"/>
          <p:cNvSpPr txBox="1"/>
          <p:nvPr/>
        </p:nvSpPr>
        <p:spPr>
          <a:xfrm>
            <a:off x="5266944" y="2807208"/>
            <a:ext cx="1508760" cy="868680"/>
          </a:xfrm>
          <a:prstGeom prst="rect">
            <a:avLst/>
          </a:prstGeom>
          <a:noFill/>
          <a:ln/>
        </p:spPr>
        <p:txBody>
          <a:bodyPr wrap="square" lIns="0" tIns="0" rIns="0" bIns="0" rtlCol="0" anchor="t"/>
          <a:lstStyle/>
          <a:p>
            <a:pPr indent="0" marL="0">
              <a:buNone/>
            </a:pPr>
            <a:r>
              <a:rPr lang="en-US" sz="1200" dirty="0">
                <a:solidFill>
                  <a:schemeClr val="tx1"/>
                </a:solidFill>
              </a:rPr>
              <a:t>Racquet, ball path, bounce and hitting point</a:t>
            </a:r>
            <a:endParaRPr lang="en-US" sz="1200" dirty="0"/>
          </a:p>
        </p:txBody>
      </p:sp>
      <p:sp>
        <p:nvSpPr>
          <p:cNvPr id="25" name="Text 23"/>
          <p:cNvSpPr txBox="1"/>
          <p:nvPr/>
        </p:nvSpPr>
        <p:spPr>
          <a:xfrm>
            <a:off x="5266944" y="3703320"/>
            <a:ext cx="1508760" cy="274320"/>
          </a:xfrm>
          <a:prstGeom prst="rect">
            <a:avLst/>
          </a:prstGeom>
          <a:noFill/>
          <a:ln/>
        </p:spPr>
        <p:txBody>
          <a:bodyPr wrap="square" lIns="0" tIns="0" rIns="0" bIns="0" rtlCol="0" anchor="t"/>
          <a:lstStyle/>
          <a:p>
            <a:pPr indent="0" marL="0">
              <a:buNone/>
            </a:pPr>
            <a:r>
              <a:rPr lang="en-US" sz="1100" i="1" dirty="0">
                <a:solidFill>
                  <a:schemeClr val="accent3"/>
                </a:solidFill>
              </a:rPr>
              <a:t>Runs on: UGen300 + phone</a:t>
            </a:r>
            <a:endParaRPr lang="en-US" sz="1100" dirty="0"/>
          </a:p>
        </p:txBody>
      </p:sp>
      <p:sp>
        <p:nvSpPr>
          <p:cNvPr id="26" name="stage 4"/>
          <p:cNvSpPr/>
          <p:nvPr/>
        </p:nvSpPr>
        <p:spPr>
          <a:xfrm>
            <a:off x="7168896" y="1783080"/>
            <a:ext cx="1965960" cy="2331720"/>
          </a:xfrm>
          <a:prstGeom prst="rect">
            <a:avLst/>
          </a:prstGeom>
          <a:solidFill>
            <a:srgbClr val="FCFBF6"/>
          </a:solidFill>
          <a:ln w="12700">
            <a:solidFill>
              <a:srgbClr val="3F6B3A"/>
            </a:solidFill>
            <a:prstDash val="solid"/>
          </a:ln>
        </p:spPr>
      </p:sp>
      <p:sp>
        <p:nvSpPr>
          <p:cNvPr id="27" name="Shape 25"/>
          <p:cNvSpPr/>
          <p:nvPr/>
        </p:nvSpPr>
        <p:spPr>
          <a:xfrm>
            <a:off x="7278624" y="1783080"/>
            <a:ext cx="0" cy="2331720"/>
          </a:xfrm>
          <a:prstGeom prst="line">
            <a:avLst/>
          </a:prstGeom>
          <a:noFill/>
          <a:ln w="6350">
            <a:solidFill>
              <a:srgbClr val="3F6B3A"/>
            </a:solidFill>
            <a:prstDash val="solid"/>
          </a:ln>
        </p:spPr>
      </p:sp>
      <p:sp>
        <p:nvSpPr>
          <p:cNvPr id="28" name="Shape 26"/>
          <p:cNvSpPr/>
          <p:nvPr/>
        </p:nvSpPr>
        <p:spPr>
          <a:xfrm>
            <a:off x="9025128" y="1783080"/>
            <a:ext cx="0" cy="2331720"/>
          </a:xfrm>
          <a:prstGeom prst="line">
            <a:avLst/>
          </a:prstGeom>
          <a:noFill/>
          <a:ln w="6350">
            <a:solidFill>
              <a:srgbClr val="3F6B3A"/>
            </a:solidFill>
            <a:prstDash val="solid"/>
          </a:ln>
        </p:spPr>
      </p:sp>
      <p:sp>
        <p:nvSpPr>
          <p:cNvPr id="29" name="Text 27"/>
          <p:cNvSpPr txBox="1"/>
          <p:nvPr/>
        </p:nvSpPr>
        <p:spPr>
          <a:xfrm>
            <a:off x="7397496" y="1947672"/>
            <a:ext cx="548640" cy="457200"/>
          </a:xfrm>
          <a:prstGeom prst="rect">
            <a:avLst/>
          </a:prstGeom>
          <a:noFill/>
          <a:ln/>
        </p:spPr>
        <p:txBody>
          <a:bodyPr wrap="square" lIns="0" tIns="0" rIns="0" bIns="0" rtlCol="0" anchor="t"/>
          <a:lstStyle/>
          <a:p>
            <a:pPr indent="0" marL="0">
              <a:buNone/>
            </a:pPr>
            <a:r>
              <a:rPr lang="en-US" sz="2600" b="1" dirty="0">
                <a:solidFill>
                  <a:schemeClr val="accent1"/>
                </a:solidFill>
                <a:latin typeface="Cormorant Garamond" pitchFamily="34" charset="0"/>
                <a:ea typeface="Cormorant Garamond" pitchFamily="34" charset="-122"/>
                <a:cs typeface="Cormorant Garamond" pitchFamily="34" charset="-120"/>
              </a:rPr>
              <a:t>4</a:t>
            </a:r>
            <a:endParaRPr lang="en-US" sz="2600" dirty="0"/>
          </a:p>
        </p:txBody>
      </p:sp>
      <p:sp>
        <p:nvSpPr>
          <p:cNvPr id="30" name="Text 28"/>
          <p:cNvSpPr txBox="1"/>
          <p:nvPr/>
        </p:nvSpPr>
        <p:spPr>
          <a:xfrm>
            <a:off x="7397496" y="2423160"/>
            <a:ext cx="1508760" cy="365760"/>
          </a:xfrm>
          <a:prstGeom prst="rect">
            <a:avLst/>
          </a:prstGeom>
          <a:noFill/>
          <a:ln/>
        </p:spPr>
        <p:txBody>
          <a:bodyPr wrap="square" lIns="0" tIns="0" rIns="0" bIns="0" rtlCol="0" anchor="t"/>
          <a:lstStyle/>
          <a:p>
            <a:pPr indent="0" marL="0">
              <a:buNone/>
            </a:pPr>
            <a:r>
              <a:rPr lang="en-US" sz="2000" b="1" dirty="0">
                <a:solidFill>
                  <a:schemeClr val="accent2"/>
                </a:solidFill>
                <a:latin typeface="Cormorant Garamond" pitchFamily="34" charset="0"/>
                <a:ea typeface="Cormorant Garamond" pitchFamily="34" charset="-122"/>
                <a:cs typeface="Cormorant Garamond" pitchFamily="34" charset="-120"/>
              </a:rPr>
              <a:t>Judge</a:t>
            </a:r>
            <a:endParaRPr lang="en-US" sz="2000" dirty="0"/>
          </a:p>
        </p:txBody>
      </p:sp>
      <p:sp>
        <p:nvSpPr>
          <p:cNvPr id="31" name="Text 29"/>
          <p:cNvSpPr txBox="1"/>
          <p:nvPr/>
        </p:nvSpPr>
        <p:spPr>
          <a:xfrm>
            <a:off x="7397496" y="2807208"/>
            <a:ext cx="1508760" cy="868680"/>
          </a:xfrm>
          <a:prstGeom prst="rect">
            <a:avLst/>
          </a:prstGeom>
          <a:noFill/>
          <a:ln/>
        </p:spPr>
        <p:txBody>
          <a:bodyPr wrap="square" lIns="0" tIns="0" rIns="0" bIns="0" rtlCol="0" anchor="t"/>
          <a:lstStyle/>
          <a:p>
            <a:pPr indent="0" marL="0">
              <a:buNone/>
            </a:pPr>
            <a:r>
              <a:rPr lang="en-US" sz="1200" dirty="0">
                <a:solidFill>
                  <a:schemeClr val="tx1"/>
                </a:solidFill>
              </a:rPr>
              <a:t>26 forehand and 20 serve checks, at three player levels</a:t>
            </a:r>
            <a:endParaRPr lang="en-US" sz="1200" dirty="0"/>
          </a:p>
        </p:txBody>
      </p:sp>
      <p:sp>
        <p:nvSpPr>
          <p:cNvPr id="32" name="Text 30"/>
          <p:cNvSpPr txBox="1"/>
          <p:nvPr/>
        </p:nvSpPr>
        <p:spPr>
          <a:xfrm>
            <a:off x="7397496" y="3703320"/>
            <a:ext cx="1508760" cy="274320"/>
          </a:xfrm>
          <a:prstGeom prst="rect">
            <a:avLst/>
          </a:prstGeom>
          <a:noFill/>
          <a:ln/>
        </p:spPr>
        <p:txBody>
          <a:bodyPr wrap="square" lIns="0" tIns="0" rIns="0" bIns="0" rtlCol="0" anchor="t"/>
          <a:lstStyle/>
          <a:p>
            <a:pPr indent="0" marL="0">
              <a:buNone/>
            </a:pPr>
            <a:r>
              <a:rPr lang="en-US" sz="1100" i="1" dirty="0">
                <a:solidFill>
                  <a:schemeClr val="accent3"/>
                </a:solidFill>
              </a:rPr>
              <a:t>Runs on: Phone</a:t>
            </a:r>
            <a:endParaRPr lang="en-US" sz="1100" dirty="0"/>
          </a:p>
        </p:txBody>
      </p:sp>
      <p:sp>
        <p:nvSpPr>
          <p:cNvPr id="33" name="stage 5"/>
          <p:cNvSpPr/>
          <p:nvPr/>
        </p:nvSpPr>
        <p:spPr>
          <a:xfrm>
            <a:off x="9299448" y="1783080"/>
            <a:ext cx="1965960" cy="2331720"/>
          </a:xfrm>
          <a:prstGeom prst="rect">
            <a:avLst/>
          </a:prstGeom>
          <a:solidFill>
            <a:srgbClr val="FCFBF6"/>
          </a:solidFill>
          <a:ln w="12700">
            <a:solidFill>
              <a:srgbClr val="3F6B3A"/>
            </a:solidFill>
            <a:prstDash val="solid"/>
          </a:ln>
        </p:spPr>
      </p:sp>
      <p:sp>
        <p:nvSpPr>
          <p:cNvPr id="34" name="Shape 32"/>
          <p:cNvSpPr/>
          <p:nvPr/>
        </p:nvSpPr>
        <p:spPr>
          <a:xfrm>
            <a:off x="9409176" y="1783080"/>
            <a:ext cx="0" cy="2331720"/>
          </a:xfrm>
          <a:prstGeom prst="line">
            <a:avLst/>
          </a:prstGeom>
          <a:noFill/>
          <a:ln w="6350">
            <a:solidFill>
              <a:srgbClr val="3F6B3A"/>
            </a:solidFill>
            <a:prstDash val="solid"/>
          </a:ln>
        </p:spPr>
      </p:sp>
      <p:sp>
        <p:nvSpPr>
          <p:cNvPr id="35" name="Shape 33"/>
          <p:cNvSpPr/>
          <p:nvPr/>
        </p:nvSpPr>
        <p:spPr>
          <a:xfrm>
            <a:off x="11155680" y="1783080"/>
            <a:ext cx="0" cy="2331720"/>
          </a:xfrm>
          <a:prstGeom prst="line">
            <a:avLst/>
          </a:prstGeom>
          <a:noFill/>
          <a:ln w="6350">
            <a:solidFill>
              <a:srgbClr val="3F6B3A"/>
            </a:solidFill>
            <a:prstDash val="solid"/>
          </a:ln>
        </p:spPr>
      </p:sp>
      <p:sp>
        <p:nvSpPr>
          <p:cNvPr id="36" name="Text 34"/>
          <p:cNvSpPr txBox="1"/>
          <p:nvPr/>
        </p:nvSpPr>
        <p:spPr>
          <a:xfrm>
            <a:off x="9528048" y="1947672"/>
            <a:ext cx="548640" cy="457200"/>
          </a:xfrm>
          <a:prstGeom prst="rect">
            <a:avLst/>
          </a:prstGeom>
          <a:noFill/>
          <a:ln/>
        </p:spPr>
        <p:txBody>
          <a:bodyPr wrap="square" lIns="0" tIns="0" rIns="0" bIns="0" rtlCol="0" anchor="t"/>
          <a:lstStyle/>
          <a:p>
            <a:pPr indent="0" marL="0">
              <a:buNone/>
            </a:pPr>
            <a:r>
              <a:rPr lang="en-US" sz="2600" b="1" dirty="0">
                <a:solidFill>
                  <a:schemeClr val="accent1"/>
                </a:solidFill>
                <a:latin typeface="Cormorant Garamond" pitchFamily="34" charset="0"/>
                <a:ea typeface="Cormorant Garamond" pitchFamily="34" charset="-122"/>
                <a:cs typeface="Cormorant Garamond" pitchFamily="34" charset="-120"/>
              </a:rPr>
              <a:t>5</a:t>
            </a:r>
            <a:endParaRPr lang="en-US" sz="2600" dirty="0"/>
          </a:p>
        </p:txBody>
      </p:sp>
      <p:sp>
        <p:nvSpPr>
          <p:cNvPr id="37" name="Text 35"/>
          <p:cNvSpPr txBox="1"/>
          <p:nvPr/>
        </p:nvSpPr>
        <p:spPr>
          <a:xfrm>
            <a:off x="9528048" y="2423160"/>
            <a:ext cx="1508760" cy="365760"/>
          </a:xfrm>
          <a:prstGeom prst="rect">
            <a:avLst/>
          </a:prstGeom>
          <a:noFill/>
          <a:ln/>
        </p:spPr>
        <p:txBody>
          <a:bodyPr wrap="square" lIns="0" tIns="0" rIns="0" bIns="0" rtlCol="0" anchor="t"/>
          <a:lstStyle/>
          <a:p>
            <a:pPr indent="0" marL="0">
              <a:buNone/>
            </a:pPr>
            <a:r>
              <a:rPr lang="en-US" sz="2000" b="1" dirty="0">
                <a:solidFill>
                  <a:schemeClr val="accent2"/>
                </a:solidFill>
                <a:latin typeface="Cormorant Garamond" pitchFamily="34" charset="0"/>
                <a:ea typeface="Cormorant Garamond" pitchFamily="34" charset="-122"/>
                <a:cs typeface="Cormorant Garamond" pitchFamily="34" charset="-120"/>
              </a:rPr>
              <a:t>Coach</a:t>
            </a:r>
            <a:endParaRPr lang="en-US" sz="2000" dirty="0"/>
          </a:p>
        </p:txBody>
      </p:sp>
      <p:sp>
        <p:nvSpPr>
          <p:cNvPr id="38" name="Text 36"/>
          <p:cNvSpPr txBox="1"/>
          <p:nvPr/>
        </p:nvSpPr>
        <p:spPr>
          <a:xfrm>
            <a:off x="9528048" y="2807208"/>
            <a:ext cx="1508760" cy="868680"/>
          </a:xfrm>
          <a:prstGeom prst="rect">
            <a:avLst/>
          </a:prstGeom>
          <a:noFill/>
          <a:ln/>
        </p:spPr>
        <p:txBody>
          <a:bodyPr wrap="square" lIns="0" tIns="0" rIns="0" bIns="0" rtlCol="0" anchor="t"/>
          <a:lstStyle/>
          <a:p>
            <a:pPr indent="0" marL="0">
              <a:buNone/>
            </a:pPr>
            <a:r>
              <a:rPr lang="en-US" sz="1200" dirty="0">
                <a:solidFill>
                  <a:schemeClr val="tx1"/>
                </a:solidFill>
              </a:rPr>
              <a:t>Every result in plain words, worded for the player's level</a:t>
            </a:r>
            <a:endParaRPr lang="en-US" sz="1200" dirty="0"/>
          </a:p>
        </p:txBody>
      </p:sp>
      <p:sp>
        <p:nvSpPr>
          <p:cNvPr id="39" name="Text 37"/>
          <p:cNvSpPr txBox="1"/>
          <p:nvPr/>
        </p:nvSpPr>
        <p:spPr>
          <a:xfrm>
            <a:off x="9528048" y="3703320"/>
            <a:ext cx="1508760" cy="274320"/>
          </a:xfrm>
          <a:prstGeom prst="rect">
            <a:avLst/>
          </a:prstGeom>
          <a:noFill/>
          <a:ln/>
        </p:spPr>
        <p:txBody>
          <a:bodyPr wrap="square" lIns="0" tIns="0" rIns="0" bIns="0" rtlCol="0" anchor="t"/>
          <a:lstStyle/>
          <a:p>
            <a:pPr indent="0" marL="0">
              <a:buNone/>
            </a:pPr>
            <a:r>
              <a:rPr lang="en-US" sz="1100" i="1" dirty="0">
                <a:solidFill>
                  <a:schemeClr val="accent3"/>
                </a:solidFill>
              </a:rPr>
              <a:t>Runs on: Phone or UGen300</a:t>
            </a:r>
            <a:endParaRPr lang="en-US" sz="1100" dirty="0"/>
          </a:p>
        </p:txBody>
      </p:sp>
      <p:sp>
        <p:nvSpPr>
          <p:cNvPr id="40" name="Shape 38"/>
          <p:cNvSpPr/>
          <p:nvPr/>
        </p:nvSpPr>
        <p:spPr>
          <a:xfrm>
            <a:off x="777240" y="4434840"/>
            <a:ext cx="5120640" cy="0"/>
          </a:xfrm>
          <a:prstGeom prst="line">
            <a:avLst/>
          </a:prstGeom>
          <a:noFill/>
          <a:ln w="12700">
            <a:solidFill>
              <a:srgbClr val="DCD8C8"/>
            </a:solidFill>
            <a:prstDash val="solid"/>
          </a:ln>
        </p:spPr>
      </p:sp>
      <p:sp>
        <p:nvSpPr>
          <p:cNvPr id="41" name="Text 39"/>
          <p:cNvSpPr txBox="1"/>
          <p:nvPr/>
        </p:nvSpPr>
        <p:spPr>
          <a:xfrm>
            <a:off x="777240" y="4553712"/>
            <a:ext cx="5120640" cy="365760"/>
          </a:xfrm>
          <a:prstGeom prst="rect">
            <a:avLst/>
          </a:prstGeom>
          <a:noFill/>
          <a:ln/>
        </p:spPr>
        <p:txBody>
          <a:bodyPr wrap="square" lIns="0" tIns="0" rIns="0" bIns="0" rtlCol="0" anchor="t"/>
          <a:lstStyle/>
          <a:p>
            <a:pPr indent="0" marL="0">
              <a:buNone/>
            </a:pPr>
            <a:r>
              <a:rPr lang="en-US" sz="1800" b="1" dirty="0">
                <a:solidFill>
                  <a:schemeClr val="accent2"/>
                </a:solidFill>
                <a:latin typeface="Cormorant Garamond" pitchFamily="34" charset="0"/>
                <a:ea typeface="Cormorant Garamond" pitchFamily="34" charset="-122"/>
                <a:cs typeface="Cormorant Garamond" pitchFamily="34" charset="-120"/>
              </a:rPr>
              <a:t>Android phone</a:t>
            </a:r>
            <a:endParaRPr lang="en-US" sz="1800" dirty="0"/>
          </a:p>
        </p:txBody>
      </p:sp>
      <p:sp>
        <p:nvSpPr>
          <p:cNvPr id="42" name="Text 40"/>
          <p:cNvSpPr txBox="1"/>
          <p:nvPr/>
        </p:nvSpPr>
        <p:spPr>
          <a:xfrm>
            <a:off x="777240" y="4956048"/>
            <a:ext cx="5120640" cy="822960"/>
          </a:xfrm>
          <a:prstGeom prst="rect">
            <a:avLst/>
          </a:prstGeom>
          <a:noFill/>
          <a:ln/>
        </p:spPr>
        <p:txBody>
          <a:bodyPr wrap="square" lIns="0" tIns="0" rIns="0" bIns="0" rtlCol="0" anchor="t"/>
          <a:lstStyle/>
          <a:p>
            <a:pPr indent="0" marL="0">
              <a:buNone/>
            </a:pPr>
            <a:r>
              <a:rPr lang="en-US" sz="1300" dirty="0">
                <a:solidFill>
                  <a:schemeClr val="tx1"/>
                </a:solidFill>
              </a:rPr>
              <a:t>120 fps camera, frame splitting, ball maths (OpenCV), coaching logic, results screen</a:t>
            </a:r>
            <a:endParaRPr lang="en-US" sz="1300" dirty="0"/>
          </a:p>
        </p:txBody>
      </p:sp>
      <p:sp>
        <p:nvSpPr>
          <p:cNvPr id="43" name="Shape 41"/>
          <p:cNvSpPr/>
          <p:nvPr/>
        </p:nvSpPr>
        <p:spPr>
          <a:xfrm>
            <a:off x="6172200" y="4434840"/>
            <a:ext cx="5120640" cy="0"/>
          </a:xfrm>
          <a:prstGeom prst="line">
            <a:avLst/>
          </a:prstGeom>
          <a:noFill/>
          <a:ln w="12700">
            <a:solidFill>
              <a:srgbClr val="DCD8C8"/>
            </a:solidFill>
            <a:prstDash val="solid"/>
          </a:ln>
        </p:spPr>
      </p:sp>
      <p:sp>
        <p:nvSpPr>
          <p:cNvPr id="44" name="Text 42"/>
          <p:cNvSpPr txBox="1"/>
          <p:nvPr/>
        </p:nvSpPr>
        <p:spPr>
          <a:xfrm>
            <a:off x="6172200" y="4553712"/>
            <a:ext cx="5120640" cy="365760"/>
          </a:xfrm>
          <a:prstGeom prst="rect">
            <a:avLst/>
          </a:prstGeom>
          <a:noFill/>
          <a:ln/>
        </p:spPr>
        <p:txBody>
          <a:bodyPr wrap="square" lIns="0" tIns="0" rIns="0" bIns="0" rtlCol="0" anchor="t"/>
          <a:lstStyle/>
          <a:p>
            <a:pPr indent="0" marL="0">
              <a:buNone/>
            </a:pPr>
            <a:r>
              <a:rPr lang="en-US" sz="1800" b="1" dirty="0">
                <a:solidFill>
                  <a:schemeClr val="accent2"/>
                </a:solidFill>
                <a:latin typeface="Cormorant Garamond" pitchFamily="34" charset="0"/>
                <a:ea typeface="Cormorant Garamond" pitchFamily="34" charset="-122"/>
                <a:cs typeface="Cormorant Garamond" pitchFamily="34" charset="-120"/>
              </a:rPr>
              <a:t>ASUS UGen300 (Hailo NPU)</a:t>
            </a:r>
            <a:endParaRPr lang="en-US" sz="1800" dirty="0"/>
          </a:p>
        </p:txBody>
      </p:sp>
      <p:sp>
        <p:nvSpPr>
          <p:cNvPr id="45" name="Text 43"/>
          <p:cNvSpPr txBox="1"/>
          <p:nvPr/>
        </p:nvSpPr>
        <p:spPr>
          <a:xfrm>
            <a:off x="6172200" y="4956048"/>
            <a:ext cx="5120640" cy="822960"/>
          </a:xfrm>
          <a:prstGeom prst="rect">
            <a:avLst/>
          </a:prstGeom>
          <a:noFill/>
          <a:ln/>
        </p:spPr>
        <p:txBody>
          <a:bodyPr wrap="square" lIns="0" tIns="0" rIns="0" bIns="0" rtlCol="0" anchor="t"/>
          <a:lstStyle/>
          <a:p>
            <a:pPr indent="0" marL="0">
              <a:buNone/>
            </a:pPr>
            <a:r>
              <a:rPr lang="en-US" sz="1300" dirty="0">
                <a:solidFill>
                  <a:schemeClr val="tx1"/>
                </a:solidFill>
              </a:rPr>
              <a:t>Player and racquet detection (YOLOX), the skeleton model; optional small local language-model coach</a:t>
            </a:r>
            <a:endParaRPr lang="en-US" sz="1300" dirty="0"/>
          </a:p>
        </p:txBody>
      </p:sp>
      <p:sp>
        <p:nvSpPr>
          <p:cNvPr id="25" name="Slide Number Placeholder 0"/>
          <p:cNvSpPr>
            <a:spLocks noGrp="1"/>
          </p:cNvSpPr>
          <p:nvPr>
            <p:ph type="sldNum" sz="quarter" idx="4294967295"/>
          </p:nvPr>
        </p:nvSpPr>
        <p:spPr>
          <a:xfrm>
            <a:off x="10927080" y="6108192"/>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C6B4F"/>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5"/>
          <p:cNvSpPr/>
          <p:nvPr>
            <p:ph idx="106" type="body" hasCustomPrompt="1"/>
          </p:nvPr>
        </p:nvSpPr>
        <p:spPr>
          <a:xfrm>
            <a:off x="777240" y="566928"/>
            <a:ext cx="8229600" cy="274320"/>
          </a:xfrm>
          <a:prstGeom prst="rect">
            <a:avLst/>
          </a:prstGeom>
          <a:noFill/>
          <a:ln/>
        </p:spPr>
        <p:txBody>
          <a:bodyPr wrap="square" lIns="0" tIns="0" rIns="0" bIns="0" rtlCol="0" anchor="t"/>
          <a:lstStyle/>
          <a:p>
            <a:pPr indent="0" marL="0">
              <a:buNone/>
            </a:pPr>
            <a:r>
              <a:rPr lang="en-US" sz="1200" i="1" dirty="0">
                <a:solidFill>
                  <a:schemeClr val="accent3"/>
                </a:solidFill>
              </a:rPr>
              <a:t>Stages 1 to 3: see the stroke</a:t>
            </a:r>
            <a:endParaRPr lang="en-US" sz="1200" dirty="0"/>
          </a:p>
        </p:txBody>
      </p:sp>
      <p:sp>
        <p:nvSpPr>
          <p:cNvPr id="3" name="Text 5"/>
          <p:cNvSpPr/>
          <p:nvPr>
            <p:ph idx="107" type="title" hasCustomPrompt="1"/>
          </p:nvPr>
        </p:nvSpPr>
        <p:spPr>
          <a:xfrm>
            <a:off x="777240" y="841248"/>
            <a:ext cx="9966960" cy="914400"/>
          </a:xfrm>
          <a:prstGeom prst="rect">
            <a:avLst/>
          </a:prstGeom>
          <a:noFill/>
          <a:ln/>
        </p:spPr>
        <p:txBody>
          <a:bodyPr wrap="square" lIns="0" tIns="0" rIns="0" bIns="0" rtlCol="0" anchor="t"/>
          <a:lstStyle/>
          <a:p>
            <a:pPr algn="l" indent="0" marL="0">
              <a:buNone/>
            </a:pPr>
            <a:r>
              <a:rPr lang="en-US" sz="2800" b="1" dirty="0">
                <a:solidFill>
                  <a:schemeClr val="accent2"/>
                </a:solidFill>
                <a:latin typeface="Cormorant Garamond" pitchFamily="34" charset="0"/>
                <a:ea typeface="Cormorant Garamond" pitchFamily="34" charset="-122"/>
                <a:cs typeface="Cormorant Garamond" pitchFamily="34" charset="-120"/>
              </a:rPr>
              <a:t>Every frame is kept, the skeleton is fitted on a zoom, and the ball is tracked across the whole screen</a:t>
            </a:r>
            <a:endParaRPr lang="en-US" sz="2800" dirty="0"/>
          </a:p>
        </p:txBody>
      </p:sp>
      <p:sp>
        <p:nvSpPr>
          <p:cNvPr id="4" name="Text 5"/>
          <p:cNvSpPr/>
          <p:nvPr>
            <p:ph idx="108" type="body" hasCustomPrompt="1"/>
          </p:nvPr>
        </p:nvSpPr>
        <p:spPr>
          <a:xfrm>
            <a:off x="777240" y="6108192"/>
            <a:ext cx="9875520" cy="274320"/>
          </a:xfrm>
          <a:prstGeom prst="rect">
            <a:avLst/>
          </a:prstGeom>
          <a:noFill/>
          <a:ln/>
        </p:spPr>
        <p:txBody>
          <a:bodyPr wrap="square" lIns="0" tIns="0" rIns="0" bIns="0" rtlCol="0" anchor="t"/>
          <a:lstStyle/>
          <a:p>
            <a:pPr indent="0" marL="0">
              <a:buNone/>
            </a:pPr>
            <a:r>
              <a:rPr lang="en-US" sz="1000" dirty="0">
                <a:solidFill>
                  <a:schemeClr val="accent3"/>
                </a:solidFill>
              </a:rPr>
              <a:t>Forehand 1 of the 120 fps clip. Skeleton: MediaPipe BlazePose; player and racquet: YOLOX-tiny (both Apache-2.0)</a:t>
            </a:r>
            <a:endParaRPr lang="en-US" sz="1000" dirty="0"/>
          </a:p>
        </p:txBody>
      </p:sp>
      <p:pic>
        <p:nvPicPr>
          <p:cNvPr id="5" name="ball trajectory" descr="preencoded.png">    </p:cNvPr>
          <p:cNvPicPr>
            <a:picLocks noChangeAspect="1"/>
          </p:cNvPicPr>
          <p:nvPr/>
        </p:nvPicPr>
        <p:blipFill>
          <a:blip r:embed="rId1"/>
          <a:stretch>
            <a:fillRect/>
          </a:stretch>
        </p:blipFill>
        <p:spPr>
          <a:xfrm>
            <a:off x="777240" y="1783080"/>
            <a:ext cx="6675120" cy="3758184"/>
          </a:xfrm>
          <a:prstGeom prst="rect">
            <a:avLst/>
          </a:prstGeom>
        </p:spPr>
      </p:pic>
      <p:sp>
        <p:nvSpPr>
          <p:cNvPr id="6" name="Shape 3"/>
          <p:cNvSpPr/>
          <p:nvPr/>
        </p:nvSpPr>
        <p:spPr>
          <a:xfrm>
            <a:off x="777240" y="1783080"/>
            <a:ext cx="6675120" cy="3758184"/>
          </a:xfrm>
          <a:prstGeom prst="rect">
            <a:avLst/>
          </a:prstGeom>
          <a:ln w="12700">
            <a:solidFill>
              <a:srgbClr val="3F6B3A"/>
            </a:solidFill>
            <a:prstDash val="solid"/>
          </a:ln>
        </p:spPr>
      </p:sp>
      <p:sp>
        <p:nvSpPr>
          <p:cNvPr id="7" name="Text 4"/>
          <p:cNvSpPr txBox="1"/>
          <p:nvPr/>
        </p:nvSpPr>
        <p:spPr>
          <a:xfrm>
            <a:off x="777240" y="5596128"/>
            <a:ext cx="6675120" cy="274320"/>
          </a:xfrm>
          <a:prstGeom prst="rect">
            <a:avLst/>
          </a:prstGeom>
          <a:noFill/>
          <a:ln/>
        </p:spPr>
        <p:txBody>
          <a:bodyPr wrap="square" lIns="0" tIns="0" rIns="0" bIns="0" rtlCol="0" anchor="t"/>
          <a:lstStyle/>
          <a:p>
            <a:pPr indent="0" marL="0">
              <a:buNone/>
            </a:pPr>
            <a:r>
              <a:rPr lang="en-US" sz="1100" i="1" dirty="0">
                <a:solidFill>
                  <a:schemeClr val="accent3"/>
                </a:solidFill>
              </a:rPr>
              <a:t>Ball in, bounce (cross), hitting point (star) and ball out (arrow), found anywhere on screen</a:t>
            </a:r>
            <a:endParaRPr lang="en-US" sz="1100" dirty="0"/>
          </a:p>
        </p:txBody>
      </p:sp>
      <p:sp>
        <p:nvSpPr>
          <p:cNvPr id="8" name="Text 5"/>
          <p:cNvSpPr txBox="1"/>
          <p:nvPr/>
        </p:nvSpPr>
        <p:spPr>
          <a:xfrm>
            <a:off x="7818120" y="1783080"/>
            <a:ext cx="3566160" cy="365760"/>
          </a:xfrm>
          <a:prstGeom prst="rect">
            <a:avLst/>
          </a:prstGeom>
          <a:noFill/>
          <a:ln/>
        </p:spPr>
        <p:txBody>
          <a:bodyPr wrap="square" lIns="0" tIns="0" rIns="0" bIns="0" rtlCol="0" anchor="t"/>
          <a:lstStyle/>
          <a:p>
            <a:pPr indent="0" marL="0">
              <a:buNone/>
            </a:pPr>
            <a:r>
              <a:rPr lang="en-US" sz="1800" b="1" dirty="0">
                <a:solidFill>
                  <a:schemeClr val="accent2"/>
                </a:solidFill>
                <a:latin typeface="Cormorant Garamond" pitchFamily="34" charset="0"/>
                <a:ea typeface="Cormorant Garamond" pitchFamily="34" charset="-122"/>
                <a:cs typeface="Cormorant Garamond" pitchFamily="34" charset="-120"/>
              </a:rPr>
              <a:t>Frames</a:t>
            </a:r>
            <a:endParaRPr lang="en-US" sz="1800" dirty="0"/>
          </a:p>
        </p:txBody>
      </p:sp>
      <p:sp>
        <p:nvSpPr>
          <p:cNvPr id="9" name="Text 6"/>
          <p:cNvSpPr txBox="1"/>
          <p:nvPr/>
        </p:nvSpPr>
        <p:spPr>
          <a:xfrm>
            <a:off x="7818120" y="2167128"/>
            <a:ext cx="3566160" cy="868680"/>
          </a:xfrm>
          <a:prstGeom prst="rect">
            <a:avLst/>
          </a:prstGeom>
          <a:noFill/>
          <a:ln/>
        </p:spPr>
        <p:txBody>
          <a:bodyPr wrap="square" lIns="0" tIns="0" rIns="0" bIns="0" rtlCol="0" anchor="t"/>
          <a:lstStyle/>
          <a:p>
            <a:pPr indent="0" marL="0">
              <a:buNone/>
            </a:pPr>
            <a:r>
              <a:rPr lang="en-US" sz="1250" dirty="0">
                <a:solidFill>
                  <a:schemeClr val="tx1"/>
                </a:solidFill>
              </a:rPr>
              <a:t>120 images per second, written once to disk, so a 1080p clip never fills memory.</a:t>
            </a:r>
            <a:endParaRPr lang="en-US" sz="1250" dirty="0"/>
          </a:p>
        </p:txBody>
      </p:sp>
      <p:sp>
        <p:nvSpPr>
          <p:cNvPr id="10" name="Text 7"/>
          <p:cNvSpPr txBox="1"/>
          <p:nvPr/>
        </p:nvSpPr>
        <p:spPr>
          <a:xfrm>
            <a:off x="7818120" y="3081528"/>
            <a:ext cx="3566160" cy="365760"/>
          </a:xfrm>
          <a:prstGeom prst="rect">
            <a:avLst/>
          </a:prstGeom>
          <a:noFill/>
          <a:ln/>
        </p:spPr>
        <p:txBody>
          <a:bodyPr wrap="square" lIns="0" tIns="0" rIns="0" bIns="0" rtlCol="0" anchor="t"/>
          <a:lstStyle/>
          <a:p>
            <a:pPr indent="0" marL="0">
              <a:buNone/>
            </a:pPr>
            <a:r>
              <a:rPr lang="en-US" sz="1800" b="1" dirty="0">
                <a:solidFill>
                  <a:schemeClr val="accent2"/>
                </a:solidFill>
                <a:latin typeface="Cormorant Garamond" pitchFamily="34" charset="0"/>
                <a:ea typeface="Cormorant Garamond" pitchFamily="34" charset="-122"/>
                <a:cs typeface="Cormorant Garamond" pitchFamily="34" charset="-120"/>
              </a:rPr>
              <a:t>Skeleton</a:t>
            </a:r>
            <a:endParaRPr lang="en-US" sz="1800" dirty="0"/>
          </a:p>
        </p:txBody>
      </p:sp>
      <p:sp>
        <p:nvSpPr>
          <p:cNvPr id="11" name="Text 8"/>
          <p:cNvSpPr txBox="1"/>
          <p:nvPr/>
        </p:nvSpPr>
        <p:spPr>
          <a:xfrm>
            <a:off x="7818120" y="3465576"/>
            <a:ext cx="3566160" cy="868680"/>
          </a:xfrm>
          <a:prstGeom prst="rect">
            <a:avLst/>
          </a:prstGeom>
          <a:noFill/>
          <a:ln/>
        </p:spPr>
        <p:txBody>
          <a:bodyPr wrap="square" lIns="0" tIns="0" rIns="0" bIns="0" rtlCol="0" anchor="t"/>
          <a:lstStyle/>
          <a:p>
            <a:pPr indent="0" marL="0">
              <a:buNone/>
            </a:pPr>
            <a:r>
              <a:rPr lang="en-US" sz="1250" dirty="0">
                <a:solidFill>
                  <a:schemeClr val="tx1"/>
                </a:solidFill>
              </a:rPr>
              <a:t>33 joints on a zoomed crop, smoothed over about 33 ms and converted to metres from the player's height.</a:t>
            </a:r>
            <a:endParaRPr lang="en-US" sz="1250" dirty="0"/>
          </a:p>
        </p:txBody>
      </p:sp>
      <p:sp>
        <p:nvSpPr>
          <p:cNvPr id="12" name="Text 9"/>
          <p:cNvSpPr txBox="1"/>
          <p:nvPr/>
        </p:nvSpPr>
        <p:spPr>
          <a:xfrm>
            <a:off x="7818120" y="4379976"/>
            <a:ext cx="3566160" cy="365760"/>
          </a:xfrm>
          <a:prstGeom prst="rect">
            <a:avLst/>
          </a:prstGeom>
          <a:noFill/>
          <a:ln/>
        </p:spPr>
        <p:txBody>
          <a:bodyPr wrap="square" lIns="0" tIns="0" rIns="0" bIns="0" rtlCol="0" anchor="t"/>
          <a:lstStyle/>
          <a:p>
            <a:pPr indent="0" marL="0">
              <a:buNone/>
            </a:pPr>
            <a:r>
              <a:rPr lang="en-US" sz="1800" b="1" dirty="0">
                <a:solidFill>
                  <a:schemeClr val="accent2"/>
                </a:solidFill>
                <a:latin typeface="Cormorant Garamond" pitchFamily="34" charset="0"/>
                <a:ea typeface="Cormorant Garamond" pitchFamily="34" charset="-122"/>
                <a:cs typeface="Cormorant Garamond" pitchFamily="34" charset="-120"/>
              </a:rPr>
              <a:t>Ball and racquet</a:t>
            </a:r>
            <a:endParaRPr lang="en-US" sz="1800" dirty="0"/>
          </a:p>
        </p:txBody>
      </p:sp>
      <p:sp>
        <p:nvSpPr>
          <p:cNvPr id="13" name="Text 10"/>
          <p:cNvSpPr txBox="1"/>
          <p:nvPr/>
        </p:nvSpPr>
        <p:spPr>
          <a:xfrm>
            <a:off x="7818120" y="4764024"/>
            <a:ext cx="3566160" cy="868680"/>
          </a:xfrm>
          <a:prstGeom prst="rect">
            <a:avLst/>
          </a:prstGeom>
          <a:noFill/>
          <a:ln/>
        </p:spPr>
        <p:txBody>
          <a:bodyPr wrap="square" lIns="0" tIns="0" rIns="0" bIns="0" rtlCol="0" anchor="t"/>
          <a:lstStyle/>
          <a:p>
            <a:pPr indent="0" marL="0">
              <a:buNone/>
            </a:pPr>
            <a:r>
              <a:rPr lang="en-US" sz="1250" dirty="0">
                <a:solidFill>
                  <a:schemeClr val="tx1"/>
                </a:solidFill>
              </a:rPr>
              <a:t>Moving yellow blobs are chained frame to frame; the hitting point is the midpoint of the two frames closest to the racquet head. A hit on the left side is a backhand and is skipped.</a:t>
            </a:r>
            <a:endParaRPr lang="en-US" sz="1250" dirty="0"/>
          </a:p>
        </p:txBody>
      </p:sp>
      <p:sp>
        <p:nvSpPr>
          <p:cNvPr id="25" name="Slide Number Placeholder 0"/>
          <p:cNvSpPr>
            <a:spLocks noGrp="1"/>
          </p:cNvSpPr>
          <p:nvPr>
            <p:ph type="sldNum" sz="quarter" idx="4294967295"/>
          </p:nvPr>
        </p:nvSpPr>
        <p:spPr>
          <a:xfrm>
            <a:off x="10927080" y="6108192"/>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C6B4F"/>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5"/>
          <p:cNvSpPr/>
          <p:nvPr>
            <p:ph idx="106" type="body" hasCustomPrompt="1"/>
          </p:nvPr>
        </p:nvSpPr>
        <p:spPr>
          <a:xfrm>
            <a:off x="777240" y="566928"/>
            <a:ext cx="8229600" cy="274320"/>
          </a:xfrm>
          <a:prstGeom prst="rect">
            <a:avLst/>
          </a:prstGeom>
          <a:noFill/>
          <a:ln/>
        </p:spPr>
        <p:txBody>
          <a:bodyPr wrap="square" lIns="0" tIns="0" rIns="0" bIns="0" rtlCol="0" anchor="t"/>
          <a:lstStyle/>
          <a:p>
            <a:pPr indent="0" marL="0">
              <a:buNone/>
            </a:pPr>
            <a:r>
              <a:rPr lang="en-US" sz="1200" i="1" dirty="0">
                <a:solidFill>
                  <a:schemeClr val="accent3"/>
                </a:solidFill>
              </a:rPr>
              <a:t>Stages 4 and 5: judge and coach</a:t>
            </a:r>
            <a:endParaRPr lang="en-US" sz="1200" dirty="0"/>
          </a:p>
        </p:txBody>
      </p:sp>
      <p:sp>
        <p:nvSpPr>
          <p:cNvPr id="3" name="Text 5"/>
          <p:cNvSpPr/>
          <p:nvPr>
            <p:ph idx="107" type="title" hasCustomPrompt="1"/>
          </p:nvPr>
        </p:nvSpPr>
        <p:spPr>
          <a:xfrm>
            <a:off x="777240" y="841248"/>
            <a:ext cx="9966960" cy="914400"/>
          </a:xfrm>
          <a:prstGeom prst="rect">
            <a:avLst/>
          </a:prstGeom>
          <a:noFill/>
          <a:ln/>
        </p:spPr>
        <p:txBody>
          <a:bodyPr wrap="square" lIns="0" tIns="0" rIns="0" bIns="0" rtlCol="0" anchor="t"/>
          <a:lstStyle/>
          <a:p>
            <a:pPr algn="l" indent="0" marL="0">
              <a:buNone/>
            </a:pPr>
            <a:r>
              <a:rPr lang="en-US" sz="2800" b="1" dirty="0">
                <a:solidFill>
                  <a:schemeClr val="accent2"/>
                </a:solidFill>
                <a:latin typeface="Cormorant Garamond" pitchFamily="34" charset="0"/>
                <a:ea typeface="Cormorant Garamond" pitchFamily="34" charset="-122"/>
                <a:cs typeface="Cormorant Garamond" pitchFamily="34" charset="-120"/>
              </a:rPr>
              <a:t>One ladder from Beginner to Club: the checks, the targets and the coach's words follow the player's level</a:t>
            </a:r>
            <a:endParaRPr lang="en-US" sz="2800" dirty="0"/>
          </a:p>
        </p:txBody>
      </p:sp>
      <p:sp>
        <p:nvSpPr>
          <p:cNvPr id="4" name="Text 5"/>
          <p:cNvSpPr/>
          <p:nvPr>
            <p:ph idx="108" type="body" hasCustomPrompt="1"/>
          </p:nvPr>
        </p:nvSpPr>
        <p:spPr>
          <a:xfrm>
            <a:off x="777240" y="6108192"/>
            <a:ext cx="9875520" cy="274320"/>
          </a:xfrm>
          <a:prstGeom prst="rect">
            <a:avLst/>
          </a:prstGeom>
          <a:noFill/>
          <a:ln/>
        </p:spPr>
        <p:txBody>
          <a:bodyPr wrap="square" lIns="0" tIns="0" rIns="0" bIns="0" rtlCol="0" anchor="t"/>
          <a:lstStyle/>
          <a:p>
            <a:pPr indent="0" marL="0">
              <a:buNone/>
            </a:pPr>
            <a:r>
              <a:rPr lang="en-US" sz="1000" dirty="0">
                <a:solidFill>
                  <a:schemeClr val="accent3"/>
                </a:solidFill>
              </a:rPr>
              <a:t>Forehand 1 of the 120 fps clip. Score: 40% for just meeting a target, full marks only near excellent; priority-weighted, then raised to the power 1.5</a:t>
            </a:r>
            <a:endParaRPr lang="en-US" sz="1000" dirty="0"/>
          </a:p>
        </p:txBody>
      </p:sp>
      <p:graphicFrame>
        <p:nvGraphicFramePr>
          <p:cNvPr id="7" name="ladder table"/>
          <p:cNvGraphicFramePr>
            <a:graphicFrameLocks noGrp="1"/>
          </p:cNvGraphicFramePr>
          <p:nvPr>
            <p:extLst>
              <p:ext uri="{D42A27DB-BD31-4B8C-83A1-F6EECF244321}">
                <p14:modId xmlns:p14="http://schemas.microsoft.com/office/powerpoint/2010/main" val="1579011935"/>
              </p:ext>
            </p:extLst>
          </p:nvPr>
        </p:nvGraphicFramePr>
        <p:xfrm>
          <a:off x="777240" y="1828800"/>
          <a:ext cx="6583680" cy="914400"/>
        </p:xfrm>
        <a:graphic>
          <a:graphicData uri="http://schemas.openxmlformats.org/drawingml/2006/table">
            <a:tbl>
              <a:tblPr/>
              <a:tblGrid>
                <a:gridCol w="2057400"/>
                <a:gridCol w="731520"/>
                <a:gridCol w="868680"/>
                <a:gridCol w="868680"/>
                <a:gridCol w="868680"/>
                <a:gridCol w="1188720"/>
              </a:tblGrid>
              <a:tr h="457200">
                <a:tc>
                  <a:txBody>
                    <a:bodyPr/>
                    <a:lstStyle/>
                    <a:p>
                      <a:pPr indent="0" marL="0">
                        <a:buNone/>
                      </a:pPr>
                      <a:r>
                        <a:rPr lang="en-US" sz="1100" b="1" dirty="0">
                          <a:solidFill>
                            <a:schemeClr val="accent3"/>
                          </a:solidFill>
                        </a:rPr>
                        <a:t>Check</a:t>
                      </a:r>
                      <a:endParaRPr lang="en-US" sz="1100" dirty="0"/>
                    </a:p>
                  </a:txBody>
                  <a:tcPr marL="73152" marR="73152" marT="45720" marB="45720" anchor="ctr">
                    <a:lnL w="0" cap="flat" cmpd="sng" algn="ctr">
                      <a:noFill/>
                    </a:lnL>
                    <a:lnR w="0" cap="flat" cmpd="sng" algn="ctr">
                      <a:noFill/>
                    </a:lnR>
                    <a:lnT w="0" cap="flat" cmpd="sng" algn="ctr">
                      <a:noFill/>
                    </a:lnT>
                    <a:lnB w="9525" cap="flat" cmpd="sng" algn="ctr">
                      <a:solidFill>
                        <a:srgbClr val="DCD8C8"/>
                      </a:solidFill>
                      <a:prstDash val="solid"/>
                      <a:round/>
                      <a:headEnd type="none" w="med" len="med"/>
                      <a:tailEnd type="none" w="med" len="med"/>
                    </a:lnB>
                    <a:solidFill>
                      <a:srgbClr val="F5F4EC"/>
                    </a:solidFill>
                  </a:tcPr>
                </a:tc>
                <a:tc>
                  <a:txBody>
                    <a:bodyPr/>
                    <a:lstStyle/>
                    <a:p>
                      <a:pPr indent="0" marL="0">
                        <a:buNone/>
                      </a:pPr>
                      <a:r>
                        <a:rPr lang="en-US" sz="1100" b="1" dirty="0">
                          <a:solidFill>
                            <a:schemeClr val="accent3"/>
                          </a:solidFill>
                        </a:rPr>
                        <a:t>Value</a:t>
                      </a:r>
                      <a:endParaRPr lang="en-US" sz="1100" dirty="0"/>
                    </a:p>
                  </a:txBody>
                  <a:tcPr marL="73152" marR="73152" marT="45720" marB="45720" anchor="ctr">
                    <a:lnL w="0" cap="flat" cmpd="sng" algn="ctr">
                      <a:noFill/>
                    </a:lnL>
                    <a:lnR w="0" cap="flat" cmpd="sng" algn="ctr">
                      <a:noFill/>
                    </a:lnR>
                    <a:lnT w="0" cap="flat" cmpd="sng" algn="ctr">
                      <a:noFill/>
                    </a:lnT>
                    <a:lnB w="9525" cap="flat" cmpd="sng" algn="ctr">
                      <a:solidFill>
                        <a:srgbClr val="DCD8C8"/>
                      </a:solidFill>
                      <a:prstDash val="solid"/>
                      <a:round/>
                      <a:headEnd type="none" w="med" len="med"/>
                      <a:tailEnd type="none" w="med" len="med"/>
                    </a:lnB>
                    <a:solidFill>
                      <a:srgbClr val="F5F4EC"/>
                    </a:solidFill>
                  </a:tcPr>
                </a:tc>
                <a:tc>
                  <a:txBody>
                    <a:bodyPr/>
                    <a:lstStyle/>
                    <a:p>
                      <a:pPr indent="0" marL="0">
                        <a:buNone/>
                      </a:pPr>
                      <a:r>
                        <a:rPr lang="en-US" sz="1100" b="1" dirty="0">
                          <a:solidFill>
                            <a:schemeClr val="accent3"/>
                          </a:solidFill>
                        </a:rPr>
                        <a:t>Beginner</a:t>
                      </a:r>
                      <a:endParaRPr lang="en-US" sz="1100" dirty="0"/>
                    </a:p>
                  </a:txBody>
                  <a:tcPr marL="73152" marR="73152" marT="45720" marB="45720" anchor="ctr">
                    <a:lnL w="0" cap="flat" cmpd="sng" algn="ctr">
                      <a:noFill/>
                    </a:lnL>
                    <a:lnR w="0" cap="flat" cmpd="sng" algn="ctr">
                      <a:noFill/>
                    </a:lnR>
                    <a:lnT w="0" cap="flat" cmpd="sng" algn="ctr">
                      <a:noFill/>
                    </a:lnT>
                    <a:lnB w="9525" cap="flat" cmpd="sng" algn="ctr">
                      <a:solidFill>
                        <a:srgbClr val="DCD8C8"/>
                      </a:solidFill>
                      <a:prstDash val="solid"/>
                      <a:round/>
                      <a:headEnd type="none" w="med" len="med"/>
                      <a:tailEnd type="none" w="med" len="med"/>
                    </a:lnB>
                    <a:solidFill>
                      <a:srgbClr val="F5F4EC"/>
                    </a:solidFill>
                  </a:tcPr>
                </a:tc>
                <a:tc>
                  <a:txBody>
                    <a:bodyPr/>
                    <a:lstStyle/>
                    <a:p>
                      <a:pPr indent="0" marL="0">
                        <a:buNone/>
                      </a:pPr>
                      <a:r>
                        <a:rPr lang="en-US" sz="1100" b="1" dirty="0">
                          <a:solidFill>
                            <a:schemeClr val="accent3"/>
                          </a:solidFill>
                        </a:rPr>
                        <a:t>Intermed.</a:t>
                      </a:r>
                      <a:endParaRPr lang="en-US" sz="1100" dirty="0"/>
                    </a:p>
                  </a:txBody>
                  <a:tcPr marL="73152" marR="73152" marT="45720" marB="45720" anchor="ctr">
                    <a:lnL w="0" cap="flat" cmpd="sng" algn="ctr">
                      <a:noFill/>
                    </a:lnL>
                    <a:lnR w="0" cap="flat" cmpd="sng" algn="ctr">
                      <a:noFill/>
                    </a:lnR>
                    <a:lnT w="0" cap="flat" cmpd="sng" algn="ctr">
                      <a:noFill/>
                    </a:lnT>
                    <a:lnB w="9525" cap="flat" cmpd="sng" algn="ctr">
                      <a:solidFill>
                        <a:srgbClr val="DCD8C8"/>
                      </a:solidFill>
                      <a:prstDash val="solid"/>
                      <a:round/>
                      <a:headEnd type="none" w="med" len="med"/>
                      <a:tailEnd type="none" w="med" len="med"/>
                    </a:lnB>
                    <a:solidFill>
                      <a:srgbClr val="F5F4EC"/>
                    </a:solidFill>
                  </a:tcPr>
                </a:tc>
                <a:tc>
                  <a:txBody>
                    <a:bodyPr/>
                    <a:lstStyle/>
                    <a:p>
                      <a:pPr indent="0" marL="0">
                        <a:buNone/>
                      </a:pPr>
                      <a:r>
                        <a:rPr lang="en-US" sz="1100" b="1" dirty="0">
                          <a:solidFill>
                            <a:schemeClr val="accent3"/>
                          </a:solidFill>
                        </a:rPr>
                        <a:t>Club</a:t>
                      </a:r>
                      <a:endParaRPr lang="en-US" sz="1100" dirty="0"/>
                    </a:p>
                  </a:txBody>
                  <a:tcPr marL="73152" marR="73152" marT="45720" marB="45720" anchor="ctr">
                    <a:lnL w="0" cap="flat" cmpd="sng" algn="ctr">
                      <a:noFill/>
                    </a:lnL>
                    <a:lnR w="0" cap="flat" cmpd="sng" algn="ctr">
                      <a:noFill/>
                    </a:lnR>
                    <a:lnT w="0" cap="flat" cmpd="sng" algn="ctr">
                      <a:noFill/>
                    </a:lnT>
                    <a:lnB w="9525" cap="flat" cmpd="sng" algn="ctr">
                      <a:solidFill>
                        <a:srgbClr val="DCD8C8"/>
                      </a:solidFill>
                      <a:prstDash val="solid"/>
                      <a:round/>
                      <a:headEnd type="none" w="med" len="med"/>
                      <a:tailEnd type="none" w="med" len="med"/>
                    </a:lnB>
                    <a:solidFill>
                      <a:srgbClr val="F5F4EC"/>
                    </a:solidFill>
                  </a:tcPr>
                </a:tc>
                <a:tc>
                  <a:txBody>
                    <a:bodyPr/>
                    <a:lstStyle/>
                    <a:p>
                      <a:pPr indent="0" marL="0">
                        <a:buNone/>
                      </a:pPr>
                      <a:r>
                        <a:rPr lang="en-US" sz="1100" b="1" dirty="0">
                          <a:solidFill>
                            <a:schemeClr val="accent3"/>
                          </a:solidFill>
                        </a:rPr>
                        <a:t>Reaches</a:t>
                      </a:r>
                      <a:endParaRPr lang="en-US" sz="1100" dirty="0"/>
                    </a:p>
                  </a:txBody>
                  <a:tcPr marL="73152" marR="73152" marT="45720" marB="45720" anchor="ctr">
                    <a:lnL w="0" cap="flat" cmpd="sng" algn="ctr">
                      <a:noFill/>
                    </a:lnL>
                    <a:lnR w="0" cap="flat" cmpd="sng" algn="ctr">
                      <a:noFill/>
                    </a:lnR>
                    <a:lnT w="0" cap="flat" cmpd="sng" algn="ctr">
                      <a:noFill/>
                    </a:lnT>
                    <a:lnB w="9525" cap="flat" cmpd="sng" algn="ctr">
                      <a:solidFill>
                        <a:srgbClr val="DCD8C8"/>
                      </a:solidFill>
                      <a:prstDash val="solid"/>
                      <a:round/>
                      <a:headEnd type="none" w="med" len="med"/>
                      <a:tailEnd type="none" w="med" len="med"/>
                    </a:lnB>
                    <a:solidFill>
                      <a:srgbClr val="F5F4EC"/>
                    </a:solidFill>
                  </a:tcPr>
                </a:tc>
              </a:tr>
              <a:tr h="457200">
                <a:tc>
                  <a:txBody>
                    <a:bodyPr/>
                    <a:lstStyle/>
                    <a:p>
                      <a:pPr indent="0" marL="0">
                        <a:buNone/>
                      </a:pPr>
                      <a:r>
                        <a:rPr lang="en-US" sz="1200" dirty="0">
                          <a:solidFill>
                            <a:schemeClr val="tx1"/>
                          </a:solidFill>
                        </a:rPr>
                        <a:t>Contact in front of the body</a:t>
                      </a:r>
                      <a:endParaRPr lang="en-US" sz="1200" dirty="0"/>
                    </a:p>
                  </a:txBody>
                  <a:tcPr marL="73152" marR="73152" marT="45720" marB="45720" anchor="ctr">
                    <a:lnL w="0" cap="flat" cmpd="sng" algn="ctr">
                      <a:noFill/>
                    </a:lnL>
                    <a:lnR w="0" cap="flat" cmpd="sng" algn="ctr">
                      <a:noFill/>
                    </a:lnR>
                    <a:lnT w="0" cap="flat" cmpd="sng" algn="ctr">
                      <a:noFill/>
                    </a:lnT>
                    <a:lnB w="9525" cap="flat" cmpd="sng" algn="ctr">
                      <a:solidFill>
                        <a:srgbClr val="DCD8C8"/>
                      </a:solidFill>
                      <a:prstDash val="solid"/>
                      <a:round/>
                      <a:headEnd type="none" w="med" len="med"/>
                      <a:tailEnd type="none" w="med" len="med"/>
                    </a:lnB>
                    <a:solidFill>
                      <a:srgbClr val="F5F4EC"/>
                    </a:solidFill>
                  </a:tcPr>
                </a:tc>
                <a:tc>
                  <a:txBody>
                    <a:bodyPr/>
                    <a:lstStyle/>
                    <a:p>
                      <a:pPr indent="0" marL="0">
                        <a:buNone/>
                      </a:pPr>
                      <a:r>
                        <a:rPr lang="en-US" sz="1200" dirty="0">
                          <a:solidFill>
                            <a:schemeClr val="tx1"/>
                          </a:solidFill>
                        </a:rPr>
                        <a:t>0.97</a:t>
                      </a:r>
                      <a:endParaRPr lang="en-US" sz="1200" dirty="0"/>
                    </a:p>
                  </a:txBody>
                  <a:tcPr marL="73152" marR="73152" marT="45720" marB="45720" anchor="ctr">
                    <a:lnL w="0" cap="flat" cmpd="sng" algn="ctr">
                      <a:noFill/>
                    </a:lnL>
                    <a:lnR w="0" cap="flat" cmpd="sng" algn="ctr">
                      <a:noFill/>
                    </a:lnR>
                    <a:lnT w="0" cap="flat" cmpd="sng" algn="ctr">
                      <a:noFill/>
                    </a:lnT>
                    <a:lnB w="9525" cap="flat" cmpd="sng" algn="ctr">
                      <a:solidFill>
                        <a:srgbClr val="DCD8C8"/>
                      </a:solidFill>
                      <a:prstDash val="solid"/>
                      <a:round/>
                      <a:headEnd type="none" w="med" len="med"/>
                      <a:tailEnd type="none" w="med" len="med"/>
                    </a:lnB>
                    <a:solidFill>
                      <a:srgbClr val="F5F4EC"/>
                    </a:solidFill>
                  </a:tcPr>
                </a:tc>
                <a:tc>
                  <a:txBody>
                    <a:bodyPr/>
                    <a:lstStyle/>
                    <a:p>
                      <a:pPr indent="0" marL="0">
                        <a:buNone/>
                      </a:pPr>
                      <a:r>
                        <a:rPr lang="en-US" sz="1200" dirty="0">
                          <a:solidFill>
                            <a:schemeClr val="tx1"/>
                          </a:solidFill>
                        </a:rPr>
                        <a:t>≥ 0.45</a:t>
                      </a:r>
                      <a:endParaRPr lang="en-US" sz="1200" dirty="0"/>
                    </a:p>
                  </a:txBody>
                  <a:tcPr marL="73152" marR="73152" marT="45720" marB="45720" anchor="ctr">
                    <a:lnL w="0" cap="flat" cmpd="sng" algn="ctr">
                      <a:noFill/>
                    </a:lnL>
                    <a:lnR w="0" cap="flat" cmpd="sng" algn="ctr">
                      <a:noFill/>
                    </a:lnR>
                    <a:lnT w="0" cap="flat" cmpd="sng" algn="ctr">
                      <a:noFill/>
                    </a:lnT>
                    <a:lnB w="9525" cap="flat" cmpd="sng" algn="ctr">
                      <a:solidFill>
                        <a:srgbClr val="DCD8C8"/>
                      </a:solidFill>
                      <a:prstDash val="solid"/>
                      <a:round/>
                      <a:headEnd type="none" w="med" len="med"/>
                      <a:tailEnd type="none" w="med" len="med"/>
                    </a:lnB>
                    <a:solidFill>
                      <a:srgbClr val="F5F4EC"/>
                    </a:solidFill>
                  </a:tcPr>
                </a:tc>
                <a:tc>
                  <a:txBody>
                    <a:bodyPr/>
                    <a:lstStyle/>
                    <a:p>
                      <a:pPr indent="0" marL="0">
                        <a:buNone/>
                      </a:pPr>
                      <a:r>
                        <a:rPr lang="en-US" sz="1200" dirty="0">
                          <a:solidFill>
                            <a:schemeClr val="tx1"/>
                          </a:solidFill>
                        </a:rPr>
                        <a:t>≥ 0.55</a:t>
                      </a:r>
                      <a:endParaRPr lang="en-US" sz="1200" dirty="0"/>
                    </a:p>
                  </a:txBody>
                  <a:tcPr marL="73152" marR="73152" marT="45720" marB="45720" anchor="ctr">
                    <a:lnL w="0" cap="flat" cmpd="sng" algn="ctr">
                      <a:noFill/>
                    </a:lnL>
                    <a:lnR w="0" cap="flat" cmpd="sng" algn="ctr">
                      <a:noFill/>
                    </a:lnR>
                    <a:lnT w="0" cap="flat" cmpd="sng" algn="ctr">
                      <a:noFill/>
                    </a:lnT>
                    <a:lnB w="9525" cap="flat" cmpd="sng" algn="ctr">
                      <a:solidFill>
                        <a:srgbClr val="DCD8C8"/>
                      </a:solidFill>
                      <a:prstDash val="solid"/>
                      <a:round/>
                      <a:headEnd type="none" w="med" len="med"/>
                      <a:tailEnd type="none" w="med" len="med"/>
                    </a:lnB>
                    <a:solidFill>
                      <a:srgbClr val="F5F4EC"/>
                    </a:solidFill>
                  </a:tcPr>
                </a:tc>
                <a:tc>
                  <a:txBody>
                    <a:bodyPr/>
                    <a:lstStyle/>
                    <a:p>
                      <a:pPr indent="0" marL="0">
                        <a:buNone/>
                      </a:pPr>
                      <a:r>
                        <a:rPr lang="en-US" sz="1200" dirty="0">
                          <a:solidFill>
                            <a:schemeClr val="tx1"/>
                          </a:solidFill>
                        </a:rPr>
                        <a:t>≥ 0.60</a:t>
                      </a:r>
                      <a:endParaRPr lang="en-US" sz="1200" dirty="0"/>
                    </a:p>
                  </a:txBody>
                  <a:tcPr marL="73152" marR="73152" marT="45720" marB="45720" anchor="ctr">
                    <a:lnL w="0" cap="flat" cmpd="sng" algn="ctr">
                      <a:noFill/>
                    </a:lnL>
                    <a:lnR w="0" cap="flat" cmpd="sng" algn="ctr">
                      <a:noFill/>
                    </a:lnR>
                    <a:lnT w="0" cap="flat" cmpd="sng" algn="ctr">
                      <a:noFill/>
                    </a:lnT>
                    <a:lnB w="9525" cap="flat" cmpd="sng" algn="ctr">
                      <a:solidFill>
                        <a:srgbClr val="DCD8C8"/>
                      </a:solidFill>
                      <a:prstDash val="solid"/>
                      <a:round/>
                      <a:headEnd type="none" w="med" len="med"/>
                      <a:tailEnd type="none" w="med" len="med"/>
                    </a:lnB>
                    <a:solidFill>
                      <a:srgbClr val="F5F4EC"/>
                    </a:solidFill>
                  </a:tcPr>
                </a:tc>
                <a:tc>
                  <a:txBody>
                    <a:bodyPr/>
                    <a:lstStyle/>
                    <a:p>
                      <a:pPr indent="0" marL="0">
                        <a:buNone/>
                      </a:pPr>
                      <a:r>
                        <a:rPr lang="en-US" sz="1200" b="1" dirty="0">
                          <a:solidFill>
                            <a:schemeClr val="accent1"/>
                          </a:solidFill>
                        </a:rPr>
                        <a:t>Club</a:t>
                      </a:r>
                      <a:endParaRPr lang="en-US" sz="1200" dirty="0"/>
                    </a:p>
                  </a:txBody>
                  <a:tcPr marL="73152" marR="73152" marT="45720" marB="45720" anchor="ctr">
                    <a:lnL w="0" cap="flat" cmpd="sng" algn="ctr">
                      <a:noFill/>
                    </a:lnL>
                    <a:lnR w="0" cap="flat" cmpd="sng" algn="ctr">
                      <a:noFill/>
                    </a:lnR>
                    <a:lnT w="0" cap="flat" cmpd="sng" algn="ctr">
                      <a:noFill/>
                    </a:lnT>
                    <a:lnB w="9525" cap="flat" cmpd="sng" algn="ctr">
                      <a:solidFill>
                        <a:srgbClr val="DCD8C8"/>
                      </a:solidFill>
                      <a:prstDash val="solid"/>
                      <a:round/>
                      <a:headEnd type="none" w="med" len="med"/>
                      <a:tailEnd type="none" w="med" len="med"/>
                    </a:lnB>
                    <a:solidFill>
                      <a:srgbClr val="F5F4EC"/>
                    </a:solidFill>
                  </a:tcPr>
                </a:tc>
              </a:tr>
              <a:tr h="457200">
                <a:tc>
                  <a:txBody>
                    <a:bodyPr/>
                    <a:lstStyle/>
                    <a:p>
                      <a:pPr indent="0" marL="0">
                        <a:buNone/>
                      </a:pPr>
                      <a:r>
                        <a:rPr lang="en-US" sz="1200" dirty="0">
                          <a:solidFill>
                            <a:schemeClr val="tx1"/>
                          </a:solidFill>
                        </a:rPr>
                        <a:t>Ball reaches you after the bounce</a:t>
                      </a:r>
                      <a:endParaRPr lang="en-US" sz="1200" dirty="0"/>
                    </a:p>
                  </a:txBody>
                  <a:tcPr marL="73152" marR="73152" marT="45720" marB="45720" anchor="ctr">
                    <a:lnL w="0" cap="flat" cmpd="sng" algn="ctr">
                      <a:noFill/>
                    </a:lnL>
                    <a:lnR w="0" cap="flat" cmpd="sng" algn="ctr">
                      <a:noFill/>
                    </a:lnR>
                    <a:lnT w="0" cap="flat" cmpd="sng" algn="ctr">
                      <a:noFill/>
                    </a:lnT>
                    <a:lnB w="9525" cap="flat" cmpd="sng" algn="ctr">
                      <a:solidFill>
                        <a:srgbClr val="DCD8C8"/>
                      </a:solidFill>
                      <a:prstDash val="solid"/>
                      <a:round/>
                      <a:headEnd type="none" w="med" len="med"/>
                      <a:tailEnd type="none" w="med" len="med"/>
                    </a:lnB>
                    <a:solidFill>
                      <a:srgbClr val="F5F4EC"/>
                    </a:solidFill>
                  </a:tcPr>
                </a:tc>
                <a:tc>
                  <a:txBody>
                    <a:bodyPr/>
                    <a:lstStyle/>
                    <a:p>
                      <a:pPr indent="0" marL="0">
                        <a:buNone/>
                      </a:pPr>
                      <a:r>
                        <a:rPr lang="en-US" sz="1200" dirty="0">
                          <a:solidFill>
                            <a:schemeClr val="tx1"/>
                          </a:solidFill>
                        </a:rPr>
                        <a:t>0.86 s</a:t>
                      </a:r>
                      <a:endParaRPr lang="en-US" sz="1200" dirty="0"/>
                    </a:p>
                  </a:txBody>
                  <a:tcPr marL="73152" marR="73152" marT="45720" marB="45720" anchor="ctr">
                    <a:lnL w="0" cap="flat" cmpd="sng" algn="ctr">
                      <a:noFill/>
                    </a:lnL>
                    <a:lnR w="0" cap="flat" cmpd="sng" algn="ctr">
                      <a:noFill/>
                    </a:lnR>
                    <a:lnT w="0" cap="flat" cmpd="sng" algn="ctr">
                      <a:noFill/>
                    </a:lnT>
                    <a:lnB w="9525" cap="flat" cmpd="sng" algn="ctr">
                      <a:solidFill>
                        <a:srgbClr val="DCD8C8"/>
                      </a:solidFill>
                      <a:prstDash val="solid"/>
                      <a:round/>
                      <a:headEnd type="none" w="med" len="med"/>
                      <a:tailEnd type="none" w="med" len="med"/>
                    </a:lnB>
                    <a:solidFill>
                      <a:srgbClr val="F5F4EC"/>
                    </a:solidFill>
                  </a:tcPr>
                </a:tc>
                <a:tc>
                  <a:txBody>
                    <a:bodyPr/>
                    <a:lstStyle/>
                    <a:p>
                      <a:pPr indent="0" marL="0">
                        <a:buNone/>
                      </a:pPr>
                      <a:r>
                        <a:rPr lang="en-US" sz="1200" dirty="0">
                          <a:solidFill>
                            <a:schemeClr val="tx1"/>
                          </a:solidFill>
                        </a:rPr>
                        <a:t>≤ 1.2 s</a:t>
                      </a:r>
                      <a:endParaRPr lang="en-US" sz="1200" dirty="0"/>
                    </a:p>
                  </a:txBody>
                  <a:tcPr marL="73152" marR="73152" marT="45720" marB="45720" anchor="ctr">
                    <a:lnL w="0" cap="flat" cmpd="sng" algn="ctr">
                      <a:noFill/>
                    </a:lnL>
                    <a:lnR w="0" cap="flat" cmpd="sng" algn="ctr">
                      <a:noFill/>
                    </a:lnR>
                    <a:lnT w="0" cap="flat" cmpd="sng" algn="ctr">
                      <a:noFill/>
                    </a:lnT>
                    <a:lnB w="9525" cap="flat" cmpd="sng" algn="ctr">
                      <a:solidFill>
                        <a:srgbClr val="DCD8C8"/>
                      </a:solidFill>
                      <a:prstDash val="solid"/>
                      <a:round/>
                      <a:headEnd type="none" w="med" len="med"/>
                      <a:tailEnd type="none" w="med" len="med"/>
                    </a:lnB>
                    <a:solidFill>
                      <a:srgbClr val="F5F4EC"/>
                    </a:solidFill>
                  </a:tcPr>
                </a:tc>
                <a:tc>
                  <a:txBody>
                    <a:bodyPr/>
                    <a:lstStyle/>
                    <a:p>
                      <a:pPr indent="0" marL="0">
                        <a:buNone/>
                      </a:pPr>
                      <a:r>
                        <a:rPr lang="en-US" sz="1200" dirty="0">
                          <a:solidFill>
                            <a:schemeClr val="tx1"/>
                          </a:solidFill>
                        </a:rPr>
                        <a:t>≤ 1.0 s</a:t>
                      </a:r>
                      <a:endParaRPr lang="en-US" sz="1200" dirty="0"/>
                    </a:p>
                  </a:txBody>
                  <a:tcPr marL="73152" marR="73152" marT="45720" marB="45720" anchor="ctr">
                    <a:lnL w="0" cap="flat" cmpd="sng" algn="ctr">
                      <a:noFill/>
                    </a:lnL>
                    <a:lnR w="0" cap="flat" cmpd="sng" algn="ctr">
                      <a:noFill/>
                    </a:lnR>
                    <a:lnT w="0" cap="flat" cmpd="sng" algn="ctr">
                      <a:noFill/>
                    </a:lnT>
                    <a:lnB w="9525" cap="flat" cmpd="sng" algn="ctr">
                      <a:solidFill>
                        <a:srgbClr val="DCD8C8"/>
                      </a:solidFill>
                      <a:prstDash val="solid"/>
                      <a:round/>
                      <a:headEnd type="none" w="med" len="med"/>
                      <a:tailEnd type="none" w="med" len="med"/>
                    </a:lnB>
                    <a:solidFill>
                      <a:srgbClr val="F5F4EC"/>
                    </a:solidFill>
                  </a:tcPr>
                </a:tc>
                <a:tc>
                  <a:txBody>
                    <a:bodyPr/>
                    <a:lstStyle/>
                    <a:p>
                      <a:pPr indent="0" marL="0">
                        <a:buNone/>
                      </a:pPr>
                      <a:r>
                        <a:rPr lang="en-US" sz="1200" dirty="0">
                          <a:solidFill>
                            <a:schemeClr val="tx1"/>
                          </a:solidFill>
                        </a:rPr>
                        <a:t>≤ 0.8 s</a:t>
                      </a:r>
                      <a:endParaRPr lang="en-US" sz="1200" dirty="0"/>
                    </a:p>
                  </a:txBody>
                  <a:tcPr marL="73152" marR="73152" marT="45720" marB="45720" anchor="ctr">
                    <a:lnL w="0" cap="flat" cmpd="sng" algn="ctr">
                      <a:noFill/>
                    </a:lnL>
                    <a:lnR w="0" cap="flat" cmpd="sng" algn="ctr">
                      <a:noFill/>
                    </a:lnR>
                    <a:lnT w="0" cap="flat" cmpd="sng" algn="ctr">
                      <a:noFill/>
                    </a:lnT>
                    <a:lnB w="9525" cap="flat" cmpd="sng" algn="ctr">
                      <a:solidFill>
                        <a:srgbClr val="DCD8C8"/>
                      </a:solidFill>
                      <a:prstDash val="solid"/>
                      <a:round/>
                      <a:headEnd type="none" w="med" len="med"/>
                      <a:tailEnd type="none" w="med" len="med"/>
                    </a:lnB>
                    <a:solidFill>
                      <a:srgbClr val="F5F4EC"/>
                    </a:solidFill>
                  </a:tcPr>
                </a:tc>
                <a:tc>
                  <a:txBody>
                    <a:bodyPr/>
                    <a:lstStyle/>
                    <a:p>
                      <a:pPr indent="0" marL="0">
                        <a:buNone/>
                      </a:pPr>
                      <a:r>
                        <a:rPr lang="en-US" sz="1200" b="1" dirty="0">
                          <a:solidFill>
                            <a:schemeClr val="accent2"/>
                          </a:solidFill>
                        </a:rPr>
                        <a:t>Intermediate</a:t>
                      </a:r>
                      <a:endParaRPr lang="en-US" sz="1200" dirty="0"/>
                    </a:p>
                  </a:txBody>
                  <a:tcPr marL="73152" marR="73152" marT="45720" marB="45720" anchor="ctr">
                    <a:lnL w="0" cap="flat" cmpd="sng" algn="ctr">
                      <a:noFill/>
                    </a:lnL>
                    <a:lnR w="0" cap="flat" cmpd="sng" algn="ctr">
                      <a:noFill/>
                    </a:lnR>
                    <a:lnT w="0" cap="flat" cmpd="sng" algn="ctr">
                      <a:noFill/>
                    </a:lnT>
                    <a:lnB w="9525" cap="flat" cmpd="sng" algn="ctr">
                      <a:solidFill>
                        <a:srgbClr val="DCD8C8"/>
                      </a:solidFill>
                      <a:prstDash val="solid"/>
                      <a:round/>
                      <a:headEnd type="none" w="med" len="med"/>
                      <a:tailEnd type="none" w="med" len="med"/>
                    </a:lnB>
                    <a:solidFill>
                      <a:srgbClr val="F5F4EC"/>
                    </a:solidFill>
                  </a:tcPr>
                </a:tc>
              </a:tr>
              <a:tr h="457200">
                <a:tc>
                  <a:txBody>
                    <a:bodyPr/>
                    <a:lstStyle/>
                    <a:p>
                      <a:pPr indent="0" marL="0">
                        <a:buNone/>
                      </a:pPr>
                      <a:r>
                        <a:rPr lang="en-US" sz="1200" dirty="0">
                          <a:solidFill>
                            <a:schemeClr val="tx1"/>
                          </a:solidFill>
                        </a:rPr>
                        <a:t>Head stays level through the swing</a:t>
                      </a:r>
                      <a:endParaRPr lang="en-US" sz="1200" dirty="0"/>
                    </a:p>
                  </a:txBody>
                  <a:tcPr marL="73152" marR="73152" marT="45720" marB="45720" anchor="ctr">
                    <a:lnL w="0" cap="flat" cmpd="sng" algn="ctr">
                      <a:noFill/>
                    </a:lnL>
                    <a:lnR w="0" cap="flat" cmpd="sng" algn="ctr">
                      <a:noFill/>
                    </a:lnR>
                    <a:lnT w="0" cap="flat" cmpd="sng" algn="ctr">
                      <a:noFill/>
                    </a:lnT>
                    <a:lnB w="9525" cap="flat" cmpd="sng" algn="ctr">
                      <a:solidFill>
                        <a:srgbClr val="DCD8C8"/>
                      </a:solidFill>
                      <a:prstDash val="solid"/>
                      <a:round/>
                      <a:headEnd type="none" w="med" len="med"/>
                      <a:tailEnd type="none" w="med" len="med"/>
                    </a:lnB>
                    <a:solidFill>
                      <a:srgbClr val="F5F4EC"/>
                    </a:solidFill>
                  </a:tcPr>
                </a:tc>
                <a:tc>
                  <a:txBody>
                    <a:bodyPr/>
                    <a:lstStyle/>
                    <a:p>
                      <a:pPr indent="0" marL="0">
                        <a:buNone/>
                      </a:pPr>
                      <a:r>
                        <a:rPr lang="en-US" sz="1200" dirty="0">
                          <a:solidFill>
                            <a:schemeClr val="tx1"/>
                          </a:solidFill>
                        </a:rPr>
                        <a:t>0.13 m</a:t>
                      </a:r>
                      <a:endParaRPr lang="en-US" sz="1200" dirty="0"/>
                    </a:p>
                  </a:txBody>
                  <a:tcPr marL="73152" marR="73152" marT="45720" marB="45720" anchor="ctr">
                    <a:lnL w="0" cap="flat" cmpd="sng" algn="ctr">
                      <a:noFill/>
                    </a:lnL>
                    <a:lnR w="0" cap="flat" cmpd="sng" algn="ctr">
                      <a:noFill/>
                    </a:lnR>
                    <a:lnT w="0" cap="flat" cmpd="sng" algn="ctr">
                      <a:noFill/>
                    </a:lnT>
                    <a:lnB w="9525" cap="flat" cmpd="sng" algn="ctr">
                      <a:solidFill>
                        <a:srgbClr val="DCD8C8"/>
                      </a:solidFill>
                      <a:prstDash val="solid"/>
                      <a:round/>
                      <a:headEnd type="none" w="med" len="med"/>
                      <a:tailEnd type="none" w="med" len="med"/>
                    </a:lnB>
                    <a:solidFill>
                      <a:srgbClr val="F5F4EC"/>
                    </a:solidFill>
                  </a:tcPr>
                </a:tc>
                <a:tc>
                  <a:txBody>
                    <a:bodyPr/>
                    <a:lstStyle/>
                    <a:p>
                      <a:pPr indent="0" marL="0">
                        <a:buNone/>
                      </a:pPr>
                      <a:r>
                        <a:rPr lang="en-US" sz="1200" dirty="0">
                          <a:solidFill>
                            <a:schemeClr val="tx1"/>
                          </a:solidFill>
                        </a:rPr>
                        <a:t>≤ 0.18 m</a:t>
                      </a:r>
                      <a:endParaRPr lang="en-US" sz="1200" dirty="0"/>
                    </a:p>
                  </a:txBody>
                  <a:tcPr marL="73152" marR="73152" marT="45720" marB="45720" anchor="ctr">
                    <a:lnL w="0" cap="flat" cmpd="sng" algn="ctr">
                      <a:noFill/>
                    </a:lnL>
                    <a:lnR w="0" cap="flat" cmpd="sng" algn="ctr">
                      <a:noFill/>
                    </a:lnR>
                    <a:lnT w="0" cap="flat" cmpd="sng" algn="ctr">
                      <a:noFill/>
                    </a:lnT>
                    <a:lnB w="9525" cap="flat" cmpd="sng" algn="ctr">
                      <a:solidFill>
                        <a:srgbClr val="DCD8C8"/>
                      </a:solidFill>
                      <a:prstDash val="solid"/>
                      <a:round/>
                      <a:headEnd type="none" w="med" len="med"/>
                      <a:tailEnd type="none" w="med" len="med"/>
                    </a:lnB>
                    <a:solidFill>
                      <a:srgbClr val="F5F4EC"/>
                    </a:solidFill>
                  </a:tcPr>
                </a:tc>
                <a:tc>
                  <a:txBody>
                    <a:bodyPr/>
                    <a:lstStyle/>
                    <a:p>
                      <a:pPr indent="0" marL="0">
                        <a:buNone/>
                      </a:pPr>
                      <a:r>
                        <a:rPr lang="en-US" sz="1200" dirty="0">
                          <a:solidFill>
                            <a:schemeClr val="tx1"/>
                          </a:solidFill>
                        </a:rPr>
                        <a:t>≤ 0.12 m</a:t>
                      </a:r>
                      <a:endParaRPr lang="en-US" sz="1200" dirty="0"/>
                    </a:p>
                  </a:txBody>
                  <a:tcPr marL="73152" marR="73152" marT="45720" marB="45720" anchor="ctr">
                    <a:lnL w="0" cap="flat" cmpd="sng" algn="ctr">
                      <a:noFill/>
                    </a:lnL>
                    <a:lnR w="0" cap="flat" cmpd="sng" algn="ctr">
                      <a:noFill/>
                    </a:lnR>
                    <a:lnT w="0" cap="flat" cmpd="sng" algn="ctr">
                      <a:noFill/>
                    </a:lnT>
                    <a:lnB w="9525" cap="flat" cmpd="sng" algn="ctr">
                      <a:solidFill>
                        <a:srgbClr val="DCD8C8"/>
                      </a:solidFill>
                      <a:prstDash val="solid"/>
                      <a:round/>
                      <a:headEnd type="none" w="med" len="med"/>
                      <a:tailEnd type="none" w="med" len="med"/>
                    </a:lnB>
                    <a:solidFill>
                      <a:srgbClr val="F5F4EC"/>
                    </a:solidFill>
                  </a:tcPr>
                </a:tc>
                <a:tc>
                  <a:txBody>
                    <a:bodyPr/>
                    <a:lstStyle/>
                    <a:p>
                      <a:pPr indent="0" marL="0">
                        <a:buNone/>
                      </a:pPr>
                      <a:r>
                        <a:rPr lang="en-US" sz="1200" dirty="0">
                          <a:solidFill>
                            <a:schemeClr val="tx1"/>
                          </a:solidFill>
                        </a:rPr>
                        <a:t>≤ 0.07 m</a:t>
                      </a:r>
                      <a:endParaRPr lang="en-US" sz="1200" dirty="0"/>
                    </a:p>
                  </a:txBody>
                  <a:tcPr marL="73152" marR="73152" marT="45720" marB="45720" anchor="ctr">
                    <a:lnL w="0" cap="flat" cmpd="sng" algn="ctr">
                      <a:noFill/>
                    </a:lnL>
                    <a:lnR w="0" cap="flat" cmpd="sng" algn="ctr">
                      <a:noFill/>
                    </a:lnR>
                    <a:lnT w="0" cap="flat" cmpd="sng" algn="ctr">
                      <a:noFill/>
                    </a:lnT>
                    <a:lnB w="9525" cap="flat" cmpd="sng" algn="ctr">
                      <a:solidFill>
                        <a:srgbClr val="DCD8C8"/>
                      </a:solidFill>
                      <a:prstDash val="solid"/>
                      <a:round/>
                      <a:headEnd type="none" w="med" len="med"/>
                      <a:tailEnd type="none" w="med" len="med"/>
                    </a:lnB>
                    <a:solidFill>
                      <a:srgbClr val="F5F4EC"/>
                    </a:solidFill>
                  </a:tcPr>
                </a:tc>
                <a:tc>
                  <a:txBody>
                    <a:bodyPr/>
                    <a:lstStyle/>
                    <a:p>
                      <a:pPr indent="0" marL="0">
                        <a:buNone/>
                      </a:pPr>
                      <a:r>
                        <a:rPr lang="en-US" sz="1200" b="1" dirty="0">
                          <a:solidFill>
                            <a:schemeClr val="accent5"/>
                          </a:solidFill>
                        </a:rPr>
                        <a:t>Beginner</a:t>
                      </a:r>
                      <a:endParaRPr lang="en-US" sz="1200" dirty="0"/>
                    </a:p>
                  </a:txBody>
                  <a:tcPr marL="73152" marR="73152" marT="45720" marB="45720" anchor="ctr">
                    <a:lnL w="0" cap="flat" cmpd="sng" algn="ctr">
                      <a:noFill/>
                    </a:lnL>
                    <a:lnR w="0" cap="flat" cmpd="sng" algn="ctr">
                      <a:noFill/>
                    </a:lnR>
                    <a:lnT w="0" cap="flat" cmpd="sng" algn="ctr">
                      <a:noFill/>
                    </a:lnT>
                    <a:lnB w="9525" cap="flat" cmpd="sng" algn="ctr">
                      <a:solidFill>
                        <a:srgbClr val="DCD8C8"/>
                      </a:solidFill>
                      <a:prstDash val="solid"/>
                      <a:round/>
                      <a:headEnd type="none" w="med" len="med"/>
                      <a:tailEnd type="none" w="med" len="med"/>
                    </a:lnB>
                    <a:solidFill>
                      <a:srgbClr val="F5F4EC"/>
                    </a:solidFill>
                  </a:tcPr>
                </a:tc>
              </a:tr>
              <a:tr h="457200">
                <a:tc>
                  <a:txBody>
                    <a:bodyPr/>
                    <a:lstStyle/>
                    <a:p>
                      <a:pPr indent="0" marL="0">
                        <a:buNone/>
                      </a:pPr>
                      <a:r>
                        <a:rPr lang="en-US" sz="1200" dirty="0">
                          <a:solidFill>
                            <a:schemeClr val="tx1"/>
                          </a:solidFill>
                        </a:rPr>
                        <a:t>Still in your legs at contact</a:t>
                      </a:r>
                      <a:endParaRPr lang="en-US" sz="1200" dirty="0"/>
                    </a:p>
                  </a:txBody>
                  <a:tcPr marL="73152" marR="73152" marT="45720" marB="45720" anchor="ctr">
                    <a:lnL w="0" cap="flat" cmpd="sng" algn="ctr">
                      <a:noFill/>
                    </a:lnL>
                    <a:lnR w="0" cap="flat" cmpd="sng" algn="ctr">
                      <a:noFill/>
                    </a:lnR>
                    <a:lnT w="0" cap="flat" cmpd="sng" algn="ctr">
                      <a:noFill/>
                    </a:lnT>
                    <a:lnB w="9525" cap="flat" cmpd="sng" algn="ctr">
                      <a:solidFill>
                        <a:srgbClr val="DCD8C8"/>
                      </a:solidFill>
                      <a:prstDash val="solid"/>
                      <a:round/>
                      <a:headEnd type="none" w="med" len="med"/>
                      <a:tailEnd type="none" w="med" len="med"/>
                    </a:lnB>
                    <a:solidFill>
                      <a:srgbClr val="F5F4EC"/>
                    </a:solidFill>
                  </a:tcPr>
                </a:tc>
                <a:tc>
                  <a:txBody>
                    <a:bodyPr/>
                    <a:lstStyle/>
                    <a:p>
                      <a:pPr indent="0" marL="0">
                        <a:buNone/>
                      </a:pPr>
                      <a:r>
                        <a:rPr lang="en-US" sz="1200" dirty="0">
                          <a:solidFill>
                            <a:schemeClr val="tx1"/>
                          </a:solidFill>
                        </a:rPr>
                        <a:t>4°</a:t>
                      </a:r>
                      <a:endParaRPr lang="en-US" sz="1200" dirty="0"/>
                    </a:p>
                  </a:txBody>
                  <a:tcPr marL="73152" marR="73152" marT="45720" marB="45720" anchor="ctr">
                    <a:lnL w="0" cap="flat" cmpd="sng" algn="ctr">
                      <a:noFill/>
                    </a:lnL>
                    <a:lnR w="0" cap="flat" cmpd="sng" algn="ctr">
                      <a:noFill/>
                    </a:lnR>
                    <a:lnT w="0" cap="flat" cmpd="sng" algn="ctr">
                      <a:noFill/>
                    </a:lnT>
                    <a:lnB w="9525" cap="flat" cmpd="sng" algn="ctr">
                      <a:solidFill>
                        <a:srgbClr val="DCD8C8"/>
                      </a:solidFill>
                      <a:prstDash val="solid"/>
                      <a:round/>
                      <a:headEnd type="none" w="med" len="med"/>
                      <a:tailEnd type="none" w="med" len="med"/>
                    </a:lnB>
                    <a:solidFill>
                      <a:srgbClr val="F5F4EC"/>
                    </a:solidFill>
                  </a:tcPr>
                </a:tc>
                <a:tc>
                  <a:txBody>
                    <a:bodyPr/>
                    <a:lstStyle/>
                    <a:p>
                      <a:pPr indent="0" marL="0">
                        <a:buNone/>
                      </a:pPr>
                      <a:r>
                        <a:rPr lang="en-US" sz="1200" dirty="0">
                          <a:solidFill>
                            <a:schemeClr val="tx1"/>
                          </a:solidFill>
                        </a:rPr>
                        <a:t>≥ 3°</a:t>
                      </a:r>
                      <a:endParaRPr lang="en-US" sz="1200" dirty="0"/>
                    </a:p>
                  </a:txBody>
                  <a:tcPr marL="73152" marR="73152" marT="45720" marB="45720" anchor="ctr">
                    <a:lnL w="0" cap="flat" cmpd="sng" algn="ctr">
                      <a:noFill/>
                    </a:lnL>
                    <a:lnR w="0" cap="flat" cmpd="sng" algn="ctr">
                      <a:noFill/>
                    </a:lnR>
                    <a:lnT w="0" cap="flat" cmpd="sng" algn="ctr">
                      <a:noFill/>
                    </a:lnT>
                    <a:lnB w="9525" cap="flat" cmpd="sng" algn="ctr">
                      <a:solidFill>
                        <a:srgbClr val="DCD8C8"/>
                      </a:solidFill>
                      <a:prstDash val="solid"/>
                      <a:round/>
                      <a:headEnd type="none" w="med" len="med"/>
                      <a:tailEnd type="none" w="med" len="med"/>
                    </a:lnB>
                    <a:solidFill>
                      <a:srgbClr val="F5F4EC"/>
                    </a:solidFill>
                  </a:tcPr>
                </a:tc>
                <a:tc>
                  <a:txBody>
                    <a:bodyPr/>
                    <a:lstStyle/>
                    <a:p>
                      <a:pPr indent="0" marL="0">
                        <a:buNone/>
                      </a:pPr>
                      <a:r>
                        <a:rPr lang="en-US" sz="1200" dirty="0">
                          <a:solidFill>
                            <a:schemeClr val="tx1"/>
                          </a:solidFill>
                        </a:rPr>
                        <a:t>≥ 6°</a:t>
                      </a:r>
                      <a:endParaRPr lang="en-US" sz="1200" dirty="0"/>
                    </a:p>
                  </a:txBody>
                  <a:tcPr marL="73152" marR="73152" marT="45720" marB="45720" anchor="ctr">
                    <a:lnL w="0" cap="flat" cmpd="sng" algn="ctr">
                      <a:noFill/>
                    </a:lnL>
                    <a:lnR w="0" cap="flat" cmpd="sng" algn="ctr">
                      <a:noFill/>
                    </a:lnR>
                    <a:lnT w="0" cap="flat" cmpd="sng" algn="ctr">
                      <a:noFill/>
                    </a:lnT>
                    <a:lnB w="9525" cap="flat" cmpd="sng" algn="ctr">
                      <a:solidFill>
                        <a:srgbClr val="DCD8C8"/>
                      </a:solidFill>
                      <a:prstDash val="solid"/>
                      <a:round/>
                      <a:headEnd type="none" w="med" len="med"/>
                      <a:tailEnd type="none" w="med" len="med"/>
                    </a:lnB>
                    <a:solidFill>
                      <a:srgbClr val="F5F4EC"/>
                    </a:solidFill>
                  </a:tcPr>
                </a:tc>
                <a:tc>
                  <a:txBody>
                    <a:bodyPr/>
                    <a:lstStyle/>
                    <a:p>
                      <a:pPr indent="0" marL="0">
                        <a:buNone/>
                      </a:pPr>
                      <a:r>
                        <a:rPr lang="en-US" sz="1200" dirty="0">
                          <a:solidFill>
                            <a:schemeClr val="tx1"/>
                          </a:solidFill>
                        </a:rPr>
                        <a:t>≥ 10°</a:t>
                      </a:r>
                      <a:endParaRPr lang="en-US" sz="1200" dirty="0"/>
                    </a:p>
                  </a:txBody>
                  <a:tcPr marL="73152" marR="73152" marT="45720" marB="45720" anchor="ctr">
                    <a:lnL w="0" cap="flat" cmpd="sng" algn="ctr">
                      <a:noFill/>
                    </a:lnL>
                    <a:lnR w="0" cap="flat" cmpd="sng" algn="ctr">
                      <a:noFill/>
                    </a:lnR>
                    <a:lnT w="0" cap="flat" cmpd="sng" algn="ctr">
                      <a:noFill/>
                    </a:lnT>
                    <a:lnB w="9525" cap="flat" cmpd="sng" algn="ctr">
                      <a:solidFill>
                        <a:srgbClr val="DCD8C8"/>
                      </a:solidFill>
                      <a:prstDash val="solid"/>
                      <a:round/>
                      <a:headEnd type="none" w="med" len="med"/>
                      <a:tailEnd type="none" w="med" len="med"/>
                    </a:lnB>
                    <a:solidFill>
                      <a:srgbClr val="F5F4EC"/>
                    </a:solidFill>
                  </a:tcPr>
                </a:tc>
                <a:tc>
                  <a:txBody>
                    <a:bodyPr/>
                    <a:lstStyle/>
                    <a:p>
                      <a:pPr indent="0" marL="0">
                        <a:buNone/>
                      </a:pPr>
                      <a:r>
                        <a:rPr lang="en-US" sz="1200" b="1" dirty="0">
                          <a:solidFill>
                            <a:schemeClr val="accent5"/>
                          </a:solidFill>
                        </a:rPr>
                        <a:t>Beginner</a:t>
                      </a:r>
                      <a:endParaRPr lang="en-US" sz="1200" dirty="0"/>
                    </a:p>
                  </a:txBody>
                  <a:tcPr marL="73152" marR="73152" marT="45720" marB="45720" anchor="ctr">
                    <a:lnL w="0" cap="flat" cmpd="sng" algn="ctr">
                      <a:noFill/>
                    </a:lnL>
                    <a:lnR w="0" cap="flat" cmpd="sng" algn="ctr">
                      <a:noFill/>
                    </a:lnR>
                    <a:lnT w="0" cap="flat" cmpd="sng" algn="ctr">
                      <a:noFill/>
                    </a:lnT>
                    <a:lnB w="9525" cap="flat" cmpd="sng" algn="ctr">
                      <a:solidFill>
                        <a:srgbClr val="DCD8C8"/>
                      </a:solidFill>
                      <a:prstDash val="solid"/>
                      <a:round/>
                      <a:headEnd type="none" w="med" len="med"/>
                      <a:tailEnd type="none" w="med" len="med"/>
                    </a:lnB>
                    <a:solidFill>
                      <a:srgbClr val="F5F4EC"/>
                    </a:solidFill>
                  </a:tcPr>
                </a:tc>
              </a:tr>
              <a:tr h="457200">
                <a:tc>
                  <a:txBody>
                    <a:bodyPr/>
                    <a:lstStyle/>
                    <a:p>
                      <a:pPr indent="0" marL="0">
                        <a:buNone/>
                      </a:pPr>
                      <a:r>
                        <a:rPr lang="en-US" sz="1200" dirty="0">
                          <a:solidFill>
                            <a:schemeClr val="tx1"/>
                          </a:solidFill>
                        </a:rPr>
                        <a:t>Shoulders coil past the hips</a:t>
                      </a:r>
                      <a:endParaRPr lang="en-US" sz="1200" dirty="0"/>
                    </a:p>
                  </a:txBody>
                  <a:tcPr marL="73152" marR="73152" marT="45720" marB="45720" anchor="ctr">
                    <a:lnL w="0" cap="flat" cmpd="sng" algn="ctr">
                      <a:noFill/>
                    </a:lnL>
                    <a:lnR w="0" cap="flat" cmpd="sng" algn="ctr">
                      <a:noFill/>
                    </a:lnR>
                    <a:lnT w="0" cap="flat" cmpd="sng" algn="ctr">
                      <a:noFill/>
                    </a:lnT>
                    <a:lnB w="9525" cap="flat" cmpd="sng" algn="ctr">
                      <a:solidFill>
                        <a:srgbClr val="DCD8C8"/>
                      </a:solidFill>
                      <a:prstDash val="solid"/>
                      <a:round/>
                      <a:headEnd type="none" w="med" len="med"/>
                      <a:tailEnd type="none" w="med" len="med"/>
                    </a:lnB>
                    <a:solidFill>
                      <a:srgbClr val="F5F4EC"/>
                    </a:solidFill>
                  </a:tcPr>
                </a:tc>
                <a:tc>
                  <a:txBody>
                    <a:bodyPr/>
                    <a:lstStyle/>
                    <a:p>
                      <a:pPr indent="0" marL="0">
                        <a:buNone/>
                      </a:pPr>
                      <a:r>
                        <a:rPr lang="en-US" sz="1200" dirty="0">
                          <a:solidFill>
                            <a:schemeClr val="tx1"/>
                          </a:solidFill>
                        </a:rPr>
                        <a:t>0.31</a:t>
                      </a:r>
                      <a:endParaRPr lang="en-US" sz="1200" dirty="0"/>
                    </a:p>
                  </a:txBody>
                  <a:tcPr marL="73152" marR="73152" marT="45720" marB="45720" anchor="ctr">
                    <a:lnL w="0" cap="flat" cmpd="sng" algn="ctr">
                      <a:noFill/>
                    </a:lnL>
                    <a:lnR w="0" cap="flat" cmpd="sng" algn="ctr">
                      <a:noFill/>
                    </a:lnR>
                    <a:lnT w="0" cap="flat" cmpd="sng" algn="ctr">
                      <a:noFill/>
                    </a:lnT>
                    <a:lnB w="9525" cap="flat" cmpd="sng" algn="ctr">
                      <a:solidFill>
                        <a:srgbClr val="DCD8C8"/>
                      </a:solidFill>
                      <a:prstDash val="solid"/>
                      <a:round/>
                      <a:headEnd type="none" w="med" len="med"/>
                      <a:tailEnd type="none" w="med" len="med"/>
                    </a:lnB>
                    <a:solidFill>
                      <a:srgbClr val="F5F4EC"/>
                    </a:solidFill>
                  </a:tcPr>
                </a:tc>
                <a:tc>
                  <a:txBody>
                    <a:bodyPr/>
                    <a:lstStyle/>
                    <a:p>
                      <a:pPr indent="0" marL="0">
                        <a:buNone/>
                      </a:pPr>
                      <a:r>
                        <a:rPr lang="en-US" sz="1200" dirty="0">
                          <a:solidFill>
                            <a:schemeClr val="tx1"/>
                          </a:solidFill>
                        </a:rPr>
                        <a:t>≥ 0</a:t>
                      </a:r>
                      <a:endParaRPr lang="en-US" sz="1200" dirty="0"/>
                    </a:p>
                  </a:txBody>
                  <a:tcPr marL="73152" marR="73152" marT="45720" marB="45720" anchor="ctr">
                    <a:lnL w="0" cap="flat" cmpd="sng" algn="ctr">
                      <a:noFill/>
                    </a:lnL>
                    <a:lnR w="0" cap="flat" cmpd="sng" algn="ctr">
                      <a:noFill/>
                    </a:lnR>
                    <a:lnT w="0" cap="flat" cmpd="sng" algn="ctr">
                      <a:noFill/>
                    </a:lnT>
                    <a:lnB w="9525" cap="flat" cmpd="sng" algn="ctr">
                      <a:solidFill>
                        <a:srgbClr val="DCD8C8"/>
                      </a:solidFill>
                      <a:prstDash val="solid"/>
                      <a:round/>
                      <a:headEnd type="none" w="med" len="med"/>
                      <a:tailEnd type="none" w="med" len="med"/>
                    </a:lnB>
                    <a:solidFill>
                      <a:srgbClr val="F5F4EC"/>
                    </a:solidFill>
                  </a:tcPr>
                </a:tc>
                <a:tc>
                  <a:txBody>
                    <a:bodyPr/>
                    <a:lstStyle/>
                    <a:p>
                      <a:pPr indent="0" marL="0">
                        <a:buNone/>
                      </a:pPr>
                      <a:r>
                        <a:rPr lang="en-US" sz="1200" dirty="0">
                          <a:solidFill>
                            <a:schemeClr val="tx1"/>
                          </a:solidFill>
                        </a:rPr>
                        <a:t>≥ 0.05</a:t>
                      </a:r>
                      <a:endParaRPr lang="en-US" sz="1200" dirty="0"/>
                    </a:p>
                  </a:txBody>
                  <a:tcPr marL="73152" marR="73152" marT="45720" marB="45720" anchor="ctr">
                    <a:lnL w="0" cap="flat" cmpd="sng" algn="ctr">
                      <a:noFill/>
                    </a:lnL>
                    <a:lnR w="0" cap="flat" cmpd="sng" algn="ctr">
                      <a:noFill/>
                    </a:lnR>
                    <a:lnT w="0" cap="flat" cmpd="sng" algn="ctr">
                      <a:noFill/>
                    </a:lnT>
                    <a:lnB w="9525" cap="flat" cmpd="sng" algn="ctr">
                      <a:solidFill>
                        <a:srgbClr val="DCD8C8"/>
                      </a:solidFill>
                      <a:prstDash val="solid"/>
                      <a:round/>
                      <a:headEnd type="none" w="med" len="med"/>
                      <a:tailEnd type="none" w="med" len="med"/>
                    </a:lnB>
                    <a:solidFill>
                      <a:srgbClr val="F5F4EC"/>
                    </a:solidFill>
                  </a:tcPr>
                </a:tc>
                <a:tc>
                  <a:txBody>
                    <a:bodyPr/>
                    <a:lstStyle/>
                    <a:p>
                      <a:pPr indent="0" marL="0">
                        <a:buNone/>
                      </a:pPr>
                      <a:r>
                        <a:rPr lang="en-US" sz="1200" dirty="0">
                          <a:solidFill>
                            <a:schemeClr val="tx1"/>
                          </a:solidFill>
                        </a:rPr>
                        <a:t>≥ 0.12</a:t>
                      </a:r>
                      <a:endParaRPr lang="en-US" sz="1200" dirty="0"/>
                    </a:p>
                  </a:txBody>
                  <a:tcPr marL="73152" marR="73152" marT="45720" marB="45720" anchor="ctr">
                    <a:lnL w="0" cap="flat" cmpd="sng" algn="ctr">
                      <a:noFill/>
                    </a:lnL>
                    <a:lnR w="0" cap="flat" cmpd="sng" algn="ctr">
                      <a:noFill/>
                    </a:lnR>
                    <a:lnT w="0" cap="flat" cmpd="sng" algn="ctr">
                      <a:noFill/>
                    </a:lnT>
                    <a:lnB w="9525" cap="flat" cmpd="sng" algn="ctr">
                      <a:solidFill>
                        <a:srgbClr val="DCD8C8"/>
                      </a:solidFill>
                      <a:prstDash val="solid"/>
                      <a:round/>
                      <a:headEnd type="none" w="med" len="med"/>
                      <a:tailEnd type="none" w="med" len="med"/>
                    </a:lnB>
                    <a:solidFill>
                      <a:srgbClr val="F5F4EC"/>
                    </a:solidFill>
                  </a:tcPr>
                </a:tc>
                <a:tc>
                  <a:txBody>
                    <a:bodyPr/>
                    <a:lstStyle/>
                    <a:p>
                      <a:pPr indent="0" marL="0">
                        <a:buNone/>
                      </a:pPr>
                      <a:r>
                        <a:rPr lang="en-US" sz="1200" b="1" dirty="0">
                          <a:solidFill>
                            <a:schemeClr val="accent1"/>
                          </a:solidFill>
                        </a:rPr>
                        <a:t>Club</a:t>
                      </a:r>
                      <a:endParaRPr lang="en-US" sz="1200" dirty="0"/>
                    </a:p>
                  </a:txBody>
                  <a:tcPr marL="73152" marR="73152" marT="45720" marB="45720" anchor="ctr">
                    <a:lnL w="0" cap="flat" cmpd="sng" algn="ctr">
                      <a:noFill/>
                    </a:lnL>
                    <a:lnR w="0" cap="flat" cmpd="sng" algn="ctr">
                      <a:noFill/>
                    </a:lnR>
                    <a:lnT w="0" cap="flat" cmpd="sng" algn="ctr">
                      <a:noFill/>
                    </a:lnT>
                    <a:lnB w="9525" cap="flat" cmpd="sng" algn="ctr">
                      <a:solidFill>
                        <a:srgbClr val="DCD8C8"/>
                      </a:solidFill>
                      <a:prstDash val="solid"/>
                      <a:round/>
                      <a:headEnd type="none" w="med" len="med"/>
                      <a:tailEnd type="none" w="med" len="med"/>
                    </a:lnB>
                    <a:solidFill>
                      <a:srgbClr val="F5F4EC"/>
                    </a:solidFill>
                  </a:tcPr>
                </a:tc>
              </a:tr>
            </a:tbl>
          </a:graphicData>
        </a:graphic>
      </p:graphicFrame>
      <p:sp>
        <p:nvSpPr>
          <p:cNvPr id="6" name="Text 3"/>
          <p:cNvSpPr txBox="1"/>
          <p:nvPr/>
        </p:nvSpPr>
        <p:spPr>
          <a:xfrm>
            <a:off x="777240" y="4800600"/>
            <a:ext cx="6583680" cy="365760"/>
          </a:xfrm>
          <a:prstGeom prst="rect">
            <a:avLst/>
          </a:prstGeom>
          <a:noFill/>
          <a:ln/>
        </p:spPr>
        <p:txBody>
          <a:bodyPr wrap="square" lIns="0" tIns="0" rIns="0" bIns="0" rtlCol="0" anchor="t"/>
          <a:lstStyle/>
          <a:p>
            <a:pPr indent="0" marL="0">
              <a:buNone/>
            </a:pPr>
            <a:r>
              <a:rPr lang="en-US" sz="1400" b="1" dirty="0">
                <a:solidFill>
                  <a:schemeClr val="accent2"/>
                </a:solidFill>
              </a:rPr>
              <a:t>Scores for this forehand: </a:t>
            </a:r>
            <a:pPr indent="0" marL="0">
              <a:buNone/>
            </a:pPr>
            <a:r>
              <a:rPr lang="en-US" sz="1400" dirty="0">
                <a:solidFill>
                  <a:schemeClr val="tx1"/>
                </a:solidFill>
              </a:rPr>
              <a:t>91 Beginner, 68 Intermediate, 56 Club.</a:t>
            </a:r>
            <a:endParaRPr lang="en-US" sz="1400" dirty="0"/>
          </a:p>
        </p:txBody>
      </p:sp>
      <p:sp>
        <p:nvSpPr>
          <p:cNvPr id="7" name="Text 4"/>
          <p:cNvSpPr txBox="1"/>
          <p:nvPr/>
        </p:nvSpPr>
        <p:spPr>
          <a:xfrm>
            <a:off x="777240" y="5212080"/>
            <a:ext cx="6583680" cy="640080"/>
          </a:xfrm>
          <a:prstGeom prst="rect">
            <a:avLst/>
          </a:prstGeom>
          <a:noFill/>
          <a:ln/>
        </p:spPr>
        <p:txBody>
          <a:bodyPr wrap="square" lIns="0" tIns="0" rIns="0" bIns="0" rtlCol="0" anchor="t"/>
          <a:lstStyle/>
          <a:p>
            <a:pPr indent="0" marL="0">
              <a:buNone/>
            </a:pPr>
            <a:r>
              <a:rPr lang="en-US" sz="1200" dirty="0">
                <a:solidFill>
                  <a:schemeClr val="accent3"/>
                </a:solidFill>
              </a:rPr>
              <a:t>Club level adds joint analysis: hip-shoulder coil, kinetic chain, steady spine and head, split step, weight transfer, left-arm tuck, knee bend at contact.</a:t>
            </a:r>
            <a:endParaRPr lang="en-US" sz="1200" dirty="0"/>
          </a:p>
        </p:txBody>
      </p:sp>
      <p:sp>
        <p:nvSpPr>
          <p:cNvPr id="8" name="coach note"/>
          <p:cNvSpPr/>
          <p:nvPr/>
        </p:nvSpPr>
        <p:spPr>
          <a:xfrm>
            <a:off x="7726680" y="1828800"/>
            <a:ext cx="3703320" cy="4069080"/>
          </a:xfrm>
          <a:prstGeom prst="rect">
            <a:avLst/>
          </a:prstGeom>
          <a:solidFill>
            <a:srgbClr val="FCFBF6"/>
          </a:solidFill>
          <a:ln w="12700">
            <a:solidFill>
              <a:srgbClr val="3F6B3A"/>
            </a:solidFill>
            <a:prstDash val="solid"/>
          </a:ln>
        </p:spPr>
      </p:sp>
      <p:sp>
        <p:nvSpPr>
          <p:cNvPr id="9" name="Shape 6"/>
          <p:cNvSpPr/>
          <p:nvPr/>
        </p:nvSpPr>
        <p:spPr>
          <a:xfrm>
            <a:off x="7836408" y="1828800"/>
            <a:ext cx="0" cy="4069080"/>
          </a:xfrm>
          <a:prstGeom prst="line">
            <a:avLst/>
          </a:prstGeom>
          <a:noFill/>
          <a:ln w="6350">
            <a:solidFill>
              <a:srgbClr val="3F6B3A"/>
            </a:solidFill>
            <a:prstDash val="solid"/>
          </a:ln>
        </p:spPr>
      </p:sp>
      <p:sp>
        <p:nvSpPr>
          <p:cNvPr id="10" name="Shape 7"/>
          <p:cNvSpPr/>
          <p:nvPr/>
        </p:nvSpPr>
        <p:spPr>
          <a:xfrm>
            <a:off x="11320272" y="1828800"/>
            <a:ext cx="0" cy="4069080"/>
          </a:xfrm>
          <a:prstGeom prst="line">
            <a:avLst/>
          </a:prstGeom>
          <a:noFill/>
          <a:ln w="6350">
            <a:solidFill>
              <a:srgbClr val="3F6B3A"/>
            </a:solidFill>
            <a:prstDash val="solid"/>
          </a:ln>
        </p:spPr>
      </p:sp>
      <p:sp>
        <p:nvSpPr>
          <p:cNvPr id="11" name="Text 8"/>
          <p:cNvSpPr txBox="1"/>
          <p:nvPr/>
        </p:nvSpPr>
        <p:spPr>
          <a:xfrm>
            <a:off x="8001000" y="1965960"/>
            <a:ext cx="3200400" cy="365760"/>
          </a:xfrm>
          <a:prstGeom prst="rect">
            <a:avLst/>
          </a:prstGeom>
          <a:noFill/>
          <a:ln/>
        </p:spPr>
        <p:txBody>
          <a:bodyPr wrap="square" lIns="0" tIns="0" rIns="0" bIns="0" rtlCol="0" anchor="t"/>
          <a:lstStyle/>
          <a:p>
            <a:pPr indent="0" marL="0">
              <a:buNone/>
            </a:pPr>
            <a:r>
              <a:rPr lang="en-US" sz="1800" b="1" dirty="0">
                <a:solidFill>
                  <a:schemeClr val="accent2"/>
                </a:solidFill>
                <a:latin typeface="Cormorant Garamond" pitchFamily="34" charset="0"/>
                <a:ea typeface="Cormorant Garamond" pitchFamily="34" charset="-122"/>
                <a:cs typeface="Cormorant Garamond" pitchFamily="34" charset="-120"/>
              </a:rPr>
              <a:t>What the coach says</a:t>
            </a:r>
            <a:endParaRPr lang="en-US" sz="1800" dirty="0"/>
          </a:p>
        </p:txBody>
      </p:sp>
      <p:sp>
        <p:nvSpPr>
          <p:cNvPr id="12" name="Text 9"/>
          <p:cNvSpPr txBox="1"/>
          <p:nvPr/>
        </p:nvSpPr>
        <p:spPr>
          <a:xfrm>
            <a:off x="8001000" y="2450592"/>
            <a:ext cx="3200400" cy="274320"/>
          </a:xfrm>
          <a:prstGeom prst="rect">
            <a:avLst/>
          </a:prstGeom>
          <a:noFill/>
          <a:ln/>
        </p:spPr>
        <p:txBody>
          <a:bodyPr wrap="square" lIns="0" tIns="0" rIns="0" bIns="0" rtlCol="0" anchor="t"/>
          <a:lstStyle/>
          <a:p>
            <a:pPr indent="0" marL="0">
              <a:buNone/>
            </a:pPr>
            <a:r>
              <a:rPr lang="en-US" sz="1200" b="1" dirty="0">
                <a:solidFill>
                  <a:schemeClr val="accent1"/>
                </a:solidFill>
              </a:rPr>
              <a:t>Beginner</a:t>
            </a:r>
            <a:endParaRPr lang="en-US" sz="1200" dirty="0"/>
          </a:p>
        </p:txBody>
      </p:sp>
      <p:sp>
        <p:nvSpPr>
          <p:cNvPr id="13" name="Text 10"/>
          <p:cNvSpPr txBox="1"/>
          <p:nvPr/>
        </p:nvSpPr>
        <p:spPr>
          <a:xfrm>
            <a:off x="8001000" y="2724912"/>
            <a:ext cx="3200400" cy="786384"/>
          </a:xfrm>
          <a:prstGeom prst="rect">
            <a:avLst/>
          </a:prstGeom>
          <a:noFill/>
          <a:ln/>
        </p:spPr>
        <p:txBody>
          <a:bodyPr wrap="square" lIns="0" tIns="0" rIns="0" bIns="0" rtlCol="0" anchor="t"/>
          <a:lstStyle/>
          <a:p>
            <a:pPr indent="0" marL="0">
              <a:buNone/>
            </a:pPr>
            <a:r>
              <a:rPr lang="en-US" sz="1150" dirty="0">
                <a:solidFill>
                  <a:schemeClr val="tx1"/>
                </a:solidFill>
              </a:rPr>
              <a:t>Well done: contact in front, ball not above your head, turned sideways, finish over the shoulder, balanced.</a:t>
            </a:r>
            <a:endParaRPr lang="en-US" sz="1150" dirty="0"/>
          </a:p>
        </p:txBody>
      </p:sp>
      <p:sp>
        <p:nvSpPr>
          <p:cNvPr id="14" name="Text 11"/>
          <p:cNvSpPr txBox="1"/>
          <p:nvPr/>
        </p:nvSpPr>
        <p:spPr>
          <a:xfrm>
            <a:off x="8001000" y="3529584"/>
            <a:ext cx="3200400" cy="274320"/>
          </a:xfrm>
          <a:prstGeom prst="rect">
            <a:avLst/>
          </a:prstGeom>
          <a:noFill/>
          <a:ln/>
        </p:spPr>
        <p:txBody>
          <a:bodyPr wrap="square" lIns="0" tIns="0" rIns="0" bIns="0" rtlCol="0" anchor="t"/>
          <a:lstStyle/>
          <a:p>
            <a:pPr indent="0" marL="0">
              <a:buNone/>
            </a:pPr>
            <a:r>
              <a:rPr lang="en-US" sz="1200" b="1" dirty="0">
                <a:solidFill>
                  <a:schemeClr val="accent1"/>
                </a:solidFill>
              </a:rPr>
              <a:t>Intermediate</a:t>
            </a:r>
            <a:endParaRPr lang="en-US" sz="1200" dirty="0"/>
          </a:p>
        </p:txBody>
      </p:sp>
      <p:sp>
        <p:nvSpPr>
          <p:cNvPr id="15" name="Text 12"/>
          <p:cNvSpPr txBox="1"/>
          <p:nvPr/>
        </p:nvSpPr>
        <p:spPr>
          <a:xfrm>
            <a:off x="8001000" y="3803904"/>
            <a:ext cx="3200400" cy="786384"/>
          </a:xfrm>
          <a:prstGeom prst="rect">
            <a:avLst/>
          </a:prstGeom>
          <a:noFill/>
          <a:ln/>
        </p:spPr>
        <p:txBody>
          <a:bodyPr wrap="square" lIns="0" tIns="0" rIns="0" bIns="0" rtlCol="0" anchor="t"/>
          <a:lstStyle/>
          <a:p>
            <a:pPr indent="0" marL="0">
              <a:buNone/>
            </a:pPr>
            <a:r>
              <a:rPr lang="en-US" sz="1150" dirty="0">
                <a:solidFill>
                  <a:schemeClr val="tx1"/>
                </a:solidFill>
              </a:rPr>
              <a:t>Keep your head at the same height from the backswing through contact.</a:t>
            </a:r>
            <a:endParaRPr lang="en-US" sz="1150" dirty="0"/>
          </a:p>
        </p:txBody>
      </p:sp>
      <p:sp>
        <p:nvSpPr>
          <p:cNvPr id="16" name="Text 13"/>
          <p:cNvSpPr txBox="1"/>
          <p:nvPr/>
        </p:nvSpPr>
        <p:spPr>
          <a:xfrm>
            <a:off x="8001000" y="4608576"/>
            <a:ext cx="3200400" cy="274320"/>
          </a:xfrm>
          <a:prstGeom prst="rect">
            <a:avLst/>
          </a:prstGeom>
          <a:noFill/>
          <a:ln/>
        </p:spPr>
        <p:txBody>
          <a:bodyPr wrap="square" lIns="0" tIns="0" rIns="0" bIns="0" rtlCol="0" anchor="t"/>
          <a:lstStyle/>
          <a:p>
            <a:pPr indent="0" marL="0">
              <a:buNone/>
            </a:pPr>
            <a:r>
              <a:rPr lang="en-US" sz="1200" b="1" dirty="0">
                <a:solidFill>
                  <a:schemeClr val="accent1"/>
                </a:solidFill>
              </a:rPr>
              <a:t>Club</a:t>
            </a:r>
            <a:endParaRPr lang="en-US" sz="1200" dirty="0"/>
          </a:p>
        </p:txBody>
      </p:sp>
      <p:sp>
        <p:nvSpPr>
          <p:cNvPr id="17" name="Text 14"/>
          <p:cNvSpPr txBox="1"/>
          <p:nvPr/>
        </p:nvSpPr>
        <p:spPr>
          <a:xfrm>
            <a:off x="8001000" y="4882896"/>
            <a:ext cx="3200400" cy="786384"/>
          </a:xfrm>
          <a:prstGeom prst="rect">
            <a:avLst/>
          </a:prstGeom>
          <a:noFill/>
          <a:ln/>
        </p:spPr>
        <p:txBody>
          <a:bodyPr wrap="square" lIns="0" tIns="0" rIns="0" bIns="0" rtlCol="0" anchor="t"/>
          <a:lstStyle/>
          <a:p>
            <a:pPr indent="0" marL="0">
              <a:buNone/>
            </a:pPr>
            <a:r>
              <a:rPr lang="en-US" sz="1150" dirty="0">
                <a:solidFill>
                  <a:schemeClr val="tx1"/>
                </a:solidFill>
              </a:rPr>
              <a:t>Move forward to meet the ball (0.86 s; club ≤ 0.8 s). Head level (0.13 m; club ≤ 0.07 m). Stay down through the ball (4°; club ≥ 10°). Hips before arm.</a:t>
            </a:r>
            <a:endParaRPr lang="en-US" sz="1150" dirty="0"/>
          </a:p>
        </p:txBody>
      </p:sp>
      <p:sp>
        <p:nvSpPr>
          <p:cNvPr id="25" name="Slide Number Placeholder 0"/>
          <p:cNvSpPr>
            <a:spLocks noGrp="1"/>
          </p:cNvSpPr>
          <p:nvPr>
            <p:ph type="sldNum" sz="quarter" idx="4294967295"/>
          </p:nvPr>
        </p:nvSpPr>
        <p:spPr>
          <a:xfrm>
            <a:off x="10927080" y="6108192"/>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C6B4F"/>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5"/>
          <p:cNvSpPr/>
          <p:nvPr>
            <p:ph idx="106" type="body" hasCustomPrompt="1"/>
          </p:nvPr>
        </p:nvSpPr>
        <p:spPr>
          <a:xfrm>
            <a:off x="777240" y="566928"/>
            <a:ext cx="8229600" cy="274320"/>
          </a:xfrm>
          <a:prstGeom prst="rect">
            <a:avLst/>
          </a:prstGeom>
          <a:noFill/>
          <a:ln/>
        </p:spPr>
        <p:txBody>
          <a:bodyPr wrap="square" lIns="0" tIns="0" rIns="0" bIns="0" rtlCol="0" anchor="t"/>
          <a:lstStyle/>
          <a:p>
            <a:pPr indent="0" marL="0">
              <a:buNone/>
            </a:pPr>
            <a:r>
              <a:rPr lang="en-US" sz="1200" i="1" dirty="0">
                <a:solidFill>
                  <a:schemeClr val="accent3"/>
                </a:solidFill>
              </a:rPr>
              <a:t>Demo result: serve</a:t>
            </a:r>
            <a:endParaRPr lang="en-US" sz="1200" dirty="0"/>
          </a:p>
        </p:txBody>
      </p:sp>
      <p:sp>
        <p:nvSpPr>
          <p:cNvPr id="3" name="Text 5"/>
          <p:cNvSpPr/>
          <p:nvPr>
            <p:ph idx="107" type="title" hasCustomPrompt="1"/>
          </p:nvPr>
        </p:nvSpPr>
        <p:spPr>
          <a:xfrm>
            <a:off x="777240" y="841248"/>
            <a:ext cx="9966960" cy="914400"/>
          </a:xfrm>
          <a:prstGeom prst="rect">
            <a:avLst/>
          </a:prstGeom>
          <a:noFill/>
          <a:ln/>
        </p:spPr>
        <p:txBody>
          <a:bodyPr wrap="square" lIns="0" tIns="0" rIns="0" bIns="0" rtlCol="0" anchor="t"/>
          <a:lstStyle/>
          <a:p>
            <a:pPr algn="l" indent="0" marL="0">
              <a:buNone/>
            </a:pPr>
            <a:r>
              <a:rPr lang="en-US" sz="2800" b="1" dirty="0">
                <a:solidFill>
                  <a:schemeClr val="accent2"/>
                </a:solidFill>
                <a:latin typeface="Cormorant Garamond" pitchFamily="34" charset="0"/>
                <a:ea typeface="Cormorant Garamond" pitchFamily="34" charset="-122"/>
                <a:cs typeface="Cormorant Garamond" pitchFamily="34" charset="-120"/>
              </a:rPr>
              <a:t>Serve: the toss, the exact contact moment and the heights that matter, from a low-resolution phone clip</a:t>
            </a:r>
            <a:endParaRPr lang="en-US" sz="2800" dirty="0"/>
          </a:p>
        </p:txBody>
      </p:sp>
      <p:sp>
        <p:nvSpPr>
          <p:cNvPr id="4" name="Text 5"/>
          <p:cNvSpPr/>
          <p:nvPr>
            <p:ph idx="108" type="body" hasCustomPrompt="1"/>
          </p:nvPr>
        </p:nvSpPr>
        <p:spPr>
          <a:xfrm>
            <a:off x="777240" y="6108192"/>
            <a:ext cx="9875520" cy="274320"/>
          </a:xfrm>
          <a:prstGeom prst="rect">
            <a:avLst/>
          </a:prstGeom>
          <a:noFill/>
          <a:ln/>
        </p:spPr>
        <p:txBody>
          <a:bodyPr wrap="square" lIns="0" tIns="0" rIns="0" bIns="0" rtlCol="0" anchor="t"/>
          <a:lstStyle/>
          <a:p>
            <a:pPr indent="0" marL="0">
              <a:buNone/>
            </a:pPr>
            <a:r>
              <a:rPr lang="en-US" sz="1000" dirty="0">
                <a:solidFill>
                  <a:schemeClr val="accent3"/>
                </a:solidFill>
              </a:rPr>
              <a:t>Clip IMG_3025: phone, 30 fps, player about 86 px tall. Heights scaled from the entered height (1.80 m); ball speed is a lower bound</a:t>
            </a:r>
            <a:endParaRPr lang="en-US" sz="1000" dirty="0"/>
          </a:p>
        </p:txBody>
      </p:sp>
      <p:pic>
        <p:nvPicPr>
          <p:cNvPr id="5" name="serve key moments" descr="preencoded.png">    </p:cNvPr>
          <p:cNvPicPr>
            <a:picLocks noChangeAspect="1"/>
          </p:cNvPicPr>
          <p:nvPr/>
        </p:nvPicPr>
        <p:blipFill>
          <a:blip r:embed="rId1"/>
          <a:stretch>
            <a:fillRect/>
          </a:stretch>
        </p:blipFill>
        <p:spPr>
          <a:xfrm>
            <a:off x="777240" y="1783080"/>
            <a:ext cx="7680960" cy="2560320"/>
          </a:xfrm>
          <a:prstGeom prst="rect">
            <a:avLst/>
          </a:prstGeom>
        </p:spPr>
      </p:pic>
      <p:sp>
        <p:nvSpPr>
          <p:cNvPr id="6" name="Shape 3"/>
          <p:cNvSpPr/>
          <p:nvPr/>
        </p:nvSpPr>
        <p:spPr>
          <a:xfrm>
            <a:off x="777240" y="1783080"/>
            <a:ext cx="7680960" cy="2560320"/>
          </a:xfrm>
          <a:prstGeom prst="rect">
            <a:avLst/>
          </a:prstGeom>
          <a:ln w="12700">
            <a:solidFill>
              <a:srgbClr val="3F6B3A"/>
            </a:solidFill>
            <a:prstDash val="solid"/>
          </a:ln>
        </p:spPr>
      </p:sp>
      <p:sp>
        <p:nvSpPr>
          <p:cNvPr id="7" name="Text 4"/>
          <p:cNvSpPr txBox="1"/>
          <p:nvPr/>
        </p:nvSpPr>
        <p:spPr>
          <a:xfrm>
            <a:off x="8823960" y="1783080"/>
            <a:ext cx="2560320" cy="384048"/>
          </a:xfrm>
          <a:prstGeom prst="rect">
            <a:avLst/>
          </a:prstGeom>
          <a:noFill/>
          <a:ln/>
        </p:spPr>
        <p:txBody>
          <a:bodyPr wrap="square" lIns="0" tIns="0" rIns="0" bIns="0" rtlCol="0" anchor="t"/>
          <a:lstStyle/>
          <a:p>
            <a:pPr indent="0" marL="0">
              <a:buNone/>
            </a:pPr>
            <a:r>
              <a:rPr lang="en-US" sz="2400" b="1" dirty="0">
                <a:solidFill>
                  <a:schemeClr val="accent2"/>
                </a:solidFill>
                <a:latin typeface="Cormorant Garamond" pitchFamily="34" charset="0"/>
                <a:ea typeface="Cormorant Garamond" pitchFamily="34" charset="-122"/>
                <a:cs typeface="Cormorant Garamond" pitchFamily="34" charset="-120"/>
              </a:rPr>
              <a:t>3.2 m</a:t>
            </a:r>
            <a:endParaRPr lang="en-US" sz="2400" dirty="0"/>
          </a:p>
        </p:txBody>
      </p:sp>
      <p:sp>
        <p:nvSpPr>
          <p:cNvPr id="8" name="Text 5"/>
          <p:cNvSpPr txBox="1"/>
          <p:nvPr/>
        </p:nvSpPr>
        <p:spPr>
          <a:xfrm>
            <a:off x="8823960" y="2148840"/>
            <a:ext cx="2560320" cy="274320"/>
          </a:xfrm>
          <a:prstGeom prst="rect">
            <a:avLst/>
          </a:prstGeom>
          <a:noFill/>
          <a:ln/>
        </p:spPr>
        <p:txBody>
          <a:bodyPr wrap="square" lIns="0" tIns="0" rIns="0" bIns="0" rtlCol="0" anchor="t"/>
          <a:lstStyle/>
          <a:p>
            <a:pPr indent="0" marL="0">
              <a:buNone/>
            </a:pPr>
            <a:r>
              <a:rPr lang="en-US" sz="1100" dirty="0">
                <a:solidFill>
                  <a:schemeClr val="accent3"/>
                </a:solidFill>
              </a:rPr>
              <a:t>contact height, with a jump</a:t>
            </a:r>
            <a:endParaRPr lang="en-US" sz="1100" dirty="0"/>
          </a:p>
        </p:txBody>
      </p:sp>
      <p:sp>
        <p:nvSpPr>
          <p:cNvPr id="9" name="Text 6"/>
          <p:cNvSpPr txBox="1"/>
          <p:nvPr/>
        </p:nvSpPr>
        <p:spPr>
          <a:xfrm>
            <a:off x="8823960" y="2441448"/>
            <a:ext cx="2560320" cy="384048"/>
          </a:xfrm>
          <a:prstGeom prst="rect">
            <a:avLst/>
          </a:prstGeom>
          <a:noFill/>
          <a:ln/>
        </p:spPr>
        <p:txBody>
          <a:bodyPr wrap="square" lIns="0" tIns="0" rIns="0" bIns="0" rtlCol="0" anchor="t"/>
          <a:lstStyle/>
          <a:p>
            <a:pPr indent="0" marL="0">
              <a:buNone/>
            </a:pPr>
            <a:r>
              <a:rPr lang="en-US" sz="2400" b="1" dirty="0">
                <a:solidFill>
                  <a:schemeClr val="accent2"/>
                </a:solidFill>
                <a:latin typeface="Cormorant Garamond" pitchFamily="34" charset="0"/>
                <a:ea typeface="Cormorant Garamond" pitchFamily="34" charset="-122"/>
                <a:cs typeface="Cormorant Garamond" pitchFamily="34" charset="-120"/>
              </a:rPr>
              <a:t>4.2 m</a:t>
            </a:r>
            <a:endParaRPr lang="en-US" sz="2400" dirty="0"/>
          </a:p>
        </p:txBody>
      </p:sp>
      <p:sp>
        <p:nvSpPr>
          <p:cNvPr id="10" name="Text 7"/>
          <p:cNvSpPr txBox="1"/>
          <p:nvPr/>
        </p:nvSpPr>
        <p:spPr>
          <a:xfrm>
            <a:off x="8823960" y="2807208"/>
            <a:ext cx="2560320" cy="274320"/>
          </a:xfrm>
          <a:prstGeom prst="rect">
            <a:avLst/>
          </a:prstGeom>
          <a:noFill/>
          <a:ln/>
        </p:spPr>
        <p:txBody>
          <a:bodyPr wrap="square" lIns="0" tIns="0" rIns="0" bIns="0" rtlCol="0" anchor="t"/>
          <a:lstStyle/>
          <a:p>
            <a:pPr indent="0" marL="0">
              <a:buNone/>
            </a:pPr>
            <a:r>
              <a:rPr lang="en-US" sz="1100" dirty="0">
                <a:solidFill>
                  <a:schemeClr val="accent3"/>
                </a:solidFill>
              </a:rPr>
              <a:t>toss peak</a:t>
            </a:r>
            <a:endParaRPr lang="en-US" sz="1100" dirty="0"/>
          </a:p>
        </p:txBody>
      </p:sp>
      <p:sp>
        <p:nvSpPr>
          <p:cNvPr id="11" name="Text 8"/>
          <p:cNvSpPr txBox="1"/>
          <p:nvPr/>
        </p:nvSpPr>
        <p:spPr>
          <a:xfrm>
            <a:off x="8823960" y="3099816"/>
            <a:ext cx="2560320" cy="384048"/>
          </a:xfrm>
          <a:prstGeom prst="rect">
            <a:avLst/>
          </a:prstGeom>
          <a:noFill/>
          <a:ln/>
        </p:spPr>
        <p:txBody>
          <a:bodyPr wrap="square" lIns="0" tIns="0" rIns="0" bIns="0" rtlCol="0" anchor="t"/>
          <a:lstStyle/>
          <a:p>
            <a:pPr indent="0" marL="0">
              <a:buNone/>
            </a:pPr>
            <a:r>
              <a:rPr lang="en-US" sz="2400" b="1" dirty="0">
                <a:solidFill>
                  <a:schemeClr val="accent2"/>
                </a:solidFill>
                <a:latin typeface="Cormorant Garamond" pitchFamily="34" charset="0"/>
                <a:ea typeface="Cormorant Garamond" pitchFamily="34" charset="-122"/>
                <a:cs typeface="Cormorant Garamond" pitchFamily="34" charset="-120"/>
              </a:rPr>
              <a:t>≥ 99 km/h</a:t>
            </a:r>
            <a:endParaRPr lang="en-US" sz="2400" dirty="0"/>
          </a:p>
        </p:txBody>
      </p:sp>
      <p:sp>
        <p:nvSpPr>
          <p:cNvPr id="12" name="Text 9"/>
          <p:cNvSpPr txBox="1"/>
          <p:nvPr/>
        </p:nvSpPr>
        <p:spPr>
          <a:xfrm>
            <a:off x="8823960" y="3465576"/>
            <a:ext cx="2560320" cy="274320"/>
          </a:xfrm>
          <a:prstGeom prst="rect">
            <a:avLst/>
          </a:prstGeom>
          <a:noFill/>
          <a:ln/>
        </p:spPr>
        <p:txBody>
          <a:bodyPr wrap="square" lIns="0" tIns="0" rIns="0" bIns="0" rtlCol="0" anchor="t"/>
          <a:lstStyle/>
          <a:p>
            <a:pPr indent="0" marL="0">
              <a:buNone/>
            </a:pPr>
            <a:r>
              <a:rPr lang="en-US" sz="1100" dirty="0">
                <a:solidFill>
                  <a:schemeClr val="accent3"/>
                </a:solidFill>
              </a:rPr>
              <a:t>ball speed off the racquet</a:t>
            </a:r>
            <a:endParaRPr lang="en-US" sz="1100" dirty="0"/>
          </a:p>
        </p:txBody>
      </p:sp>
      <p:sp>
        <p:nvSpPr>
          <p:cNvPr id="13" name="Text 10"/>
          <p:cNvSpPr txBox="1"/>
          <p:nvPr/>
        </p:nvSpPr>
        <p:spPr>
          <a:xfrm>
            <a:off x="8823960" y="3758184"/>
            <a:ext cx="2560320" cy="384048"/>
          </a:xfrm>
          <a:prstGeom prst="rect">
            <a:avLst/>
          </a:prstGeom>
          <a:noFill/>
          <a:ln/>
        </p:spPr>
        <p:txBody>
          <a:bodyPr wrap="square" lIns="0" tIns="0" rIns="0" bIns="0" rtlCol="0" anchor="t"/>
          <a:lstStyle/>
          <a:p>
            <a:pPr indent="0" marL="0">
              <a:buNone/>
            </a:pPr>
            <a:r>
              <a:rPr lang="en-US" sz="2400" b="1" dirty="0">
                <a:solidFill>
                  <a:schemeClr val="accent2"/>
                </a:solidFill>
                <a:latin typeface="Cormorant Garamond" pitchFamily="34" charset="0"/>
                <a:ea typeface="Cormorant Garamond" pitchFamily="34" charset="-122"/>
                <a:cs typeface="Cormorant Garamond" pitchFamily="34" charset="-120"/>
              </a:rPr>
              <a:t>Frame 50.5</a:t>
            </a:r>
            <a:endParaRPr lang="en-US" sz="2400" dirty="0"/>
          </a:p>
        </p:txBody>
      </p:sp>
      <p:sp>
        <p:nvSpPr>
          <p:cNvPr id="14" name="Text 11"/>
          <p:cNvSpPr txBox="1"/>
          <p:nvPr/>
        </p:nvSpPr>
        <p:spPr>
          <a:xfrm>
            <a:off x="8823960" y="4123944"/>
            <a:ext cx="2560320" cy="274320"/>
          </a:xfrm>
          <a:prstGeom prst="rect">
            <a:avLst/>
          </a:prstGeom>
          <a:noFill/>
          <a:ln/>
        </p:spPr>
        <p:txBody>
          <a:bodyPr wrap="square" lIns="0" tIns="0" rIns="0" bIns="0" rtlCol="0" anchor="t"/>
          <a:lstStyle/>
          <a:p>
            <a:pPr indent="0" marL="0">
              <a:buNone/>
            </a:pPr>
            <a:r>
              <a:rPr lang="en-US" sz="1100" dirty="0">
                <a:solidFill>
                  <a:schemeClr val="accent3"/>
                </a:solidFill>
              </a:rPr>
              <a:t>contact, same as the manual check</a:t>
            </a:r>
            <a:endParaRPr lang="en-US" sz="1100" dirty="0"/>
          </a:p>
        </p:txBody>
      </p:sp>
      <p:sp>
        <p:nvSpPr>
          <p:cNvPr id="15" name="Shape 12"/>
          <p:cNvSpPr/>
          <p:nvPr/>
        </p:nvSpPr>
        <p:spPr>
          <a:xfrm>
            <a:off x="777240" y="4617720"/>
            <a:ext cx="10607040" cy="0"/>
          </a:xfrm>
          <a:prstGeom prst="line">
            <a:avLst/>
          </a:prstGeom>
          <a:noFill/>
          <a:ln w="12700">
            <a:solidFill>
              <a:srgbClr val="DCD8C8"/>
            </a:solidFill>
            <a:prstDash val="solid"/>
          </a:ln>
        </p:spPr>
      </p:sp>
      <p:sp>
        <p:nvSpPr>
          <p:cNvPr id="16" name="Text 13"/>
          <p:cNvSpPr txBox="1"/>
          <p:nvPr/>
        </p:nvSpPr>
        <p:spPr>
          <a:xfrm>
            <a:off x="777240" y="4754880"/>
            <a:ext cx="1737360" cy="548640"/>
          </a:xfrm>
          <a:prstGeom prst="rect">
            <a:avLst/>
          </a:prstGeom>
          <a:noFill/>
          <a:ln/>
        </p:spPr>
        <p:txBody>
          <a:bodyPr wrap="square" lIns="0" tIns="0" rIns="0" bIns="0" rtlCol="0" anchor="t"/>
          <a:lstStyle/>
          <a:p>
            <a:pPr indent="0" marL="0">
              <a:buNone/>
            </a:pPr>
            <a:r>
              <a:rPr lang="en-US" sz="3400" b="1" dirty="0">
                <a:solidFill>
                  <a:schemeClr val="accent2"/>
                </a:solidFill>
                <a:latin typeface="Cormorant Garamond" pitchFamily="34" charset="0"/>
                <a:ea typeface="Cormorant Garamond" pitchFamily="34" charset="-122"/>
                <a:cs typeface="Cormorant Garamond" pitchFamily="34" charset="-120"/>
              </a:rPr>
              <a:t>68</a:t>
            </a:r>
            <a:endParaRPr lang="en-US" sz="3400" dirty="0"/>
          </a:p>
        </p:txBody>
      </p:sp>
      <p:sp>
        <p:nvSpPr>
          <p:cNvPr id="17" name="Text 14"/>
          <p:cNvSpPr txBox="1"/>
          <p:nvPr/>
        </p:nvSpPr>
        <p:spPr>
          <a:xfrm>
            <a:off x="777240" y="5321808"/>
            <a:ext cx="1737360" cy="274320"/>
          </a:xfrm>
          <a:prstGeom prst="rect">
            <a:avLst/>
          </a:prstGeom>
          <a:noFill/>
          <a:ln/>
        </p:spPr>
        <p:txBody>
          <a:bodyPr wrap="square" lIns="0" tIns="0" rIns="0" bIns="0" rtlCol="0" anchor="t"/>
          <a:lstStyle/>
          <a:p>
            <a:pPr indent="0" marL="0">
              <a:buNone/>
            </a:pPr>
            <a:r>
              <a:rPr lang="en-US" sz="1100" dirty="0">
                <a:solidFill>
                  <a:schemeClr val="accent3"/>
                </a:solidFill>
              </a:rPr>
              <a:t>Beginner score</a:t>
            </a:r>
            <a:endParaRPr lang="en-US" sz="1100" dirty="0"/>
          </a:p>
        </p:txBody>
      </p:sp>
      <p:sp>
        <p:nvSpPr>
          <p:cNvPr id="18" name="Text 15"/>
          <p:cNvSpPr txBox="1"/>
          <p:nvPr/>
        </p:nvSpPr>
        <p:spPr>
          <a:xfrm>
            <a:off x="2697480" y="4754880"/>
            <a:ext cx="1737360" cy="548640"/>
          </a:xfrm>
          <a:prstGeom prst="rect">
            <a:avLst/>
          </a:prstGeom>
          <a:noFill/>
          <a:ln/>
        </p:spPr>
        <p:txBody>
          <a:bodyPr wrap="square" lIns="0" tIns="0" rIns="0" bIns="0" rtlCol="0" anchor="t"/>
          <a:lstStyle/>
          <a:p>
            <a:pPr indent="0" marL="0">
              <a:buNone/>
            </a:pPr>
            <a:r>
              <a:rPr lang="en-US" sz="3400" b="1" dirty="0">
                <a:solidFill>
                  <a:schemeClr val="accent2"/>
                </a:solidFill>
                <a:latin typeface="Cormorant Garamond" pitchFamily="34" charset="0"/>
                <a:ea typeface="Cormorant Garamond" pitchFamily="34" charset="-122"/>
                <a:cs typeface="Cormorant Garamond" pitchFamily="34" charset="-120"/>
              </a:rPr>
              <a:t>67</a:t>
            </a:r>
            <a:endParaRPr lang="en-US" sz="3400" dirty="0"/>
          </a:p>
        </p:txBody>
      </p:sp>
      <p:sp>
        <p:nvSpPr>
          <p:cNvPr id="19" name="Text 16"/>
          <p:cNvSpPr txBox="1"/>
          <p:nvPr/>
        </p:nvSpPr>
        <p:spPr>
          <a:xfrm>
            <a:off x="2697480" y="5321808"/>
            <a:ext cx="1737360" cy="274320"/>
          </a:xfrm>
          <a:prstGeom prst="rect">
            <a:avLst/>
          </a:prstGeom>
          <a:noFill/>
          <a:ln/>
        </p:spPr>
        <p:txBody>
          <a:bodyPr wrap="square" lIns="0" tIns="0" rIns="0" bIns="0" rtlCol="0" anchor="t"/>
          <a:lstStyle/>
          <a:p>
            <a:pPr indent="0" marL="0">
              <a:buNone/>
            </a:pPr>
            <a:r>
              <a:rPr lang="en-US" sz="1100" dirty="0">
                <a:solidFill>
                  <a:schemeClr val="accent3"/>
                </a:solidFill>
              </a:rPr>
              <a:t>Intermediate score</a:t>
            </a:r>
            <a:endParaRPr lang="en-US" sz="1100" dirty="0"/>
          </a:p>
        </p:txBody>
      </p:sp>
      <p:sp>
        <p:nvSpPr>
          <p:cNvPr id="20" name="Text 17"/>
          <p:cNvSpPr txBox="1"/>
          <p:nvPr/>
        </p:nvSpPr>
        <p:spPr>
          <a:xfrm>
            <a:off x="4617720" y="4754880"/>
            <a:ext cx="1737360" cy="548640"/>
          </a:xfrm>
          <a:prstGeom prst="rect">
            <a:avLst/>
          </a:prstGeom>
          <a:noFill/>
          <a:ln/>
        </p:spPr>
        <p:txBody>
          <a:bodyPr wrap="square" lIns="0" tIns="0" rIns="0" bIns="0" rtlCol="0" anchor="t"/>
          <a:lstStyle/>
          <a:p>
            <a:pPr indent="0" marL="0">
              <a:buNone/>
            </a:pPr>
            <a:r>
              <a:rPr lang="en-US" sz="3400" b="1" dirty="0">
                <a:solidFill>
                  <a:schemeClr val="accent2"/>
                </a:solidFill>
                <a:latin typeface="Cormorant Garamond" pitchFamily="34" charset="0"/>
                <a:ea typeface="Cormorant Garamond" pitchFamily="34" charset="-122"/>
                <a:cs typeface="Cormorant Garamond" pitchFamily="34" charset="-120"/>
              </a:rPr>
              <a:t>62</a:t>
            </a:r>
            <a:endParaRPr lang="en-US" sz="3400" dirty="0"/>
          </a:p>
        </p:txBody>
      </p:sp>
      <p:sp>
        <p:nvSpPr>
          <p:cNvPr id="21" name="Text 18"/>
          <p:cNvSpPr txBox="1"/>
          <p:nvPr/>
        </p:nvSpPr>
        <p:spPr>
          <a:xfrm>
            <a:off x="4617720" y="5321808"/>
            <a:ext cx="1737360" cy="274320"/>
          </a:xfrm>
          <a:prstGeom prst="rect">
            <a:avLst/>
          </a:prstGeom>
          <a:noFill/>
          <a:ln/>
        </p:spPr>
        <p:txBody>
          <a:bodyPr wrap="square" lIns="0" tIns="0" rIns="0" bIns="0" rtlCol="0" anchor="t"/>
          <a:lstStyle/>
          <a:p>
            <a:pPr indent="0" marL="0">
              <a:buNone/>
            </a:pPr>
            <a:r>
              <a:rPr lang="en-US" sz="1100" dirty="0">
                <a:solidFill>
                  <a:schemeClr val="accent3"/>
                </a:solidFill>
              </a:rPr>
              <a:t>Club level score</a:t>
            </a:r>
            <a:endParaRPr lang="en-US" sz="1100" dirty="0"/>
          </a:p>
        </p:txBody>
      </p:sp>
      <p:sp>
        <p:nvSpPr>
          <p:cNvPr id="22" name="Text 19"/>
          <p:cNvSpPr txBox="1"/>
          <p:nvPr/>
        </p:nvSpPr>
        <p:spPr>
          <a:xfrm>
            <a:off x="6629400" y="4800600"/>
            <a:ext cx="4754880" cy="822960"/>
          </a:xfrm>
          <a:prstGeom prst="rect">
            <a:avLst/>
          </a:prstGeom>
          <a:noFill/>
          <a:ln/>
        </p:spPr>
        <p:txBody>
          <a:bodyPr wrap="square" lIns="0" tIns="0" rIns="0" bIns="0" rtlCol="0" anchor="t"/>
          <a:lstStyle/>
          <a:p>
            <a:pPr indent="0" marL="0">
              <a:buNone/>
            </a:pPr>
            <a:r>
              <a:rPr lang="en-US" sz="1300" b="1" dirty="0">
                <a:solidFill>
                  <a:schemeClr val="accent2"/>
                </a:solidFill>
              </a:rPr>
              <a:t>Club-level fixes: </a:t>
            </a:r>
            <a:pPr indent="0" marL="0">
              <a:buNone/>
            </a:pPr>
            <a:r>
              <a:rPr lang="en-US" sz="1300" dirty="0">
                <a:solidFill>
                  <a:schemeClr val="tx1"/>
                </a:solidFill>
              </a:rPr>
              <a:t>toss a little lower and more to the hitting side, lean up and into the court at the trophy, land inside the court.</a:t>
            </a:r>
            <a:endParaRPr lang="en-US" sz="1300" dirty="0"/>
          </a:p>
        </p:txBody>
      </p:sp>
      <p:sp>
        <p:nvSpPr>
          <p:cNvPr id="25" name="Slide Number Placeholder 0"/>
          <p:cNvSpPr>
            <a:spLocks noGrp="1"/>
          </p:cNvSpPr>
          <p:nvPr>
            <p:ph type="sldNum" sz="quarter" idx="4294967295"/>
          </p:nvPr>
        </p:nvSpPr>
        <p:spPr>
          <a:xfrm>
            <a:off x="10927080" y="6108192"/>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C6B4F"/>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5"/>
          <p:cNvSpPr/>
          <p:nvPr>
            <p:ph idx="106" type="body" hasCustomPrompt="1"/>
          </p:nvPr>
        </p:nvSpPr>
        <p:spPr>
          <a:xfrm>
            <a:off x="777240" y="566928"/>
            <a:ext cx="8229600" cy="274320"/>
          </a:xfrm>
          <a:prstGeom prst="rect">
            <a:avLst/>
          </a:prstGeom>
          <a:noFill/>
          <a:ln/>
        </p:spPr>
        <p:txBody>
          <a:bodyPr wrap="square" lIns="0" tIns="0" rIns="0" bIns="0" rtlCol="0" anchor="t"/>
          <a:lstStyle/>
          <a:p>
            <a:pPr indent="0" marL="0">
              <a:buNone/>
            </a:pPr>
            <a:r>
              <a:rPr lang="en-US" sz="1200" i="1" dirty="0">
                <a:solidFill>
                  <a:schemeClr val="accent3"/>
                </a:solidFill>
              </a:rPr>
              <a:t>Demo result: forehand</a:t>
            </a:r>
            <a:endParaRPr lang="en-US" sz="1200" dirty="0"/>
          </a:p>
        </p:txBody>
      </p:sp>
      <p:sp>
        <p:nvSpPr>
          <p:cNvPr id="3" name="Text 5"/>
          <p:cNvSpPr/>
          <p:nvPr>
            <p:ph idx="107" type="title" hasCustomPrompt="1"/>
          </p:nvPr>
        </p:nvSpPr>
        <p:spPr>
          <a:xfrm>
            <a:off x="777240" y="841248"/>
            <a:ext cx="9966960" cy="914400"/>
          </a:xfrm>
          <a:prstGeom prst="rect">
            <a:avLst/>
          </a:prstGeom>
          <a:noFill/>
          <a:ln/>
        </p:spPr>
        <p:txBody>
          <a:bodyPr wrap="square" lIns="0" tIns="0" rIns="0" bIns="0" rtlCol="0" anchor="t"/>
          <a:lstStyle/>
          <a:p>
            <a:pPr algn="l" indent="0" marL="0">
              <a:buNone/>
            </a:pPr>
            <a:r>
              <a:rPr lang="en-US" sz="2800" b="1" dirty="0">
                <a:solidFill>
                  <a:schemeClr val="accent2"/>
                </a:solidFill>
                <a:latin typeface="Cormorant Garamond" pitchFamily="34" charset="0"/>
                <a:ea typeface="Cormorant Garamond" pitchFamily="34" charset="-122"/>
                <a:cs typeface="Cormorant Garamond" pitchFamily="34" charset="-120"/>
              </a:rPr>
              <a:t>Forehand: four forehands found in one 15-second clip, the backhand skipped, each scored at every level</a:t>
            </a:r>
            <a:endParaRPr lang="en-US" sz="2800" dirty="0"/>
          </a:p>
        </p:txBody>
      </p:sp>
      <p:sp>
        <p:nvSpPr>
          <p:cNvPr id="4" name="Text 5"/>
          <p:cNvSpPr/>
          <p:nvPr>
            <p:ph idx="108" type="body" hasCustomPrompt="1"/>
          </p:nvPr>
        </p:nvSpPr>
        <p:spPr>
          <a:xfrm>
            <a:off x="777240" y="6108192"/>
            <a:ext cx="9875520" cy="274320"/>
          </a:xfrm>
          <a:prstGeom prst="rect">
            <a:avLst/>
          </a:prstGeom>
          <a:noFill/>
          <a:ln/>
        </p:spPr>
        <p:txBody>
          <a:bodyPr wrap="square" lIns="0" tIns="0" rIns="0" bIns="0" rtlCol="0" anchor="t"/>
          <a:lstStyle/>
          <a:p>
            <a:pPr indent="0" marL="0">
              <a:buNone/>
            </a:pPr>
            <a:r>
              <a:rPr lang="en-US" sz="1000" dirty="0">
                <a:solidFill>
                  <a:schemeClr val="accent3"/>
                </a:solidFill>
              </a:rPr>
              <a:t>Clip forehand_120fps.mp4: 1080p at 120 fps. A stroke counts only when the ball leaves a fast-moving racquet in the swing direction; backhands are recognised and skipped</a:t>
            </a:r>
            <a:endParaRPr lang="en-US" sz="1000" dirty="0"/>
          </a:p>
        </p:txBody>
      </p:sp>
      <p:pic>
        <p:nvPicPr>
          <p:cNvPr id="5" name="forehand key moments" descr="preencoded.png">    </p:cNvPr>
          <p:cNvPicPr>
            <a:picLocks noChangeAspect="1"/>
          </p:cNvPicPr>
          <p:nvPr/>
        </p:nvPicPr>
        <p:blipFill>
          <a:blip r:embed="rId1"/>
          <a:stretch>
            <a:fillRect/>
          </a:stretch>
        </p:blipFill>
        <p:spPr>
          <a:xfrm>
            <a:off x="777240" y="1783080"/>
            <a:ext cx="6309360" cy="2103120"/>
          </a:xfrm>
          <a:prstGeom prst="rect">
            <a:avLst/>
          </a:prstGeom>
        </p:spPr>
      </p:pic>
      <p:sp>
        <p:nvSpPr>
          <p:cNvPr id="6" name="Shape 3"/>
          <p:cNvSpPr/>
          <p:nvPr/>
        </p:nvSpPr>
        <p:spPr>
          <a:xfrm>
            <a:off x="777240" y="1783080"/>
            <a:ext cx="6309360" cy="2103120"/>
          </a:xfrm>
          <a:prstGeom prst="rect">
            <a:avLst/>
          </a:prstGeom>
          <a:ln w="12700">
            <a:solidFill>
              <a:srgbClr val="3F6B3A"/>
            </a:solidFill>
            <a:prstDash val="solid"/>
          </a:ln>
        </p:spPr>
      </p:sp>
      <p:sp>
        <p:nvSpPr>
          <p:cNvPr id="7" name="Text 4"/>
          <p:cNvSpPr txBox="1"/>
          <p:nvPr/>
        </p:nvSpPr>
        <p:spPr>
          <a:xfrm>
            <a:off x="777240" y="3950208"/>
            <a:ext cx="6309360" cy="274320"/>
          </a:xfrm>
          <a:prstGeom prst="rect">
            <a:avLst/>
          </a:prstGeom>
          <a:noFill/>
          <a:ln/>
        </p:spPr>
        <p:txBody>
          <a:bodyPr wrap="square" lIns="0" tIns="0" rIns="0" bIns="0" rtlCol="0" anchor="t"/>
          <a:lstStyle/>
          <a:p>
            <a:pPr indent="0" marL="0">
              <a:buNone/>
            </a:pPr>
            <a:r>
              <a:rPr lang="en-US" sz="1100" i="1" dirty="0">
                <a:solidFill>
                  <a:schemeClr val="accent3"/>
                </a:solidFill>
              </a:rPr>
              <a:t>Forehand 1: white = racquet, star = hitting point, yellow = ball in, orange = ball out</a:t>
            </a:r>
            <a:endParaRPr lang="en-US" sz="1100" dirty="0"/>
          </a:p>
        </p:txBody>
      </p:sp>
      <p:sp>
        <p:nvSpPr>
          <p:cNvPr id="8" name="Text 5"/>
          <p:cNvSpPr txBox="1"/>
          <p:nvPr/>
        </p:nvSpPr>
        <p:spPr>
          <a:xfrm>
            <a:off x="777240" y="4389120"/>
            <a:ext cx="6309360" cy="1280160"/>
          </a:xfrm>
          <a:prstGeom prst="rect">
            <a:avLst/>
          </a:prstGeom>
          <a:noFill/>
          <a:ln/>
        </p:spPr>
        <p:txBody>
          <a:bodyPr wrap="square" lIns="0" tIns="0" rIns="0" bIns="0" rtlCol="0" anchor="t"/>
          <a:lstStyle/>
          <a:p>
            <a:pPr indent="0" marL="0">
              <a:buNone/>
            </a:pPr>
            <a:r>
              <a:rPr lang="en-US" sz="1300" b="1" dirty="0">
                <a:solidFill>
                  <a:schemeClr val="accent2"/>
                </a:solidFill>
              </a:rPr>
              <a:t>What separates the levels: </a:t>
            </a:r>
            <a:pPr indent="0" marL="0">
              <a:buNone/>
            </a:pPr>
            <a:r>
              <a:rPr lang="en-US" sz="1300" dirty="0">
                <a:solidFill>
                  <a:schemeClr val="tx1"/>
                </a:solidFill>
              </a:rPr>
              <a:t>all four forehands pass the Beginner basics. At Club level the head moves 12-16 cm in the swing and the knees are almost straight at contact - typical of an intermediate player.</a:t>
            </a:r>
            <a:endParaRPr lang="en-US" sz="1300" dirty="0"/>
          </a:p>
        </p:txBody>
      </p:sp>
      <p:graphicFrame>
        <p:nvGraphicFramePr>
          <p:cNvPr id="9" name="forehand scores chart" descr=""/>
          <p:cNvGraphicFramePr/>
          <p:nvPr/>
        </p:nvGraphicFramePr>
        <p:xfrm>
          <a:off x="7360920" y="1737360"/>
          <a:ext cx="4069080" cy="4114800"/>
        </p:xfrm>
        <a:graphic xmlns:a="http://schemas.openxmlformats.org/drawingml/2006/main">
          <a:graphicData uri="http://schemas.openxmlformats.org/drawingml/2006/chart">
            <c:chart xmlns:c="http://schemas.openxmlformats.org/drawingml/2006/chart" r:id="rId2"/>
          </a:graphicData>
        </a:graphic>
      </p:graphicFrame>
      <p:sp>
        <p:nvSpPr>
          <p:cNvPr id="25" name="Slide Number Placeholder 0"/>
          <p:cNvSpPr>
            <a:spLocks noGrp="1"/>
          </p:cNvSpPr>
          <p:nvPr>
            <p:ph type="sldNum" sz="quarter" idx="4294967295"/>
          </p:nvPr>
        </p:nvSpPr>
        <p:spPr>
          <a:xfrm>
            <a:off x="10927080" y="6108192"/>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C6B4F"/>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5"/>
          <p:cNvSpPr/>
          <p:nvPr>
            <p:ph idx="106" type="body" hasCustomPrompt="1"/>
          </p:nvPr>
        </p:nvSpPr>
        <p:spPr>
          <a:xfrm>
            <a:off x="777240" y="566928"/>
            <a:ext cx="8229600" cy="274320"/>
          </a:xfrm>
          <a:prstGeom prst="rect">
            <a:avLst/>
          </a:prstGeom>
          <a:noFill/>
          <a:ln/>
        </p:spPr>
        <p:txBody>
          <a:bodyPr wrap="square" lIns="0" tIns="0" rIns="0" bIns="0" rtlCol="0" anchor="t"/>
          <a:lstStyle/>
          <a:p>
            <a:pPr indent="0" marL="0">
              <a:buNone/>
            </a:pPr>
            <a:r>
              <a:rPr lang="en-US" sz="1200" i="1" dirty="0">
                <a:solidFill>
                  <a:schemeClr val="accent3"/>
                </a:solidFill>
              </a:rPr>
              <a:t>Demo experience</a:t>
            </a:r>
            <a:endParaRPr lang="en-US" sz="1200" dirty="0"/>
          </a:p>
        </p:txBody>
      </p:sp>
      <p:sp>
        <p:nvSpPr>
          <p:cNvPr id="3" name="Text 5"/>
          <p:cNvSpPr/>
          <p:nvPr>
            <p:ph idx="107" type="title" hasCustomPrompt="1"/>
          </p:nvPr>
        </p:nvSpPr>
        <p:spPr>
          <a:xfrm>
            <a:off x="777240" y="841248"/>
            <a:ext cx="9966960" cy="914400"/>
          </a:xfrm>
          <a:prstGeom prst="rect">
            <a:avLst/>
          </a:prstGeom>
          <a:noFill/>
          <a:ln/>
        </p:spPr>
        <p:txBody>
          <a:bodyPr wrap="square" lIns="0" tIns="0" rIns="0" bIns="0" rtlCol="0" anchor="t"/>
          <a:lstStyle/>
          <a:p>
            <a:pPr algn="l" indent="0" marL="0">
              <a:buNone/>
            </a:pPr>
            <a:r>
              <a:rPr lang="en-US" sz="2800" b="1" dirty="0">
                <a:solidFill>
                  <a:schemeClr val="accent2"/>
                </a:solidFill>
                <a:latin typeface="Cormorant Garamond" pitchFamily="34" charset="0"/>
                <a:ea typeface="Cormorant Garamond" pitchFamily="34" charset="-122"/>
                <a:cs typeface="Cormorant Garamond" pitchFamily="34" charset="-120"/>
              </a:rPr>
              <a:t>Pick your level, film, and get the coach's note first, with the evidence underneath</a:t>
            </a:r>
            <a:endParaRPr lang="en-US" sz="2800" dirty="0"/>
          </a:p>
        </p:txBody>
      </p:sp>
      <p:sp>
        <p:nvSpPr>
          <p:cNvPr id="4" name="Text 5"/>
          <p:cNvSpPr/>
          <p:nvPr>
            <p:ph idx="108" type="body" hasCustomPrompt="1"/>
          </p:nvPr>
        </p:nvSpPr>
        <p:spPr>
          <a:xfrm>
            <a:off x="777240" y="6108192"/>
            <a:ext cx="9875520" cy="274320"/>
          </a:xfrm>
          <a:prstGeom prst="rect">
            <a:avLst/>
          </a:prstGeom>
          <a:noFill/>
          <a:ln/>
        </p:spPr>
        <p:txBody>
          <a:bodyPr wrap="square" lIns="0" tIns="0" rIns="0" bIns="0" rtlCol="0" anchor="t"/>
          <a:lstStyle/>
          <a:p>
            <a:pPr indent="0" marL="0">
              <a:buNone/>
            </a:pPr>
            <a:r>
              <a:rPr lang="en-US" sz="1000" dirty="0">
                <a:solidFill>
                  <a:schemeClr val="accent3"/>
                </a:solidFill>
              </a:rPr>
              <a:t>Screenshots of the Centre Court web demo: start page, and a serve analysed at Intermediate level</a:t>
            </a:r>
            <a:endParaRPr lang="en-US" sz="1000" dirty="0"/>
          </a:p>
        </p:txBody>
      </p:sp>
      <p:pic>
        <p:nvPicPr>
          <p:cNvPr id="5" name="start page" descr="preencoded.png">    </p:cNvPr>
          <p:cNvPicPr>
            <a:picLocks noChangeAspect="1"/>
          </p:cNvPicPr>
          <p:nvPr/>
        </p:nvPicPr>
        <p:blipFill>
          <a:blip r:embed="rId1"/>
          <a:stretch>
            <a:fillRect/>
          </a:stretch>
        </p:blipFill>
        <p:spPr>
          <a:xfrm>
            <a:off x="777240" y="1783080"/>
            <a:ext cx="5577840" cy="3575304"/>
          </a:xfrm>
          <a:prstGeom prst="rect">
            <a:avLst/>
          </a:prstGeom>
        </p:spPr>
      </p:pic>
      <p:pic>
        <p:nvPicPr>
          <p:cNvPr id="6" name="results page" descr="preencoded.png">    </p:cNvPr>
          <p:cNvPicPr>
            <a:picLocks noChangeAspect="1"/>
          </p:cNvPicPr>
          <p:nvPr/>
        </p:nvPicPr>
        <p:blipFill>
          <a:blip r:embed="rId2"/>
          <a:srcRect l="0" r="0" t="0" b="0"/>
          <a:stretch/>
        </p:blipFill>
        <p:spPr>
          <a:xfrm>
            <a:off x="6629400" y="1783080"/>
            <a:ext cx="4800600" cy="3968496"/>
          </a:xfrm>
          <a:prstGeom prst="rect">
            <a:avLst/>
          </a:prstGeom>
        </p:spPr>
      </p:pic>
      <p:sp>
        <p:nvSpPr>
          <p:cNvPr id="7" name="Shape 3"/>
          <p:cNvSpPr/>
          <p:nvPr/>
        </p:nvSpPr>
        <p:spPr>
          <a:xfrm>
            <a:off x="777240" y="1783080"/>
            <a:ext cx="5577840" cy="3575304"/>
          </a:xfrm>
          <a:prstGeom prst="rect">
            <a:avLst/>
          </a:prstGeom>
          <a:ln w="12700">
            <a:solidFill>
              <a:srgbClr val="3F6B3A"/>
            </a:solidFill>
            <a:prstDash val="solid"/>
          </a:ln>
        </p:spPr>
      </p:sp>
      <p:sp>
        <p:nvSpPr>
          <p:cNvPr id="8" name="Shape 4"/>
          <p:cNvSpPr/>
          <p:nvPr/>
        </p:nvSpPr>
        <p:spPr>
          <a:xfrm>
            <a:off x="6629400" y="1783080"/>
            <a:ext cx="4800600" cy="3968496"/>
          </a:xfrm>
          <a:prstGeom prst="rect">
            <a:avLst/>
          </a:prstGeom>
          <a:ln w="12700">
            <a:solidFill>
              <a:srgbClr val="3F6B3A"/>
            </a:solidFill>
            <a:prstDash val="solid"/>
          </a:ln>
        </p:spPr>
      </p:sp>
      <p:sp>
        <p:nvSpPr>
          <p:cNvPr id="9" name="Text 5"/>
          <p:cNvSpPr txBox="1"/>
          <p:nvPr/>
        </p:nvSpPr>
        <p:spPr>
          <a:xfrm>
            <a:off x="777240" y="5486400"/>
            <a:ext cx="5577840" cy="457200"/>
          </a:xfrm>
          <a:prstGeom prst="rect">
            <a:avLst/>
          </a:prstGeom>
          <a:noFill/>
          <a:ln/>
        </p:spPr>
        <p:txBody>
          <a:bodyPr wrap="square" lIns="0" tIns="0" rIns="0" bIns="0" rtlCol="0" anchor="t"/>
          <a:lstStyle/>
          <a:p>
            <a:pPr indent="0" marL="0">
              <a:buNone/>
            </a:pPr>
            <a:r>
              <a:rPr lang="en-US" sz="1200" dirty="0">
                <a:solidFill>
                  <a:schemeClr val="accent3"/>
                </a:solidFill>
              </a:rPr>
              <a:t>Coach's note, score and key numbers, ball trajectory, slow motion, and every check with the level it reaches.</a:t>
            </a:r>
            <a:endParaRPr lang="en-US" sz="1200" dirty="0"/>
          </a:p>
        </p:txBody>
      </p:sp>
      <p:sp>
        <p:nvSpPr>
          <p:cNvPr id="25" name="Slide Number Placeholder 0"/>
          <p:cNvSpPr>
            <a:spLocks noGrp="1"/>
          </p:cNvSpPr>
          <p:nvPr>
            <p:ph type="sldNum" sz="quarter" idx="4294967295"/>
          </p:nvPr>
        </p:nvSpPr>
        <p:spPr>
          <a:xfrm>
            <a:off x="10927080" y="6108192"/>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C6B4F"/>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5"/>
          <p:cNvSpPr/>
          <p:nvPr>
            <p:ph idx="106" type="body" hasCustomPrompt="1"/>
          </p:nvPr>
        </p:nvSpPr>
        <p:spPr>
          <a:xfrm>
            <a:off x="777240" y="566928"/>
            <a:ext cx="8229600" cy="274320"/>
          </a:xfrm>
          <a:prstGeom prst="rect">
            <a:avLst/>
          </a:prstGeom>
          <a:noFill/>
          <a:ln/>
        </p:spPr>
        <p:txBody>
          <a:bodyPr wrap="square" lIns="0" tIns="0" rIns="0" bIns="0" rtlCol="0" anchor="t"/>
          <a:lstStyle/>
          <a:p>
            <a:pPr indent="0" marL="0">
              <a:buNone/>
            </a:pPr>
            <a:r>
              <a:rPr lang="en-US" sz="1200" i="1" dirty="0">
                <a:solidFill>
                  <a:schemeClr val="accent3"/>
                </a:solidFill>
              </a:rPr>
              <a:t>Edge readiness</a:t>
            </a:r>
            <a:endParaRPr lang="en-US" sz="1200" dirty="0"/>
          </a:p>
        </p:txBody>
      </p:sp>
      <p:sp>
        <p:nvSpPr>
          <p:cNvPr id="3" name="Text 5"/>
          <p:cNvSpPr/>
          <p:nvPr>
            <p:ph idx="107" type="title" hasCustomPrompt="1"/>
          </p:nvPr>
        </p:nvSpPr>
        <p:spPr>
          <a:xfrm>
            <a:off x="777240" y="841248"/>
            <a:ext cx="9966960" cy="914400"/>
          </a:xfrm>
          <a:prstGeom prst="rect">
            <a:avLst/>
          </a:prstGeom>
          <a:noFill/>
          <a:ln/>
        </p:spPr>
        <p:txBody>
          <a:bodyPr wrap="square" lIns="0" tIns="0" rIns="0" bIns="0" rtlCol="0" anchor="t"/>
          <a:lstStyle/>
          <a:p>
            <a:pPr algn="l" indent="0" marL="0">
              <a:buNone/>
            </a:pPr>
            <a:r>
              <a:rPr lang="en-US" sz="2800" b="1" dirty="0">
                <a:solidFill>
                  <a:schemeClr val="accent2"/>
                </a:solidFill>
                <a:latin typeface="Cormorant Garamond" pitchFamily="34" charset="0"/>
                <a:ea typeface="Cormorant Garamond" pitchFamily="34" charset="-122"/>
                <a:cs typeface="Cormorant Garamond" pitchFamily="34" charset="-120"/>
              </a:rPr>
              <a:t>The heavy part is exactly what the NPU accelerates, and the whole stack is licensed for commercial use</a:t>
            </a:r>
            <a:endParaRPr lang="en-US" sz="2800" dirty="0"/>
          </a:p>
        </p:txBody>
      </p:sp>
      <p:sp>
        <p:nvSpPr>
          <p:cNvPr id="4" name="Text 5"/>
          <p:cNvSpPr/>
          <p:nvPr>
            <p:ph idx="108" type="body" hasCustomPrompt="1"/>
          </p:nvPr>
        </p:nvSpPr>
        <p:spPr>
          <a:xfrm>
            <a:off x="777240" y="6108192"/>
            <a:ext cx="9875520" cy="274320"/>
          </a:xfrm>
          <a:prstGeom prst="rect">
            <a:avLst/>
          </a:prstGeom>
          <a:noFill/>
          <a:ln/>
        </p:spPr>
        <p:txBody>
          <a:bodyPr wrap="square" lIns="0" tIns="0" rIns="0" bIns="0" rtlCol="0" anchor="t"/>
          <a:lstStyle/>
          <a:p>
            <a:pPr indent="0" marL="0">
              <a:buNone/>
            </a:pPr>
            <a:r>
              <a:rPr lang="en-US" sz="1000" dirty="0">
                <a:solidFill>
                  <a:schemeClr val="accent3"/>
                </a:solidFill>
              </a:rPr>
              <a:t>CPU time on a 2-core cloud machine, forehand clip (1,818 frames, 1280x720 at 120 fps). Not yet benchmarked on the UGen300</a:t>
            </a:r>
            <a:endParaRPr lang="en-US" sz="1000" dirty="0"/>
          </a:p>
        </p:txBody>
      </p:sp>
      <p:graphicFrame>
        <p:nvGraphicFramePr>
          <p:cNvPr id="5" name="compute chart" descr=""/>
          <p:cNvGraphicFramePr/>
          <p:nvPr/>
        </p:nvGraphicFramePr>
        <p:xfrm>
          <a:off x="777240" y="1737360"/>
          <a:ext cx="5852160" cy="4160520"/>
        </p:xfrm>
        <a:graphic xmlns:a="http://schemas.openxmlformats.org/drawingml/2006/main">
          <a:graphicData uri="http://schemas.openxmlformats.org/drawingml/2006/chart">
            <c:chart xmlns:c="http://schemas.openxmlformats.org/drawingml/2006/chart" r:id="rId1"/>
          </a:graphicData>
        </a:graphic>
      </p:graphicFrame>
      <p:sp>
        <p:nvSpPr>
          <p:cNvPr id="6" name="Text 3"/>
          <p:cNvSpPr txBox="1"/>
          <p:nvPr/>
        </p:nvSpPr>
        <p:spPr>
          <a:xfrm>
            <a:off x="7086600" y="1783080"/>
            <a:ext cx="4297680" cy="365760"/>
          </a:xfrm>
          <a:prstGeom prst="rect">
            <a:avLst/>
          </a:prstGeom>
          <a:noFill/>
          <a:ln/>
        </p:spPr>
        <p:txBody>
          <a:bodyPr wrap="square" lIns="0" tIns="0" rIns="0" bIns="0" rtlCol="0" anchor="t"/>
          <a:lstStyle/>
          <a:p>
            <a:pPr indent="0" marL="0">
              <a:buNone/>
            </a:pPr>
            <a:r>
              <a:rPr lang="en-US" sz="1800" b="1" dirty="0">
                <a:solidFill>
                  <a:schemeClr val="accent2"/>
                </a:solidFill>
                <a:latin typeface="Cormorant Garamond" pitchFamily="34" charset="0"/>
                <a:ea typeface="Cormorant Garamond" pitchFamily="34" charset="-122"/>
                <a:cs typeface="Cormorant Garamond" pitchFamily="34" charset="-120"/>
              </a:rPr>
              <a:t>Speed-ups already in</a:t>
            </a:r>
            <a:endParaRPr lang="en-US" sz="1800" dirty="0"/>
          </a:p>
        </p:txBody>
      </p:sp>
      <p:sp>
        <p:nvSpPr>
          <p:cNvPr id="7" name="Text 4"/>
          <p:cNvSpPr txBox="1"/>
          <p:nvPr/>
        </p:nvSpPr>
        <p:spPr>
          <a:xfrm>
            <a:off x="7086600" y="2167128"/>
            <a:ext cx="4297680" cy="914400"/>
          </a:xfrm>
          <a:prstGeom prst="rect">
            <a:avLst/>
          </a:prstGeom>
          <a:noFill/>
          <a:ln/>
        </p:spPr>
        <p:txBody>
          <a:bodyPr wrap="square" lIns="0" tIns="0" rIns="0" bIns="0" rtlCol="0" anchor="t"/>
          <a:lstStyle/>
          <a:p>
            <a:pPr indent="0" marL="0">
              <a:buNone/>
            </a:pPr>
            <a:r>
              <a:rPr lang="en-US" sz="1300" dirty="0">
                <a:solidFill>
                  <a:schemeClr val="tx1"/>
                </a:solidFill>
              </a:rPr>
              <a:t>Detector at 10 Hz, skeleton at 60 Hz with gaps filled, shake estimate on a smaller copy: the forehand clip went from 270-390 s to 199 s.</a:t>
            </a:r>
            <a:endParaRPr lang="en-US" sz="1300" dirty="0"/>
          </a:p>
        </p:txBody>
      </p:sp>
      <p:sp>
        <p:nvSpPr>
          <p:cNvPr id="8" name="Text 5"/>
          <p:cNvSpPr txBox="1"/>
          <p:nvPr/>
        </p:nvSpPr>
        <p:spPr>
          <a:xfrm>
            <a:off x="7086600" y="3154680"/>
            <a:ext cx="4297680" cy="365760"/>
          </a:xfrm>
          <a:prstGeom prst="rect">
            <a:avLst/>
          </a:prstGeom>
          <a:noFill/>
          <a:ln/>
        </p:spPr>
        <p:txBody>
          <a:bodyPr wrap="square" lIns="0" tIns="0" rIns="0" bIns="0" rtlCol="0" anchor="t"/>
          <a:lstStyle/>
          <a:p>
            <a:pPr indent="0" marL="0">
              <a:buNone/>
            </a:pPr>
            <a:r>
              <a:rPr lang="en-US" sz="1800" b="1" dirty="0">
                <a:solidFill>
                  <a:schemeClr val="accent2"/>
                </a:solidFill>
                <a:latin typeface="Cormorant Garamond" pitchFamily="34" charset="0"/>
                <a:ea typeface="Cormorant Garamond" pitchFamily="34" charset="-122"/>
                <a:cs typeface="Cormorant Garamond" pitchFamily="34" charset="-120"/>
              </a:rPr>
              <a:t>To the NPU</a:t>
            </a:r>
            <a:endParaRPr lang="en-US" sz="1800" dirty="0"/>
          </a:p>
        </p:txBody>
      </p:sp>
      <p:sp>
        <p:nvSpPr>
          <p:cNvPr id="9" name="Text 6"/>
          <p:cNvSpPr txBox="1"/>
          <p:nvPr/>
        </p:nvSpPr>
        <p:spPr>
          <a:xfrm>
            <a:off x="7086600" y="3538728"/>
            <a:ext cx="4297680" cy="914400"/>
          </a:xfrm>
          <a:prstGeom prst="rect">
            <a:avLst/>
          </a:prstGeom>
          <a:noFill/>
          <a:ln/>
        </p:spPr>
        <p:txBody>
          <a:bodyPr wrap="square" lIns="0" tIns="0" rIns="0" bIns="0" rtlCol="0" anchor="t"/>
          <a:lstStyle/>
          <a:p>
            <a:pPr indent="0" marL="0">
              <a:buNone/>
            </a:pPr>
            <a:r>
              <a:rPr lang="en-US" sz="1300" dirty="0">
                <a:solidFill>
                  <a:schemeClr val="tx1"/>
                </a:solidFill>
              </a:rPr>
              <a:t>Detection, racquet and skeleton are standard neural networks - the work the Hailo NPU is built for.</a:t>
            </a:r>
            <a:endParaRPr lang="en-US" sz="1300" dirty="0"/>
          </a:p>
        </p:txBody>
      </p:sp>
      <p:sp>
        <p:nvSpPr>
          <p:cNvPr id="10" name="Text 7"/>
          <p:cNvSpPr txBox="1"/>
          <p:nvPr/>
        </p:nvSpPr>
        <p:spPr>
          <a:xfrm>
            <a:off x="7086600" y="4526280"/>
            <a:ext cx="4297680" cy="365760"/>
          </a:xfrm>
          <a:prstGeom prst="rect">
            <a:avLst/>
          </a:prstGeom>
          <a:noFill/>
          <a:ln/>
        </p:spPr>
        <p:txBody>
          <a:bodyPr wrap="square" lIns="0" tIns="0" rIns="0" bIns="0" rtlCol="0" anchor="t"/>
          <a:lstStyle/>
          <a:p>
            <a:pPr indent="0" marL="0">
              <a:buNone/>
            </a:pPr>
            <a:r>
              <a:rPr lang="en-US" sz="1800" b="1" dirty="0">
                <a:solidFill>
                  <a:schemeClr val="accent2"/>
                </a:solidFill>
                <a:latin typeface="Cormorant Garamond" pitchFamily="34" charset="0"/>
                <a:ea typeface="Cormorant Garamond" pitchFamily="34" charset="-122"/>
                <a:cs typeface="Cormorant Garamond" pitchFamily="34" charset="-120"/>
              </a:rPr>
              <a:t>Commercially clean</a:t>
            </a:r>
            <a:endParaRPr lang="en-US" sz="1800" dirty="0"/>
          </a:p>
        </p:txBody>
      </p:sp>
      <p:sp>
        <p:nvSpPr>
          <p:cNvPr id="11" name="Text 8"/>
          <p:cNvSpPr txBox="1"/>
          <p:nvPr/>
        </p:nvSpPr>
        <p:spPr>
          <a:xfrm>
            <a:off x="7086600" y="4910328"/>
            <a:ext cx="4297680" cy="914400"/>
          </a:xfrm>
          <a:prstGeom prst="rect">
            <a:avLst/>
          </a:prstGeom>
          <a:noFill/>
          <a:ln/>
        </p:spPr>
        <p:txBody>
          <a:bodyPr wrap="square" lIns="0" tIns="0" rIns="0" bIns="0" rtlCol="0" anchor="t"/>
          <a:lstStyle/>
          <a:p>
            <a:pPr indent="0" marL="0">
              <a:buNone/>
            </a:pPr>
            <a:r>
              <a:rPr lang="en-US" sz="1300" dirty="0">
                <a:solidFill>
                  <a:schemeClr val="tx1"/>
                </a:solidFill>
              </a:rPr>
              <a:t>OpenCV, MediaPipe, YOLOX, ONNX Runtime: Apache, BSD and MIT licences. Ultralytics YOLO (AGPL) deliberately avoided.</a:t>
            </a:r>
            <a:endParaRPr lang="en-US" sz="1300" dirty="0"/>
          </a:p>
        </p:txBody>
      </p:sp>
      <p:sp>
        <p:nvSpPr>
          <p:cNvPr id="25" name="Slide Number Placeholder 0"/>
          <p:cNvSpPr>
            <a:spLocks noGrp="1"/>
          </p:cNvSpPr>
          <p:nvPr>
            <p:ph type="sldNum" sz="quarter" idx="4294967295"/>
          </p:nvPr>
        </p:nvSpPr>
        <p:spPr>
          <a:xfrm>
            <a:off x="10927080" y="6108192"/>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C6B4F"/>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1" type="title" hasCustomPrompt="1"/>
          </p:nvPr>
        </p:nvSpPr>
        <p:spPr>
          <a:xfrm>
            <a:off x="731520" y="2331720"/>
            <a:ext cx="8595360" cy="1371600"/>
          </a:xfrm>
          <a:prstGeom prst="rect">
            <a:avLst/>
          </a:prstGeom>
          <a:noFill/>
          <a:ln/>
        </p:spPr>
        <p:txBody>
          <a:bodyPr wrap="square" lIns="0" tIns="0" rIns="0" bIns="0" rtlCol="0" anchor="b"/>
          <a:lstStyle/>
          <a:p>
            <a:pPr algn="l" indent="0" marL="0">
              <a:buNone/>
            </a:pPr>
            <a:r>
              <a:rPr lang="en-US" sz="4600" b="1" dirty="0">
                <a:solidFill>
                  <a:schemeClr val="accent4"/>
                </a:solidFill>
                <a:latin typeface="Cormorant Garamond" pitchFamily="34" charset="0"/>
                <a:ea typeface="Cormorant Garamond" pitchFamily="34" charset="-122"/>
                <a:cs typeface="Cormorant Garamond" pitchFamily="34" charset="-120"/>
              </a:rPr>
              <a:t>Next: an Android app, with the UGen300 doing the heavy lifting</a:t>
            </a:r>
            <a:endParaRPr lang="en-US" sz="4600" dirty="0"/>
          </a:p>
        </p:txBody>
      </p:sp>
      <p:sp>
        <p:nvSpPr>
          <p:cNvPr id="3" name="Text 0"/>
          <p:cNvSpPr/>
          <p:nvPr>
            <p:ph idx="102" type="body" hasCustomPrompt="1"/>
          </p:nvPr>
        </p:nvSpPr>
        <p:spPr>
          <a:xfrm>
            <a:off x="731520" y="3794760"/>
            <a:ext cx="8595360" cy="2377440"/>
          </a:xfrm>
          <a:prstGeom prst="rect">
            <a:avLst/>
          </a:prstGeom>
          <a:noFill/>
          <a:ln/>
        </p:spPr>
        <p:txBody>
          <a:bodyPr wrap="square" lIns="0" tIns="0" rIns="0" bIns="0" rtlCol="0" anchor="t"/>
          <a:lstStyle/>
          <a:p>
            <a:pPr algn="l" indent="0" marL="0">
              <a:spcAft>
                <a:spcPts val="600"/>
              </a:spcAft>
              <a:buNone/>
            </a:pPr>
            <a:r>
              <a:rPr lang="en-US" sz="1600" dirty="0">
                <a:solidFill>
                  <a:schemeClr val="accent4"/>
                </a:solidFill>
              </a:rPr>
              <a:t>Now: serve and forehand working end to end, three player levels, web demo</a:t>
            </a:r>
            <a:endParaRPr lang="en-US" sz="1600" dirty="0"/>
          </a:p>
          <a:p>
            <a:pPr algn="l" indent="0" marL="0">
              <a:spcAft>
                <a:spcPts val="600"/>
              </a:spcAft>
              <a:buNone/>
            </a:pPr>
            <a:r>
              <a:rPr lang="en-US" sz="1600" dirty="0">
                <a:solidFill>
                  <a:schemeClr val="accent4"/>
                </a:solidFill>
              </a:rPr>
              <a:t>Next: YOLOX and pose on the Hailo NPU; Android app with a filming guide</a:t>
            </a:r>
            <a:endParaRPr lang="en-US" sz="1600" dirty="0"/>
          </a:p>
          <a:p>
            <a:pPr algn="l" indent="0" marL="0">
              <a:spcAft>
                <a:spcPts val="600"/>
              </a:spcAft>
              <a:buNone/>
            </a:pPr>
            <a:r>
              <a:rPr lang="en-US" sz="1600" dirty="0">
                <a:solidFill>
                  <a:schemeClr val="accent4"/>
                </a:solidFill>
              </a:rPr>
              <a:t>Then: coaches validate the ladders; backhand mode; club trials</a:t>
            </a:r>
            <a:endParaRPr lang="en-US" sz="1600" dirty="0"/>
          </a:p>
          <a:p>
            <a:pPr algn="l" indent="0" marL="0">
              <a:spcAft>
                <a:spcPts val="600"/>
              </a:spcAft>
              <a:buNone/>
            </a:pPr>
            <a:r>
              <a:rPr lang="en-US" sz="1000" dirty="0">
                <a:solidFill>
                  <a:schemeClr val="accent4"/>
                </a:solidFill>
              </a:rPr>
              <a:t> </a:t>
            </a:r>
            <a:endParaRPr lang="en-US" sz="1600" dirty="0"/>
          </a:p>
          <a:p>
            <a:pPr algn="l" indent="0" marL="0">
              <a:spcAft>
                <a:spcPts val="600"/>
              </a:spcAft>
              <a:buNone/>
            </a:pPr>
            <a:r>
              <a:rPr lang="en-US" sz="2400" i="1" dirty="0">
                <a:solidFill>
                  <a:schemeClr val="accent4"/>
                </a:solidFill>
                <a:latin typeface="Cormorant Garamond" pitchFamily="34" charset="0"/>
                <a:ea typeface="Cormorant Garamond" pitchFamily="34" charset="-122"/>
                <a:cs typeface="Cormorant Garamond" pitchFamily="34" charset="-120"/>
              </a:rPr>
              <a:t>Thank you - Jefferson and Ben</a:t>
            </a:r>
            <a:endParaRPr lang="en-US" sz="1600" dirty="0"/>
          </a:p>
        </p:txBody>
      </p:sp>
    </p:spTree>
  </p:cSld>
  <p:clrMapOvr>
    <a:masterClrMapping/>
  </p:clrMapOvr>
</p:sld>
</file>

<file path=ppt/theme/theme1.xml><?xml version="1.0" encoding="utf-8"?>
<a:theme xmlns:a="http://schemas.openxmlformats.org/drawingml/2006/main" name="Centre Court">
  <a:themeElements>
    <a:clrScheme name="Centre Court">
      <a:dk1>
        <a:srgbClr val="4A3121"/>
      </a:dk1>
      <a:lt1>
        <a:srgbClr val="FCFBF6"/>
      </a:lt1>
      <a:dk2>
        <a:srgbClr val="1F2A24"/>
      </a:dk2>
      <a:lt2>
        <a:srgbClr val="F5F4EC"/>
      </a:lt2>
      <a:accent1>
        <a:srgbClr val="3F6B3A"/>
      </a:accent1>
      <a:accent2>
        <a:srgbClr val="7A5233"/>
      </a:accent2>
      <a:accent3>
        <a:srgbClr val="8C6B4F"/>
      </a:accent3>
      <a:accent4>
        <a:srgbClr val="E2C79A"/>
      </a:accent4>
      <a:accent5>
        <a:srgbClr val="A06A1C"/>
      </a:accent5>
      <a:accent6>
        <a:srgbClr val="DCD8C8"/>
      </a:accent6>
      <a:hlink>
        <a:srgbClr val="3F6B3A"/>
      </a:hlink>
      <a:folHlink>
        <a:srgbClr val="7A5233"/>
      </a:folHlink>
    </a:clrScheme>
    <a:fontScheme name="Centre Court">
      <a:majorFont>
        <a:latin typeface="Cormorant Garamond"/>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Libre Franklin"/>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Centre Court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Centre Court: Baseline - ASUS UGen AI League</dc:title>
  <dc:subject>PptxGenJS Presentation</dc:subject>
  <dc:creator>PptxGenJS</dc:creator>
  <cp:lastModifiedBy>PptxGenJS</cp:lastModifiedBy>
  <cp:revision>1</cp:revision>
  <dcterms:created xsi:type="dcterms:W3CDTF">2026-10-19T07:07:41Z</dcterms:created>
  <dcterms:modified xsi:type="dcterms:W3CDTF">2026-10-19T07:07:41Z</dcterms:modified>
</cp:coreProperties>
</file>