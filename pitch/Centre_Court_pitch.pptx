
<file path=[Content_Types].xml><?xml version="1.0" encoding="utf-8"?>
<Types xmlns="http://schemas.openxmlformats.org/package/2006/content-types">
  <Default ContentType="image/jpeg" Extension="jpg"/>
  <Default ContentType="application/vnd.openxmlformats-officedocument.spreadsheetml.sheet" Extension="xlsx"/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9.xml"/>
  <Override ContentType="application/vnd.openxmlformats-officedocument.presentationml.slide+xml" PartName="/ppt/slides/slide5.xml"/>
  <Override ContentType="application/vnd.openxmlformats-officedocument.presentationml.slide+xml" PartName="/ppt/slides/slide8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drawingml.chart+xml" PartName="/ppt/charts/chart1.xml"/>
</Types>
</file>

<file path=_rels/.rels><?xml version="1.0" encoding="UTF-8" standalone="yes"?>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48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</p:sldIdLst>
  <p:sldSz cy="6858000" cx="12192000"/>
  <p:notesSz cx="6858000" cy="12192000"/>
  <p:embeddedFontLst>
    <p:embeddedFont>
      <p:font typeface="Roboto"/>
      <p:regular r:id="rId17"/>
      <p:bold r:id="rId18"/>
      <p:italic r:id="rId19"/>
      <p:boldItalic r:id="rId20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GoogleSlidesCustomDataVersion2">
      <go:slidesCustomData xmlns:go="http://customooxmlschemas.google.com/" r:id="rId21" roundtripDataSignature="AMtx7mhSUMTava9cjSoJsOCNpOVsRMn3MQ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17042F10-DA1B-4D29-8927-06B5654F61AB}">
  <a:tblStyle styleId="{17042F10-DA1B-4D29-8927-06B5654F61AB}" styleName="Table_0">
    <a:wholeTbl>
      <a:tcTxStyle>
        <a:font>
          <a:latin typeface="Arial"/>
          <a:ea typeface="Arial"/>
          <a:cs typeface="Arial"/>
        </a:font>
        <a:srgbClr val="000000"/>
      </a:tcTxStyle>
    </a:wholeTbl>
    <a:band1H>
      <a:tcTxStyle/>
    </a:band1H>
    <a:band2H>
      <a:tcTxStyle/>
    </a:band2H>
    <a:band1V>
      <a:tcTxStyle/>
    </a:band1V>
    <a:band2V>
      <a:tcTxStyle/>
    </a:band2V>
    <a:lastCol>
      <a:tcTxStyle/>
    </a:lastCol>
    <a:firstCol>
      <a:tcTxStyle/>
    </a:firstCol>
    <a:lastRow>
      <a:tcTxStyle/>
    </a:lastRow>
    <a:seCell>
      <a:tcTxStyle/>
    </a:seCell>
    <a:swCell>
      <a:tcTxStyle/>
    </a:swCell>
    <a:firstRow>
      <a:tcTxStyle/>
    </a:firstRow>
    <a:neCell>
      <a:tcTxStyle/>
    </a:neCell>
    <a:nwCell>
      <a:tcTxStyle/>
    </a:nwCell>
  </a:tblStyle>
</a:tblStyleLst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font" Target="fonts/Roboto-boldItalic.fntdata"/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21" Type="http://customschemas.google.com/relationships/presentationmetadata" Target="metadata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1" Type="http://schemas.openxmlformats.org/officeDocument/2006/relationships/theme" Target="theme/theme2.xml"/><Relationship Id="rId2" Type="http://schemas.openxmlformats.org/officeDocument/2006/relationships/presProps" Target="presProps.xml"/><Relationship Id="rId3" Type="http://schemas.openxmlformats.org/officeDocument/2006/relationships/tableStyles" Target="tableStyle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15" Type="http://schemas.openxmlformats.org/officeDocument/2006/relationships/slide" Target="slides/slide10.xml"/><Relationship Id="rId14" Type="http://schemas.openxmlformats.org/officeDocument/2006/relationships/slide" Target="slides/slide9.xml"/><Relationship Id="rId17" Type="http://schemas.openxmlformats.org/officeDocument/2006/relationships/font" Target="fonts/Roboto-regular.fntdata"/><Relationship Id="rId16" Type="http://schemas.openxmlformats.org/officeDocument/2006/relationships/slide" Target="slides/slide11.xml"/><Relationship Id="rId5" Type="http://schemas.openxmlformats.org/officeDocument/2006/relationships/notesMaster" Target="notesMasters/notesMaster1.xml"/><Relationship Id="rId19" Type="http://schemas.openxmlformats.org/officeDocument/2006/relationships/font" Target="fonts/Roboto-italic.fntdata"/><Relationship Id="rId6" Type="http://schemas.openxmlformats.org/officeDocument/2006/relationships/slide" Target="slides/slide1.xml"/><Relationship Id="rId18" Type="http://schemas.openxmlformats.org/officeDocument/2006/relationships/font" Target="fonts/Roboto-bold.fntdata"/><Relationship Id="rId7" Type="http://schemas.openxmlformats.org/officeDocument/2006/relationships/slide" Target="slides/slide2.xml"/><Relationship Id="rId8" Type="http://schemas.openxmlformats.org/officeDocument/2006/relationships/slide" Target="slides/slide3.xml"/></Relationships>
</file>

<file path=ppt/charts/_rels/chart1.xml.rels><?xml version="1.0" encoding="UTF-8" standalone="yes"?>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title>
      <c:tx>
        <c:rich>
          <a:bodyPr/>
          <a:lstStyle/>
          <a:p>
            <a:pPr>
              <a:defRPr sz="1300" b="0" i="0" u="none" strike="noStrike">
                <a:solidFill>
                  <a:srgbClr val="373A31"/>
                </a:solidFill>
                <a:latin typeface="+mn-lt"/>
              </a:defRPr>
            </a:pPr>
            <a:r>
              <a:rPr lang="en-US" sz="1300" b="0" i="0" u="none" strike="noStrike">
                <a:solidFill>
                  <a:srgbClr val="373A31"/>
                </a:solidFill>
                <a:latin typeface="+mn-lt"/>
              </a:rPr>
              <a:t>Where the 199 s go today (CPU only)</a:t>
            </a:r>
          </a:p>
        </c:rich>
      </c:tx>
      <c:overlay val="0"/>
    </c:title>
    <c:autoTitleDeleted val="0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seconds</c:v>
                </c:pt>
              </c:strCache>
            </c:strRef>
          </c:tx>
          <c:spPr>
            <a:solidFill>
              <a:srgbClr val="79BA00"/>
            </a:solidFill>
            <a:effectLst/>
          </c:spPr>
          <c:invertIfNegative val="0"/>
          <c:dLbls>
            <c:numFmt formatCode="0&quot; s&quot;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200" b="0" i="0" u="none" strike="noStrike">
                    <a:solidFill>
                      <a:srgbClr val="1F211C"/>
                    </a:solidFill>
                    <a:latin typeface="+mn-lt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Sheet1!$A$2:$A$7</c:f>
              <c:strCache>
                <c:ptCount val="6"/>
                <c:pt idx="0">
                  <c:v>Split into frames</c:v>
                </c:pt>
                <c:pt idx="1">
                  <c:v>Player detection</c:v>
                </c:pt>
                <c:pt idx="2">
                  <c:v>Skeleton</c:v>
                </c:pt>
                <c:pt idx="3">
                  <c:v>Ball candidates</c:v>
                </c:pt>
                <c:pt idx="4">
                  <c:v>Strokes + racquet</c:v>
                </c:pt>
                <c:pt idx="5">
                  <c:v>Pictures + GIFs</c:v>
                </c:pt>
              </c:strCache>
            </c:strRef>
          </c:cat>
          <c:val>
            <c:numRef>
              <c:f>Sheet1!$B$2:$B$7</c:f>
              <c:numCache>
                <c:formatCode>General</c:formatCode>
                <c:ptCount val="6"/>
                <c:pt idx="0">
                  <c:v>34</c:v>
                </c:pt>
                <c:pt idx="1">
                  <c:v>10</c:v>
                </c:pt>
                <c:pt idx="2">
                  <c:v>25</c:v>
                </c:pt>
                <c:pt idx="3">
                  <c:v>46</c:v>
                </c:pt>
                <c:pt idx="4">
                  <c:v>47</c:v>
                </c:pt>
                <c:pt idx="5">
                  <c:v>26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AA2A-4C37-887A-2F28ED566BC2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60"/>
        <c:axId val="2094734554"/>
        <c:axId val="2094734552"/>
      </c:barChart>
      <c:catAx>
        <c:axId val="2094734554"/>
        <c:scaling>
          <c:orientation val="maxMin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1F211C"/>
                </a:solidFill>
                <a:latin typeface="+mn-lt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  <c:min val="0"/>
        </c:scaling>
        <c:delete val="1"/>
        <c:axPos val="t"/>
        <c:numFmt formatCode="General" sourceLinked="0"/>
        <c:majorTickMark val="out"/>
        <c:minorTickMark val="none"/>
        <c:tickLblPos val="low"/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1143225" y="914400"/>
            <a:ext cx="4572225" cy="4572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5791200"/>
            <a:ext cx="5486400" cy="548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Google Shape;18;p1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19" name="Google Shape;19;p1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r>
              <a:rPr b="1" lang="en-US" sz="1200">
                <a:solidFill>
                  <a:schemeClr val="dk1"/>
                </a:solidFill>
                <a:latin typeface="Arial"/>
              </a:rPr>
              <a:t>Ben (0:00-0:14)</a:t>
            </a:r>
          </a:p>
          <a:p>
            <a:r>
              <a:rPr lang="en-US" sz="1200">
                <a:solidFill>
                  <a:schemeClr val="dk1"/>
                </a:solidFill>
                <a:latin typeface="Arial"/>
              </a:rPr>
              <a:t>Hi everyone, I'm Ben Wylie, and this is Jefferson Lee. We're from Brisbane, and this is Centre Court: Baseline - instant tennis coaching, computed right on the court, on an Android phone and the ASUS UGen300.</a:t>
            </a:r>
          </a:p>
        </p:txBody>
      </p:sp>
      <p:sp>
        <p:nvSpPr>
          <p:cNvPr id="20" name="Google Shape;20;p1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-US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" name="Shape 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Google Shape;25;p2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26" name="Google Shape;26;p2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r>
              <a:rPr b="1" lang="en-US" sz="1200">
                <a:solidFill>
                  <a:schemeClr val="dk1"/>
                </a:solidFill>
                <a:latin typeface="Arial"/>
              </a:rPr>
              <a:t>Ben (0:14-0:54)</a:t>
            </a:r>
          </a:p>
          <a:p>
            <a:r>
              <a:rPr lang="en-US" sz="1200">
                <a:solidFill>
                  <a:schemeClr val="dk1"/>
                </a:solidFill>
                <a:latin typeface="Arial"/>
              </a:rPr>
              <a:t>We both work at Aurecon, a 7,000-person Australian engineering consultancy with projects across Asia-Pacific, from Hong Kong International Airport to the tallest building in mainland China. I'm a senior asset consultant in infrastructure advisory, and Jefferson is a senior data scientist in asset performance. Jefferson grew up in Taiwan and started his career as an intern at ASUS, so this is a bit of a homecoming for him. Our day jobs use data to understand how physical assets perform; Centre Court does the same for a tennis stroke. To be clear, this is our own independent project, not an Aurecon one.</a:t>
            </a:r>
          </a:p>
        </p:txBody>
      </p:sp>
      <p:sp>
        <p:nvSpPr>
          <p:cNvPr id="27" name="Google Shape;27;p2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3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46" name="Google Shape;46;p3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r>
              <a:rPr b="1" lang="en-US" sz="1200">
                <a:solidFill>
                  <a:schemeClr val="dk1"/>
                </a:solidFill>
                <a:latin typeface="Arial"/>
              </a:rPr>
              <a:t>Ben (0:54-1:53)</a:t>
            </a:r>
          </a:p>
          <a:p>
            <a:r>
              <a:rPr lang="en-US" sz="1200">
                <a:solidFill>
                  <a:schemeClr val="dk1"/>
                </a:solidFill>
                <a:latin typeface="Arial"/>
              </a:rPr>
              <a:t>Now the problem - and for me it's personal. I've played tennis for over twenty years, I still play at club level, and I still can't see my own technique. Is my right foot in front at contact? Is my toss too low? Am I hitting the ball above my head? It all happens in a fraction of a second. Today you either film yourself and watch it at home, when the feel of the stroke is gone, or pay a coach to watch every ball, which most club players can't do every week. And the court itself makes it hard: weak or no Wi-Fi, and lots of junior players whose video shouldn't be uploaded anywhere. So the answer has to be instant, private and offline. That's an edge-computing problem, and that's why we built it for the UGen300. Jefferson will show you how it works.</a:t>
            </a:r>
          </a:p>
        </p:txBody>
      </p:sp>
      <p:sp>
        <p:nvSpPr>
          <p:cNvPr id="47" name="Google Shape;47;p3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4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76" name="Google Shape;76;p4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r>
              <a:rPr b="1" lang="en-US" sz="1200">
                <a:solidFill>
                  <a:schemeClr val="dk1"/>
                </a:solidFill>
                <a:latin typeface="Arial"/>
              </a:rPr>
              <a:t>Jefferson (1:53-2:22)</a:t>
            </a:r>
          </a:p>
          <a:p>
            <a:r>
              <a:rPr lang="en-US" sz="1200">
                <a:solidFill>
                  <a:schemeClr val="dk1"/>
                </a:solidFill>
                <a:latin typeface="Arial"/>
              </a:rPr>
              <a:t>Thanks, Ben. The phone films at 120 frames a second, and then there are five stages. One: split the video into frames. Two: find the player and fit a 33-point skeleton. Three: find the racquet, the ball, the bounce and the exact hitting point. Four: judge the stroke against coaching rules. Five: turn it into plain-language coaching. The phone does the camera and the light maths; the UGen300's Hailo NPU runs the neural networks.</a:t>
            </a:r>
          </a:p>
        </p:txBody>
      </p:sp>
      <p:sp>
        <p:nvSpPr>
          <p:cNvPr id="77" name="Google Shape;77;p4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4" name="Shape 1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" name="Google Shape;115;p5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116" name="Google Shape;116;p5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r>
              <a:rPr b="1" lang="en-US" sz="1200">
                <a:solidFill>
                  <a:schemeClr val="dk1"/>
                </a:solidFill>
                <a:latin typeface="Arial"/>
              </a:rPr>
              <a:t>Jefferson (2:22-2:56)</a:t>
            </a:r>
          </a:p>
          <a:p>
            <a:r>
              <a:rPr lang="en-US" sz="1200">
                <a:solidFill>
                  <a:schemeClr val="dk1"/>
                </a:solidFill>
                <a:latin typeface="Arial"/>
              </a:rPr>
              <a:t>Here's what stages one to three see. We keep every frame, because at 120 frames a second we catch the few milliseconds around contact. The skeleton is fitted on a zoomed crop and converted into metres from the player's height. And the ball is tracked across the whole screen: you can see it come in, bounce, and the star is the hitting point - the midpoint of the two frames where the ball is closest to the racquet head. The arrow is the ball leaving.</a:t>
            </a:r>
          </a:p>
        </p:txBody>
      </p:sp>
      <p:sp>
        <p:nvSpPr>
          <p:cNvPr id="117" name="Google Shape;117;p5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1" name="Shape 1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" name="Google Shape;132;p6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133" name="Google Shape;133;p6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r>
              <a:rPr b="1" lang="en-US" sz="1200">
                <a:solidFill>
                  <a:schemeClr val="dk1"/>
                </a:solidFill>
                <a:latin typeface="Arial"/>
              </a:rPr>
              <a:t>Jefferson (2:56-3:28)</a:t>
            </a:r>
          </a:p>
          <a:p>
            <a:r>
              <a:rPr lang="en-US" sz="1200">
                <a:solidFill>
                  <a:schemeClr val="dk1"/>
                </a:solidFill>
                <a:latin typeface="Arial"/>
              </a:rPr>
              <a:t>Stage four is deliberately not a black box. It's coaching logic: 18 forehand checks and 15 serve checks, each a rule on a measured number, in the order a coach would fix them. Top priority: if you hit the ball above your head, move forward - or, if you're already inside the court, get out of no-man's land and let it drop. Then the coach reports everything: what's good, every fix in priority order, and what it couldn't measure.</a:t>
            </a:r>
          </a:p>
        </p:txBody>
      </p:sp>
      <p:sp>
        <p:nvSpPr>
          <p:cNvPr id="134" name="Google Shape;134;p6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8" name="Shape 1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9" name="Google Shape;159;p7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160" name="Google Shape;160;p7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r>
              <a:rPr b="1" lang="en-US" sz="1200">
                <a:solidFill>
                  <a:schemeClr val="dk1"/>
                </a:solidFill>
                <a:latin typeface="Arial"/>
              </a:rPr>
              <a:t>Jefferson (3:28-3:53)</a:t>
            </a:r>
          </a:p>
          <a:p>
            <a:r>
              <a:rPr lang="en-US" sz="1200">
                <a:solidFill>
                  <a:schemeClr val="dk1"/>
                </a:solidFill>
                <a:latin typeface="Arial"/>
              </a:rPr>
              <a:t>Here's a serve from an ordinary phone clip: 30 frames a second, with the player only 86 pixels tall. It fits the toss to a gravity curve and finds the contact at frame 50.5 - exactly what we found checking frame by frame. Contact at 3.25 metres, and three fixes: tilt the shoulders, keep the toss arm up, and land inside the court.</a:t>
            </a:r>
          </a:p>
        </p:txBody>
      </p:sp>
      <p:sp>
        <p:nvSpPr>
          <p:cNvPr id="161" name="Google Shape;161;p7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7" name="Shape 1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8" name="Google Shape;178;p8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179" name="Google Shape;179;p8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r>
              <a:rPr b="1" lang="en-US" sz="1200">
                <a:solidFill>
                  <a:schemeClr val="dk1"/>
                </a:solidFill>
                <a:latin typeface="Arial"/>
              </a:rPr>
              <a:t>Jefferson (3:53-4:20)</a:t>
            </a:r>
          </a:p>
          <a:p>
            <a:r>
              <a:rPr lang="en-US" sz="1200">
                <a:solidFill>
                  <a:schemeClr val="dk1"/>
                </a:solidFill>
                <a:latin typeface="Arial"/>
              </a:rPr>
              <a:t>On a 15-second forehand clip at 120 frames a second, it found four forehands. It also recognised the one backhand in the clip and skipped it - we'd rather miss a stroke than coach the wrong one. Forehand one: hit at 1.1 metres, in front of the body, left foot forward. One fix: the ball took almost 0.9 seconds after the bounce, so move forward to meet it.</a:t>
            </a:r>
          </a:p>
        </p:txBody>
      </p:sp>
      <p:sp>
        <p:nvSpPr>
          <p:cNvPr id="180" name="Google Shape;180;p8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0" name="Shape 1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1" name="Google Shape;191;p9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192" name="Google Shape;192;p9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r>
              <a:rPr b="1" lang="en-US" sz="1200">
                <a:solidFill>
                  <a:schemeClr val="dk1"/>
                </a:solidFill>
                <a:latin typeface="Arial"/>
              </a:rPr>
              <a:t>Jefferson (4:20-4:46)</a:t>
            </a:r>
          </a:p>
          <a:p>
            <a:r>
              <a:rPr lang="en-US" sz="1200">
                <a:solidFill>
                  <a:schemeClr val="dk1"/>
                </a:solidFill>
                <a:latin typeface="Arial"/>
              </a:rPr>
              <a:t>This is what the player sees. [DEMO: switch to the web app with IMG_3025 already analysed.] The coach's note comes first, then the evidence: the ball trajectory, slow motion with skeleton and racquet, and the checklist with every measured value.</a:t>
            </a:r>
          </a:p>
        </p:txBody>
      </p:sp>
      <p:sp>
        <p:nvSpPr>
          <p:cNvPr id="193" name="Google Shape;193;p9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6" name="Shape 2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7" name="Google Shape;217;p10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218" name="Google Shape;218;p10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r>
              <a:rPr b="1" lang="en-US" sz="1200">
                <a:solidFill>
                  <a:schemeClr val="dk1"/>
                </a:solidFill>
                <a:latin typeface="Arial"/>
              </a:rPr>
              <a:t>Jefferson (4:46-5:08)</a:t>
            </a:r>
          </a:p>
          <a:p>
            <a:r>
              <a:rPr lang="en-US" sz="1200">
                <a:solidFill>
                  <a:schemeClr val="dk1"/>
                </a:solidFill>
                <a:latin typeface="Arial"/>
              </a:rPr>
              <a:t>Today this runs on a CPU: about three minutes for that 15-second clip at 120 frames a second. Most of that time is detection, skeleton and racquet - standard neural networks, exactly what the Hailo NPU accelerates. And it's commercially clean: every component is Apache, BSD or MIT licensed. We deliberately avoided AGPL models.</a:t>
            </a:r>
          </a:p>
        </p:txBody>
      </p:sp>
      <p:sp>
        <p:nvSpPr>
          <p:cNvPr id="219" name="Google Shape;219;p10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2" name="Shape 2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3" name="Google Shape;233;p11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234" name="Google Shape;234;p11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r>
              <a:rPr b="1" lang="en-US" sz="1200">
                <a:solidFill>
                  <a:schemeClr val="dk1"/>
                </a:solidFill>
                <a:latin typeface="Arial"/>
              </a:rPr>
              <a:t>Ben (5:08-5:25)</a:t>
            </a:r>
          </a:p>
          <a:p>
            <a:r>
              <a:rPr lang="en-US" sz="1200">
                <a:solidFill>
                  <a:schemeClr val="dk1"/>
                </a:solidFill>
                <a:latin typeface="Arial"/>
              </a:rPr>
              <a:t>Next, we put the models on the UGen300, build the Android app with a filming guide, and get coaches to validate the thresholds on real courts - then we add the backhand. Every club player deserves a coach on the court. Thank you.</a:t>
            </a:r>
          </a:p>
        </p:txBody>
      </p:sp>
      <p:sp>
        <p:nvSpPr>
          <p:cNvPr id="235" name="Google Shape;235;p11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_DARK">
  <p:cSld name="TITLE_DARK">
    <p:bg>
      <p:bgPr>
        <a:solidFill>
          <a:srgbClr val="373A31"/>
        </a:solidFill>
      </p:bgPr>
    </p:bg>
    <p:spTree>
      <p:nvGrpSpPr>
        <p:cNvPr id="7" name="Shape 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Google Shape;8;p13"/>
          <p:cNvSpPr txBox="1"/>
          <p:nvPr>
            <p:ph type="title"/>
          </p:nvPr>
        </p:nvSpPr>
        <p:spPr>
          <a:xfrm>
            <a:off x="731520" y="2148840"/>
            <a:ext cx="8778240" cy="17373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000"/>
              <a:buFont typeface="Cambria"/>
              <a:buNone/>
              <a:defRPr b="1" i="0" sz="4000" u="none" cap="none" strike="noStrike">
                <a:solidFill>
                  <a:schemeClr val="lt1"/>
                </a:solidFill>
                <a:latin typeface="Cambria"/>
                <a:ea typeface="Cambria"/>
                <a:cs typeface="Cambria"/>
                <a:sym typeface="Cambri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9" name="Google Shape;9;p13"/>
          <p:cNvSpPr txBox="1"/>
          <p:nvPr>
            <p:ph idx="1" type="body"/>
          </p:nvPr>
        </p:nvSpPr>
        <p:spPr>
          <a:xfrm>
            <a:off x="731520" y="4069080"/>
            <a:ext cx="8778240" cy="914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spcBef>
                <a:spcPts val="360"/>
              </a:spcBef>
              <a:spcAft>
                <a:spcPts val="0"/>
              </a:spcAft>
              <a:buClr>
                <a:schemeClr val="accent4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accent4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406400" lvl="1" marL="914400" marR="0" rtl="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81000" lvl="2" marL="1371600" marR="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55600" lvl="3" marL="1828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55600" lvl="4" marL="22860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55600" lvl="5" marL="27432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55600" lvl="6" marL="32004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55600" lvl="7" marL="36576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55600" lvl="8" marL="4114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">
  <p:cSld name="CONTENT">
    <p:bg>
      <p:bgPr>
        <a:solidFill>
          <a:srgbClr val="FFFFFF"/>
        </a:solidFill>
      </p:bgPr>
    </p:bg>
    <p:spTree>
      <p:nvGrpSpPr>
        <p:cNvPr id="10" name="Shape 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Google Shape;11;p14"/>
          <p:cNvSpPr txBox="1"/>
          <p:nvPr>
            <p:ph idx="1" type="body"/>
          </p:nvPr>
        </p:nvSpPr>
        <p:spPr>
          <a:xfrm>
            <a:off x="548640" y="292608"/>
            <a:ext cx="82296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spcBef>
                <a:spcPts val="220"/>
              </a:spcBef>
              <a:spcAft>
                <a:spcPts val="0"/>
              </a:spcAft>
              <a:buClr>
                <a:schemeClr val="accent1"/>
              </a:buClr>
              <a:buSzPts val="1100"/>
              <a:buFont typeface="Arial"/>
              <a:buNone/>
              <a:defRPr b="1" i="0" spc="100" sz="1100" u="none" cap="none" strike="noStrike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406400" lvl="1" marL="914400" marR="0" rtl="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81000" lvl="2" marL="1371600" marR="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55600" lvl="3" marL="1828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55600" lvl="4" marL="22860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55600" lvl="5" marL="27432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55600" lvl="6" marL="32004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55600" lvl="7" marL="36576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55600" lvl="8" marL="4114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2" name="Google Shape;12;p14"/>
          <p:cNvSpPr txBox="1"/>
          <p:nvPr>
            <p:ph type="title"/>
          </p:nvPr>
        </p:nvSpPr>
        <p:spPr>
          <a:xfrm>
            <a:off x="548640" y="603504"/>
            <a:ext cx="10424160" cy="9601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600"/>
              <a:buFont typeface="Cambria"/>
              <a:buNone/>
              <a:defRPr b="0" i="0" sz="2600" u="none" cap="none" strike="noStrike">
                <a:solidFill>
                  <a:schemeClr val="dk2"/>
                </a:solidFill>
                <a:latin typeface="Cambria"/>
                <a:ea typeface="Cambria"/>
                <a:cs typeface="Cambria"/>
                <a:sym typeface="Cambri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13" name="Google Shape;13;p14"/>
          <p:cNvSpPr txBox="1"/>
          <p:nvPr>
            <p:ph idx="2" type="body"/>
          </p:nvPr>
        </p:nvSpPr>
        <p:spPr>
          <a:xfrm>
            <a:off x="548640" y="6327648"/>
            <a:ext cx="9692640" cy="29260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spcBef>
                <a:spcPts val="20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accent3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406400" lvl="1" marL="914400" marR="0" rtl="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81000" lvl="2" marL="1371600" marR="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55600" lvl="3" marL="1828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55600" lvl="4" marL="22860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55600" lvl="5" marL="27432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55600" lvl="6" marL="32004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55600" lvl="7" marL="36576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55600" lvl="8" marL="4114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pic>
        <p:nvPicPr>
          <p:cNvPr descr="preencoded.png" id="14" name="Google Shape;14;p14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11320272" y="256032"/>
            <a:ext cx="384048" cy="384048"/>
          </a:xfrm>
          <a:prstGeom prst="rect">
            <a:avLst/>
          </a:prstGeom>
          <a:noFill/>
          <a:ln>
            <a:noFill/>
          </a:ln>
        </p:spPr>
      </p:pic>
      <p:sp>
        <p:nvSpPr>
          <p:cNvPr id="15" name="Google Shape;15;p14"/>
          <p:cNvSpPr txBox="1"/>
          <p:nvPr>
            <p:ph idx="12" type="sldNum"/>
          </p:nvPr>
        </p:nvSpPr>
        <p:spPr>
          <a:xfrm>
            <a:off x="11247120" y="6327648"/>
            <a:ext cx="4572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0" lvl="0" marL="0" marR="0" algn="r">
              <a:spcBef>
                <a:spcPts val="0"/>
              </a:spcBef>
              <a:buNone/>
              <a:defRPr b="0" sz="1000">
                <a:solidFill>
                  <a:srgbClr val="8A8F8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spcBef>
                <a:spcPts val="0"/>
              </a:spcBef>
              <a:buNone/>
              <a:defRPr b="0" sz="1000">
                <a:solidFill>
                  <a:srgbClr val="8A8F8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spcBef>
                <a:spcPts val="0"/>
              </a:spcBef>
              <a:buNone/>
              <a:defRPr b="0" sz="1000">
                <a:solidFill>
                  <a:srgbClr val="8A8F8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spcBef>
                <a:spcPts val="0"/>
              </a:spcBef>
              <a:buNone/>
              <a:defRPr b="0" sz="1000">
                <a:solidFill>
                  <a:srgbClr val="8A8F8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spcBef>
                <a:spcPts val="0"/>
              </a:spcBef>
              <a:buNone/>
              <a:defRPr b="0" sz="1000">
                <a:solidFill>
                  <a:srgbClr val="8A8F8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spcBef>
                <a:spcPts val="0"/>
              </a:spcBef>
              <a:buNone/>
              <a:defRPr b="0" sz="1000">
                <a:solidFill>
                  <a:srgbClr val="8A8F8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spcBef>
                <a:spcPts val="0"/>
              </a:spcBef>
              <a:buNone/>
              <a:defRPr b="0" sz="1000">
                <a:solidFill>
                  <a:srgbClr val="8A8F8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spcBef>
                <a:spcPts val="0"/>
              </a:spcBef>
              <a:buNone/>
              <a:defRPr b="0" sz="1000">
                <a:solidFill>
                  <a:srgbClr val="8A8F8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spcBef>
                <a:spcPts val="0"/>
              </a:spcBef>
              <a:buNone/>
              <a:defRPr b="0" sz="1000">
                <a:solidFill>
                  <a:srgbClr val="8A8F8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EFAULT">
  <p:cSld name="DEFAULT">
    <p:bg>
      <p:bgPr>
        <a:solidFill>
          <a:schemeClr val="lt1"/>
        </a:solidFill>
      </p:bgPr>
    </p:bg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theme" Target="../theme/theme2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2"/>
          <p:cNvSpPr txBox="1"/>
          <p:nvPr>
            <p:ph idx="12" type="sldNum"/>
          </p:nvPr>
        </p:nvSpPr>
        <p:spPr>
          <a:xfrm>
            <a:off x="11247120" y="6327648"/>
            <a:ext cx="4572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0" lvl="0" marL="0" marR="0" rtl="0" algn="r">
              <a:spcBef>
                <a:spcPts val="0"/>
              </a:spcBef>
              <a:buNone/>
              <a:defRPr b="0" i="0" sz="1000" u="none" cap="none" strike="noStrike">
                <a:solidFill>
                  <a:srgbClr val="8A8F8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rtl="0" algn="r">
              <a:spcBef>
                <a:spcPts val="0"/>
              </a:spcBef>
              <a:buNone/>
              <a:defRPr b="0" i="0" sz="1000" u="none" cap="none" strike="noStrike">
                <a:solidFill>
                  <a:srgbClr val="8A8F8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rtl="0" algn="r">
              <a:spcBef>
                <a:spcPts val="0"/>
              </a:spcBef>
              <a:buNone/>
              <a:defRPr b="0" i="0" sz="1000" u="none" cap="none" strike="noStrike">
                <a:solidFill>
                  <a:srgbClr val="8A8F8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rtl="0" algn="r">
              <a:spcBef>
                <a:spcPts val="0"/>
              </a:spcBef>
              <a:buNone/>
              <a:defRPr b="0" i="0" sz="1000" u="none" cap="none" strike="noStrike">
                <a:solidFill>
                  <a:srgbClr val="8A8F8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rtl="0" algn="r">
              <a:spcBef>
                <a:spcPts val="0"/>
              </a:spcBef>
              <a:buNone/>
              <a:defRPr b="0" i="0" sz="1000" u="none" cap="none" strike="noStrike">
                <a:solidFill>
                  <a:srgbClr val="8A8F8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rtl="0" algn="r">
              <a:spcBef>
                <a:spcPts val="0"/>
              </a:spcBef>
              <a:buNone/>
              <a:defRPr b="0" i="0" sz="1000" u="none" cap="none" strike="noStrike">
                <a:solidFill>
                  <a:srgbClr val="8A8F8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rtl="0" algn="r">
              <a:spcBef>
                <a:spcPts val="0"/>
              </a:spcBef>
              <a:buNone/>
              <a:defRPr b="0" i="0" sz="1000" u="none" cap="none" strike="noStrike">
                <a:solidFill>
                  <a:srgbClr val="8A8F8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rtl="0" algn="r">
              <a:spcBef>
                <a:spcPts val="0"/>
              </a:spcBef>
              <a:buNone/>
              <a:defRPr b="0" i="0" sz="1000" u="none" cap="none" strike="noStrike">
                <a:solidFill>
                  <a:srgbClr val="8A8F8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rtl="0" algn="r">
              <a:spcBef>
                <a:spcPts val="0"/>
              </a:spcBef>
              <a:buNone/>
              <a:defRPr b="0" i="0" sz="1000" u="none" cap="none" strike="noStrike">
                <a:solidFill>
                  <a:srgbClr val="8A8F8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  <p:sldLayoutId id="2147483650" r:id="rId2"/>
    <p:sldLayoutId id="2147483651" r:id="rId3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12.png"/><Relationship Id="rId4" Type="http://schemas.openxmlformats.org/officeDocument/2006/relationships/image" Target="../media/image14.png"/><Relationship Id="rId5" Type="http://schemas.openxmlformats.org/officeDocument/2006/relationships/image" Target="../media/image15.jp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12.png"/><Relationship Id="rId4" Type="http://schemas.openxmlformats.org/officeDocument/2006/relationships/image" Target="../media/image14.png"/><Relationship Id="rId5" Type="http://schemas.openxmlformats.org/officeDocument/2006/relationships/image" Target="../media/image3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4.png"/><Relationship Id="rId4" Type="http://schemas.openxmlformats.org/officeDocument/2006/relationships/image" Target="../media/image1.png"/><Relationship Id="rId5" Type="http://schemas.openxmlformats.org/officeDocument/2006/relationships/image" Target="../media/image5.png"/><Relationship Id="rId6" Type="http://schemas.openxmlformats.org/officeDocument/2006/relationships/image" Target="../media/image13.png"/><Relationship Id="rId7" Type="http://schemas.openxmlformats.org/officeDocument/2006/relationships/image" Target="../media/image6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9.jp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10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7.jp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8.jp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11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Relationship Id="rId3" Type="http://schemas.openxmlformats.org/officeDocument/2006/relationships/chart" Target="../charts/chart1.xml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1"/>
          <p:cNvSpPr txBox="1"/>
          <p:nvPr>
            <p:ph type="title"/>
          </p:nvPr>
        </p:nvSpPr>
        <p:spPr>
          <a:xfrm>
            <a:off x="731520" y="2148840"/>
            <a:ext cx="8778240" cy="173736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000"/>
              <a:buFont typeface="Roboto"/>
              <a:buNone/>
            </a:pPr>
            <a:r>
              <a:rPr lang="en-US">
                <a:solidFill>
                  <a:schemeClr val="accent1"/>
                </a:solidFill>
                <a:latin typeface="Roboto"/>
                <a:ea typeface="Roboto"/>
                <a:cs typeface="Roboto"/>
                <a:sym typeface="Roboto"/>
              </a:rPr>
              <a:t>Centre Court</a:t>
            </a:r>
            <a:r>
              <a:rPr b="1" lang="en-US" sz="4000">
                <a:solidFill>
                  <a:schemeClr val="accent1"/>
                </a:solidFill>
                <a:latin typeface="Roboto"/>
                <a:ea typeface="Roboto"/>
                <a:cs typeface="Roboto"/>
                <a:sym typeface="Roboto"/>
              </a:rPr>
              <a:t>: Baseline</a:t>
            </a:r>
            <a:endParaRPr>
              <a:solidFill>
                <a:schemeClr val="accent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000"/>
              <a:buFont typeface="Roboto"/>
              <a:buNone/>
            </a:pPr>
            <a:r>
              <a:rPr lang="en-US" sz="3100">
                <a:solidFill>
                  <a:srgbClr val="FFFF00"/>
                </a:solidFill>
                <a:latin typeface="Roboto"/>
                <a:ea typeface="Roboto"/>
                <a:cs typeface="Roboto"/>
                <a:sym typeface="Roboto"/>
              </a:rPr>
              <a:t>I</a:t>
            </a:r>
            <a:r>
              <a:rPr b="1" lang="en-US" sz="3100">
                <a:solidFill>
                  <a:srgbClr val="FFFF00"/>
                </a:solidFill>
                <a:latin typeface="Roboto"/>
                <a:ea typeface="Roboto"/>
                <a:cs typeface="Roboto"/>
                <a:sym typeface="Roboto"/>
              </a:rPr>
              <a:t>nstant tennis coaching, computed on the court</a:t>
            </a:r>
            <a:endParaRPr sz="3100">
              <a:solidFill>
                <a:srgbClr val="FFFF00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3" name="Google Shape;23;p1"/>
          <p:cNvSpPr txBox="1"/>
          <p:nvPr>
            <p:ph idx="1" type="body"/>
          </p:nvPr>
        </p:nvSpPr>
        <p:spPr>
          <a:xfrm>
            <a:off x="731525" y="4069075"/>
            <a:ext cx="10215300" cy="914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800"/>
              <a:buNone/>
            </a:pPr>
            <a:r>
              <a:rPr lang="en-US">
                <a:solidFill>
                  <a:srgbClr val="EFEFEF"/>
                </a:solidFill>
                <a:latin typeface="Roboto"/>
                <a:ea typeface="Roboto"/>
                <a:cs typeface="Roboto"/>
                <a:sym typeface="Roboto"/>
              </a:rPr>
              <a:t>2026 </a:t>
            </a:r>
            <a:r>
              <a:rPr lang="en-US" sz="1800">
                <a:solidFill>
                  <a:srgbClr val="EFEFEF"/>
                </a:solidFill>
                <a:latin typeface="Roboto"/>
                <a:ea typeface="Roboto"/>
                <a:cs typeface="Roboto"/>
                <a:sym typeface="Roboto"/>
              </a:rPr>
              <a:t>ASUS UGen AI League Innovation Hackathon </a:t>
            </a:r>
            <a:endParaRPr sz="1800">
              <a:solidFill>
                <a:srgbClr val="EFEFEF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>
                <a:solidFill>
                  <a:srgbClr val="EFEFEF"/>
                </a:solidFill>
                <a:latin typeface="Roboto"/>
                <a:ea typeface="Roboto"/>
                <a:cs typeface="Roboto"/>
                <a:sym typeface="Roboto"/>
              </a:rPr>
              <a:t>Battlefield Lightning (Lightweight Computing Track)	ASUS UGen300 AI Accelerator (M.2 or USB)</a:t>
            </a:r>
            <a:endParaRPr>
              <a:solidFill>
                <a:srgbClr val="EFEFEF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rgbClr val="EFEFEF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rgbClr val="EFEFEF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rgbClr val="EFEFEF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800"/>
              <a:buNone/>
            </a:pPr>
            <a:r>
              <a:rPr lang="en-US" sz="1800">
                <a:solidFill>
                  <a:srgbClr val="EFEFEF"/>
                </a:solidFill>
                <a:latin typeface="Roboto"/>
                <a:ea typeface="Roboto"/>
                <a:cs typeface="Roboto"/>
                <a:sym typeface="Roboto"/>
              </a:rPr>
              <a:t>Jefferson</a:t>
            </a:r>
            <a:r>
              <a:rPr lang="en-US">
                <a:solidFill>
                  <a:srgbClr val="EFEFEF"/>
                </a:solidFill>
                <a:latin typeface="Roboto"/>
                <a:ea typeface="Roboto"/>
                <a:cs typeface="Roboto"/>
                <a:sym typeface="Roboto"/>
              </a:rPr>
              <a:t> Tse-Wei Lee 	| Senior Data Scientist 			| Aurecon</a:t>
            </a:r>
            <a:endParaRPr>
              <a:solidFill>
                <a:srgbClr val="EFEFEF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800"/>
              <a:buNone/>
            </a:pPr>
            <a:r>
              <a:rPr lang="en-US">
                <a:solidFill>
                  <a:srgbClr val="EFEFEF"/>
                </a:solidFill>
                <a:latin typeface="Roboto"/>
                <a:ea typeface="Roboto"/>
                <a:cs typeface="Roboto"/>
                <a:sym typeface="Roboto"/>
              </a:rPr>
              <a:t>Ben Wylie 				| Senior Asset Management	| Aurecon </a:t>
            </a:r>
            <a:endParaRPr>
              <a:solidFill>
                <a:srgbClr val="EFEFEF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2"/>
          <p:cNvSpPr txBox="1"/>
          <p:nvPr>
            <p:ph idx="1" type="body"/>
          </p:nvPr>
        </p:nvSpPr>
        <p:spPr>
          <a:xfrm>
            <a:off x="548640" y="292608"/>
            <a:ext cx="82296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100"/>
              <a:buNone/>
            </a:pPr>
            <a:r>
              <a:rPr b="1" lang="en-US" spc="100" sz="1100">
                <a:solidFill>
                  <a:schemeClr val="accent1"/>
                </a:solidFill>
                <a:latin typeface="Roboto"/>
                <a:ea typeface="Roboto"/>
                <a:cs typeface="Roboto"/>
                <a:sym typeface="Roboto"/>
              </a:rPr>
              <a:t>PROBLEM AND WHY EDGE</a:t>
            </a:r>
            <a:endParaRPr sz="1100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30" name="Google Shape;30;p2"/>
          <p:cNvSpPr txBox="1"/>
          <p:nvPr>
            <p:ph type="title"/>
          </p:nvPr>
        </p:nvSpPr>
        <p:spPr>
          <a:xfrm>
            <a:off x="548640" y="603504"/>
            <a:ext cx="10424160" cy="9601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600"/>
              <a:buFont typeface="Roboto"/>
              <a:buNone/>
            </a:pPr>
            <a:r>
              <a:rPr lang="en-US">
                <a:latin typeface="Roboto"/>
                <a:ea typeface="Roboto"/>
                <a:cs typeface="Roboto"/>
                <a:sym typeface="Roboto"/>
              </a:rPr>
              <a:t>The Team: </a:t>
            </a:r>
            <a:endParaRPr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600"/>
              <a:buFont typeface="Roboto"/>
              <a:buNone/>
            </a:pPr>
            <a:r>
              <a:rPr lang="en-US">
                <a:latin typeface="Roboto"/>
                <a:ea typeface="Roboto"/>
                <a:cs typeface="Roboto"/>
                <a:sym typeface="Roboto"/>
              </a:rPr>
              <a:t>Jefferson Tse-Wei Lee &amp; Ben Wylie 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31" name="Google Shape;31;p2"/>
          <p:cNvSpPr txBox="1"/>
          <p:nvPr/>
        </p:nvSpPr>
        <p:spPr>
          <a:xfrm>
            <a:off x="548640" y="1737360"/>
            <a:ext cx="5669400" cy="365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700"/>
              <a:buFont typeface="Roboto"/>
              <a:buNone/>
            </a:pPr>
            <a:r>
              <a:rPr lang="en-US" sz="17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Meet the team:</a:t>
            </a:r>
            <a:endParaRPr sz="17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32" name="Google Shape;32;p2"/>
          <p:cNvSpPr/>
          <p:nvPr/>
        </p:nvSpPr>
        <p:spPr>
          <a:xfrm>
            <a:off x="548640" y="2240280"/>
            <a:ext cx="685800" cy="685800"/>
          </a:xfrm>
          <a:prstGeom prst="ellipse">
            <a:avLst/>
          </a:prstGeom>
          <a:solidFill>
            <a:schemeClr val="dk2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pic>
        <p:nvPicPr>
          <p:cNvPr descr="preencoded.png" id="33" name="Google Shape;33;p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13232" y="2404872"/>
            <a:ext cx="356616" cy="356616"/>
          </a:xfrm>
          <a:prstGeom prst="rect">
            <a:avLst/>
          </a:prstGeom>
          <a:noFill/>
          <a:ln>
            <a:noFill/>
          </a:ln>
        </p:spPr>
      </p:pic>
      <p:sp>
        <p:nvSpPr>
          <p:cNvPr id="34" name="Google Shape;34;p2"/>
          <p:cNvSpPr txBox="1"/>
          <p:nvPr/>
        </p:nvSpPr>
        <p:spPr>
          <a:xfrm>
            <a:off x="1463040" y="2221992"/>
            <a:ext cx="4755000" cy="365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700"/>
              <a:buFont typeface="Roboto"/>
              <a:buNone/>
            </a:pPr>
            <a:r>
              <a:rPr b="1" lang="en-US" sz="17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rPr>
              <a:t>Jefferson Tse-Wei Lee</a:t>
            </a:r>
            <a:endParaRPr sz="17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35" name="Google Shape;35;p2"/>
          <p:cNvSpPr txBox="1"/>
          <p:nvPr/>
        </p:nvSpPr>
        <p:spPr>
          <a:xfrm>
            <a:off x="1463052" y="2587750"/>
            <a:ext cx="5914800" cy="685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-317500" lvl="0" marL="4572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oboto"/>
              <a:buChar char="●"/>
            </a:pPr>
            <a:r>
              <a:rPr lang="en-US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Born and raised in Taiwan, started his career as intern in ASUS Taiwan</a:t>
            </a:r>
            <a:endParaRPr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-317500" lvl="0" marL="4572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oboto"/>
              <a:buChar char="●"/>
            </a:pPr>
            <a:r>
              <a:rPr lang="en-US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Senior Data Scientist in Asset Performance at Aurecon</a:t>
            </a:r>
            <a:endParaRPr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36" name="Google Shape;36;p2"/>
          <p:cNvSpPr/>
          <p:nvPr/>
        </p:nvSpPr>
        <p:spPr>
          <a:xfrm>
            <a:off x="548640" y="3474720"/>
            <a:ext cx="685800" cy="685800"/>
          </a:xfrm>
          <a:prstGeom prst="ellipse">
            <a:avLst/>
          </a:prstGeom>
          <a:solidFill>
            <a:schemeClr val="dk2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pic>
        <p:nvPicPr>
          <p:cNvPr descr="preencoded.png" id="37" name="Google Shape;37;p2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713232" y="3639312"/>
            <a:ext cx="356616" cy="356616"/>
          </a:xfrm>
          <a:prstGeom prst="rect">
            <a:avLst/>
          </a:prstGeom>
          <a:noFill/>
          <a:ln>
            <a:noFill/>
          </a:ln>
        </p:spPr>
      </p:pic>
      <p:sp>
        <p:nvSpPr>
          <p:cNvPr id="38" name="Google Shape;38;p2"/>
          <p:cNvSpPr txBox="1"/>
          <p:nvPr/>
        </p:nvSpPr>
        <p:spPr>
          <a:xfrm>
            <a:off x="1463040" y="3456432"/>
            <a:ext cx="4755000" cy="365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700"/>
              <a:buFont typeface="Roboto"/>
              <a:buNone/>
            </a:pPr>
            <a:r>
              <a:rPr b="1" lang="en-US" sz="17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rPr>
              <a:t>Ben Wylie</a:t>
            </a:r>
            <a:endParaRPr sz="17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39" name="Google Shape;39;p2"/>
          <p:cNvSpPr txBox="1"/>
          <p:nvPr/>
        </p:nvSpPr>
        <p:spPr>
          <a:xfrm>
            <a:off x="1463050" y="3822200"/>
            <a:ext cx="6044700" cy="685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-317500" lvl="0" marL="4572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oboto"/>
              <a:buChar char="●"/>
            </a:pPr>
            <a:r>
              <a:rPr lang="en-US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Twenty years+ of tennis experience and currently the club level player in Brisbane.</a:t>
            </a:r>
            <a:endParaRPr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-317500" lvl="0" marL="4572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oboto"/>
              <a:buChar char="●"/>
            </a:pPr>
            <a:r>
              <a:rPr lang="en-US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Senior Asset Consultant in Infrastructure Advisory at Aurecon</a:t>
            </a:r>
            <a:endParaRPr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40" name="Google Shape;40;p2"/>
          <p:cNvSpPr txBox="1"/>
          <p:nvPr/>
        </p:nvSpPr>
        <p:spPr>
          <a:xfrm>
            <a:off x="548650" y="5175500"/>
            <a:ext cx="6959100" cy="685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-317500" lvl="0" marL="4572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oboto"/>
              <a:buChar char="●"/>
            </a:pPr>
            <a:r>
              <a:rPr lang="en-US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Both Ben and Jefferson are based in Brisbane Australia</a:t>
            </a:r>
            <a:endParaRPr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-317500" lvl="0" marL="4572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oboto"/>
              <a:buChar char="●"/>
            </a:pPr>
            <a:r>
              <a:rPr lang="en-US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Aurecon is a 7000+ people Engineering c</a:t>
            </a:r>
            <a:r>
              <a:rPr lang="en-US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onsultancy</a:t>
            </a:r>
            <a:r>
              <a:rPr lang="en-US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 from Australia. The projects are across APAC region, including HK international Aireport and tallest building in Mainland China. </a:t>
            </a:r>
            <a:endParaRPr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oboto"/>
              <a:buChar char="●"/>
            </a:pPr>
            <a:r>
              <a:rPr lang="en-US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Disclosure: Although both Ben and Jefferson work for Aurecon, but this project is independent and has no commercial relationship with, or endorsement from, Aurecon. </a:t>
            </a:r>
            <a:endParaRPr sz="14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41" name="Google Shape;41;p2"/>
          <p:cNvSpPr txBox="1"/>
          <p:nvPr>
            <p:ph idx="4294967295" type="sldNum"/>
          </p:nvPr>
        </p:nvSpPr>
        <p:spPr>
          <a:xfrm>
            <a:off x="11247120" y="6327648"/>
            <a:ext cx="4572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lang="en-US" sz="1000">
                <a:solidFill>
                  <a:srgbClr val="8A8F80"/>
                </a:solidFill>
                <a:latin typeface="Roboto"/>
                <a:ea typeface="Roboto"/>
                <a:cs typeface="Roboto"/>
                <a:sym typeface="Roboto"/>
              </a:rPr>
              <a:t>‹#›</a:t>
            </a:fld>
            <a:endParaRPr sz="1000">
              <a:solidFill>
                <a:srgbClr val="8A8F80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42" name="Google Shape;42;p2"/>
          <p:cNvSpPr txBox="1"/>
          <p:nvPr/>
        </p:nvSpPr>
        <p:spPr>
          <a:xfrm>
            <a:off x="548650" y="4722028"/>
            <a:ext cx="5559300" cy="274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700"/>
              <a:buFont typeface="Roboto"/>
              <a:buNone/>
            </a:pPr>
            <a:r>
              <a:rPr lang="en-US" sz="17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Location &amp; Disclosure: </a:t>
            </a:r>
            <a:endParaRPr sz="17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pic>
        <p:nvPicPr>
          <p:cNvPr id="43" name="Google Shape;43;p2"/>
          <p:cNvPicPr preferRelativeResize="0"/>
          <p:nvPr/>
        </p:nvPicPr>
        <p:blipFill rotWithShape="1">
          <a:blip r:embed="rId5">
            <a:alphaModFix/>
          </a:blip>
          <a:srcRect b="0" l="0" r="12080" t="13577"/>
          <a:stretch/>
        </p:blipFill>
        <p:spPr>
          <a:xfrm>
            <a:off x="7771050" y="1029700"/>
            <a:ext cx="3867276" cy="506852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3"/>
          <p:cNvSpPr txBox="1"/>
          <p:nvPr>
            <p:ph idx="1" type="body"/>
          </p:nvPr>
        </p:nvSpPr>
        <p:spPr>
          <a:xfrm>
            <a:off x="548640" y="292608"/>
            <a:ext cx="82296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100"/>
              <a:buNone/>
            </a:pPr>
            <a:r>
              <a:rPr b="1" lang="en-US" spc="100" sz="1100">
                <a:solidFill>
                  <a:schemeClr val="accent1"/>
                </a:solidFill>
                <a:latin typeface="Roboto"/>
                <a:ea typeface="Roboto"/>
                <a:cs typeface="Roboto"/>
                <a:sym typeface="Roboto"/>
              </a:rPr>
              <a:t>PROBLEM AND WHY EDGE</a:t>
            </a:r>
            <a:endParaRPr sz="1100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50" name="Google Shape;50;p3"/>
          <p:cNvSpPr txBox="1"/>
          <p:nvPr>
            <p:ph type="title"/>
          </p:nvPr>
        </p:nvSpPr>
        <p:spPr>
          <a:xfrm>
            <a:off x="548640" y="603504"/>
            <a:ext cx="10424160" cy="9601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600"/>
              <a:buFont typeface="Roboto"/>
              <a:buNone/>
            </a:pPr>
            <a:r>
              <a:rPr lang="en-US" sz="26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rPr>
              <a:t>Players cannot see their own technique, and the fix has to be instant, private and offline - a natural edge problem</a:t>
            </a:r>
            <a:endParaRPr sz="2600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51" name="Google Shape;51;p3"/>
          <p:cNvSpPr txBox="1"/>
          <p:nvPr>
            <p:ph idx="2" type="body"/>
          </p:nvPr>
        </p:nvSpPr>
        <p:spPr>
          <a:xfrm>
            <a:off x="548640" y="6327648"/>
            <a:ext cx="9692640" cy="29260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None/>
            </a:pPr>
            <a:r>
              <a:rPr lang="en-US" sz="1000">
                <a:solidFill>
                  <a:schemeClr val="accent3"/>
                </a:solidFill>
                <a:latin typeface="Roboto"/>
                <a:ea typeface="Roboto"/>
                <a:cs typeface="Roboto"/>
                <a:sym typeface="Roboto"/>
              </a:rPr>
              <a:t>Our hypothesis, to be validated with players and coaches</a:t>
            </a:r>
            <a:endParaRPr sz="1000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52" name="Google Shape;52;p3"/>
          <p:cNvSpPr txBox="1"/>
          <p:nvPr/>
        </p:nvSpPr>
        <p:spPr>
          <a:xfrm>
            <a:off x="548640" y="1737360"/>
            <a:ext cx="5669280" cy="3657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700"/>
              <a:buFont typeface="Roboto"/>
              <a:buNone/>
            </a:pPr>
            <a:r>
              <a:rPr b="1" lang="en-US" sz="1700">
                <a:solidFill>
                  <a:schemeClr val="accent5"/>
                </a:solidFill>
                <a:latin typeface="Roboto"/>
                <a:ea typeface="Roboto"/>
                <a:cs typeface="Roboto"/>
                <a:sym typeface="Roboto"/>
              </a:rPr>
              <a:t>The problem</a:t>
            </a:r>
            <a:endParaRPr sz="17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53" name="Google Shape;53;p3"/>
          <p:cNvSpPr/>
          <p:nvPr/>
        </p:nvSpPr>
        <p:spPr>
          <a:xfrm>
            <a:off x="548640" y="2240280"/>
            <a:ext cx="685800" cy="685800"/>
          </a:xfrm>
          <a:prstGeom prst="ellipse">
            <a:avLst/>
          </a:prstGeom>
          <a:solidFill>
            <a:schemeClr val="dk2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pic>
        <p:nvPicPr>
          <p:cNvPr descr="preencoded.png" id="54" name="Google Shape;54;p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13232" y="2404872"/>
            <a:ext cx="356616" cy="356616"/>
          </a:xfrm>
          <a:prstGeom prst="rect">
            <a:avLst/>
          </a:prstGeom>
          <a:noFill/>
          <a:ln>
            <a:noFill/>
          </a:ln>
        </p:spPr>
      </p:pic>
      <p:sp>
        <p:nvSpPr>
          <p:cNvPr id="55" name="Google Shape;55;p3"/>
          <p:cNvSpPr txBox="1"/>
          <p:nvPr/>
        </p:nvSpPr>
        <p:spPr>
          <a:xfrm>
            <a:off x="1463040" y="2221992"/>
            <a:ext cx="4754880" cy="3657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700"/>
              <a:buFont typeface="Roboto"/>
              <a:buNone/>
            </a:pPr>
            <a:r>
              <a:rPr b="1" lang="en-US" sz="17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rPr>
              <a:t>Invisible</a:t>
            </a:r>
            <a:endParaRPr sz="17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56" name="Google Shape;56;p3"/>
          <p:cNvSpPr txBox="1"/>
          <p:nvPr/>
        </p:nvSpPr>
        <p:spPr>
          <a:xfrm>
            <a:off x="1463040" y="2587752"/>
            <a:ext cx="4754880" cy="685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oboto"/>
              <a:buNone/>
            </a:pPr>
            <a:r>
              <a:rPr lang="en-US" sz="14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Foot order, toss height and the hitting point happen in a fraction of a second.</a:t>
            </a:r>
            <a:endParaRPr sz="14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57" name="Google Shape;57;p3"/>
          <p:cNvSpPr/>
          <p:nvPr/>
        </p:nvSpPr>
        <p:spPr>
          <a:xfrm>
            <a:off x="548640" y="3474720"/>
            <a:ext cx="685800" cy="685800"/>
          </a:xfrm>
          <a:prstGeom prst="ellipse">
            <a:avLst/>
          </a:prstGeom>
          <a:solidFill>
            <a:schemeClr val="dk2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pic>
        <p:nvPicPr>
          <p:cNvPr descr="preencoded.png" id="58" name="Google Shape;58;p3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713232" y="3639312"/>
            <a:ext cx="356616" cy="356616"/>
          </a:xfrm>
          <a:prstGeom prst="rect">
            <a:avLst/>
          </a:prstGeom>
          <a:noFill/>
          <a:ln>
            <a:noFill/>
          </a:ln>
        </p:spPr>
      </p:pic>
      <p:sp>
        <p:nvSpPr>
          <p:cNvPr id="59" name="Google Shape;59;p3"/>
          <p:cNvSpPr txBox="1"/>
          <p:nvPr/>
        </p:nvSpPr>
        <p:spPr>
          <a:xfrm>
            <a:off x="1463040" y="3456432"/>
            <a:ext cx="4754880" cy="3657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700"/>
              <a:buFont typeface="Roboto"/>
              <a:buNone/>
            </a:pPr>
            <a:r>
              <a:rPr b="1" lang="en-US" sz="17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rPr>
              <a:t>Delayed</a:t>
            </a:r>
            <a:endParaRPr sz="17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60" name="Google Shape;60;p3"/>
          <p:cNvSpPr txBox="1"/>
          <p:nvPr/>
        </p:nvSpPr>
        <p:spPr>
          <a:xfrm>
            <a:off x="1463040" y="3822192"/>
            <a:ext cx="4754880" cy="685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oboto"/>
              <a:buNone/>
            </a:pPr>
            <a:r>
              <a:rPr lang="en-US" sz="14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Video review happens after the session, when the feel of the stroke is gone.</a:t>
            </a:r>
            <a:endParaRPr sz="14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61" name="Google Shape;61;p3"/>
          <p:cNvSpPr/>
          <p:nvPr/>
        </p:nvSpPr>
        <p:spPr>
          <a:xfrm>
            <a:off x="548640" y="4709160"/>
            <a:ext cx="685800" cy="685800"/>
          </a:xfrm>
          <a:prstGeom prst="ellipse">
            <a:avLst/>
          </a:prstGeom>
          <a:solidFill>
            <a:schemeClr val="dk2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pic>
        <p:nvPicPr>
          <p:cNvPr descr="preencoded.png" id="62" name="Google Shape;62;p3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713232" y="4873752"/>
            <a:ext cx="356616" cy="356616"/>
          </a:xfrm>
          <a:prstGeom prst="rect">
            <a:avLst/>
          </a:prstGeom>
          <a:noFill/>
          <a:ln>
            <a:noFill/>
          </a:ln>
        </p:spPr>
      </p:pic>
      <p:sp>
        <p:nvSpPr>
          <p:cNvPr id="63" name="Google Shape;63;p3"/>
          <p:cNvSpPr txBox="1"/>
          <p:nvPr/>
        </p:nvSpPr>
        <p:spPr>
          <a:xfrm>
            <a:off x="1463040" y="4690872"/>
            <a:ext cx="4754880" cy="3657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700"/>
              <a:buFont typeface="Roboto"/>
              <a:buNone/>
            </a:pPr>
            <a:r>
              <a:rPr b="1" lang="en-US" sz="17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rPr>
              <a:t>Coach-dependent</a:t>
            </a:r>
            <a:endParaRPr sz="17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64" name="Google Shape;64;p3"/>
          <p:cNvSpPr txBox="1"/>
          <p:nvPr/>
        </p:nvSpPr>
        <p:spPr>
          <a:xfrm>
            <a:off x="1463040" y="5056632"/>
            <a:ext cx="4754880" cy="685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oboto"/>
              <a:buNone/>
            </a:pPr>
            <a:r>
              <a:rPr lang="en-US" sz="14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Frame-by-frame analysis needs a coach's time for every stroke.</a:t>
            </a:r>
            <a:endParaRPr sz="14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65" name="Google Shape;65;p3"/>
          <p:cNvSpPr/>
          <p:nvPr/>
        </p:nvSpPr>
        <p:spPr>
          <a:xfrm>
            <a:off x="6675120" y="1737360"/>
            <a:ext cx="4937760" cy="420624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66" name="Google Shape;66;p3"/>
          <p:cNvSpPr txBox="1"/>
          <p:nvPr/>
        </p:nvSpPr>
        <p:spPr>
          <a:xfrm>
            <a:off x="6949440" y="1920240"/>
            <a:ext cx="4389120" cy="4114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800"/>
              <a:buFont typeface="Roboto"/>
              <a:buNone/>
            </a:pPr>
            <a:r>
              <a:rPr b="1" lang="en-US" sz="1800">
                <a:solidFill>
                  <a:schemeClr val="accent1"/>
                </a:solidFill>
                <a:latin typeface="Roboto"/>
                <a:ea typeface="Roboto"/>
                <a:cs typeface="Roboto"/>
                <a:sym typeface="Roboto"/>
              </a:rPr>
              <a:t>Why edge computing</a:t>
            </a:r>
            <a:endParaRPr sz="18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67" name="Google Shape;67;p3"/>
          <p:cNvSpPr txBox="1"/>
          <p:nvPr/>
        </p:nvSpPr>
        <p:spPr>
          <a:xfrm>
            <a:off x="6949440" y="2514600"/>
            <a:ext cx="4389120" cy="34747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Roboto"/>
              <a:buNone/>
            </a:pPr>
            <a:r>
              <a:rPr b="1" lang="en-US" sz="16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Offline</a:t>
            </a:r>
            <a:endParaRPr sz="16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68" name="Google Shape;68;p3"/>
          <p:cNvSpPr txBox="1"/>
          <p:nvPr/>
        </p:nvSpPr>
        <p:spPr>
          <a:xfrm>
            <a:off x="6949440" y="2862072"/>
            <a:ext cx="4389120" cy="685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400"/>
              <a:buFont typeface="Roboto"/>
              <a:buNone/>
            </a:pPr>
            <a:r>
              <a:rPr lang="en-US" sz="1400">
                <a:solidFill>
                  <a:schemeClr val="accent4"/>
                </a:solidFill>
                <a:latin typeface="Roboto"/>
                <a:ea typeface="Roboto"/>
                <a:cs typeface="Roboto"/>
                <a:sym typeface="Roboto"/>
              </a:rPr>
              <a:t>Courts often have weak or no Wi-Fi; every step runs on the phone and the UGen300.</a:t>
            </a:r>
            <a:endParaRPr sz="14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69" name="Google Shape;69;p3"/>
          <p:cNvSpPr txBox="1"/>
          <p:nvPr/>
        </p:nvSpPr>
        <p:spPr>
          <a:xfrm>
            <a:off x="6949440" y="3611880"/>
            <a:ext cx="4389120" cy="34747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Roboto"/>
              <a:buNone/>
            </a:pPr>
            <a:r>
              <a:rPr b="1" lang="en-US" sz="16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Private</a:t>
            </a:r>
            <a:endParaRPr sz="16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70" name="Google Shape;70;p3"/>
          <p:cNvSpPr txBox="1"/>
          <p:nvPr/>
        </p:nvSpPr>
        <p:spPr>
          <a:xfrm>
            <a:off x="6949440" y="3959352"/>
            <a:ext cx="4389120" cy="685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400"/>
              <a:buFont typeface="Roboto"/>
              <a:buNone/>
            </a:pPr>
            <a:r>
              <a:rPr lang="en-US" sz="1400">
                <a:solidFill>
                  <a:schemeClr val="accent4"/>
                </a:solidFill>
                <a:latin typeface="Roboto"/>
                <a:ea typeface="Roboto"/>
                <a:cs typeface="Roboto"/>
                <a:sym typeface="Roboto"/>
              </a:rPr>
              <a:t>Video of players (often juniors) never leaves the court.</a:t>
            </a:r>
            <a:endParaRPr sz="14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71" name="Google Shape;71;p3"/>
          <p:cNvSpPr txBox="1"/>
          <p:nvPr/>
        </p:nvSpPr>
        <p:spPr>
          <a:xfrm>
            <a:off x="6949440" y="4709160"/>
            <a:ext cx="4389120" cy="34747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Roboto"/>
              <a:buNone/>
            </a:pPr>
            <a:r>
              <a:rPr b="1" lang="en-US" sz="16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Instant</a:t>
            </a:r>
            <a:endParaRPr sz="16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72" name="Google Shape;72;p3"/>
          <p:cNvSpPr txBox="1"/>
          <p:nvPr/>
        </p:nvSpPr>
        <p:spPr>
          <a:xfrm>
            <a:off x="6949440" y="5056632"/>
            <a:ext cx="4389120" cy="685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400"/>
              <a:buFont typeface="Roboto"/>
              <a:buNone/>
            </a:pPr>
            <a:r>
              <a:rPr lang="en-US" sz="1400">
                <a:solidFill>
                  <a:schemeClr val="accent4"/>
                </a:solidFill>
                <a:latin typeface="Roboto"/>
                <a:ea typeface="Roboto"/>
                <a:cs typeface="Roboto"/>
                <a:sym typeface="Roboto"/>
              </a:rPr>
              <a:t>Feedback between points, while the player can still feel the stroke.</a:t>
            </a:r>
            <a:endParaRPr sz="14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73" name="Google Shape;73;p3"/>
          <p:cNvSpPr txBox="1"/>
          <p:nvPr>
            <p:ph idx="4294967295" type="sldNum"/>
          </p:nvPr>
        </p:nvSpPr>
        <p:spPr>
          <a:xfrm>
            <a:off x="11247120" y="6327648"/>
            <a:ext cx="4572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lang="en-US" sz="1000">
                <a:solidFill>
                  <a:srgbClr val="8A8F80"/>
                </a:solidFill>
                <a:latin typeface="Roboto"/>
                <a:ea typeface="Roboto"/>
                <a:cs typeface="Roboto"/>
                <a:sym typeface="Roboto"/>
              </a:rPr>
              <a:t>‹#›</a:t>
            </a:fld>
            <a:endParaRPr sz="1000">
              <a:solidFill>
                <a:srgbClr val="8A8F80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8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Google Shape;79;p4"/>
          <p:cNvSpPr txBox="1"/>
          <p:nvPr>
            <p:ph idx="1" type="body"/>
          </p:nvPr>
        </p:nvSpPr>
        <p:spPr>
          <a:xfrm>
            <a:off x="548640" y="292608"/>
            <a:ext cx="82296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100"/>
              <a:buNone/>
            </a:pPr>
            <a:r>
              <a:rPr b="1" lang="en-US" spc="100" sz="1100">
                <a:solidFill>
                  <a:schemeClr val="accent1"/>
                </a:solidFill>
                <a:latin typeface="Roboto"/>
                <a:ea typeface="Roboto"/>
                <a:cs typeface="Roboto"/>
                <a:sym typeface="Roboto"/>
              </a:rPr>
              <a:t>SOLUTION AND EDGE ARCHITECTURE</a:t>
            </a:r>
            <a:endParaRPr sz="1100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80" name="Google Shape;80;p4"/>
          <p:cNvSpPr txBox="1"/>
          <p:nvPr>
            <p:ph type="title"/>
          </p:nvPr>
        </p:nvSpPr>
        <p:spPr>
          <a:xfrm>
            <a:off x="548640" y="603504"/>
            <a:ext cx="10424160" cy="9601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600"/>
              <a:buFont typeface="Roboto"/>
              <a:buNone/>
            </a:pPr>
            <a:r>
              <a:rPr lang="en-US" sz="26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rPr>
              <a:t>Five stages turn a phone clip into coaching; the phone does capture and logic, the UGen300's NPU runs the neural models</a:t>
            </a:r>
            <a:endParaRPr sz="2600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81" name="Google Shape;81;p4"/>
          <p:cNvSpPr txBox="1"/>
          <p:nvPr>
            <p:ph idx="2" type="body"/>
          </p:nvPr>
        </p:nvSpPr>
        <p:spPr>
          <a:xfrm>
            <a:off x="548640" y="6327648"/>
            <a:ext cx="9692640" cy="29260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None/>
            </a:pPr>
            <a:r>
              <a:rPr lang="en-US" sz="1000">
                <a:solidFill>
                  <a:schemeClr val="accent3"/>
                </a:solidFill>
                <a:latin typeface="Roboto"/>
                <a:ea typeface="Roboto"/>
                <a:cs typeface="Roboto"/>
                <a:sym typeface="Roboto"/>
              </a:rPr>
              <a:t>Hackathon demo runs the same pipeline as a web app on a laptop; YOLOX is in the Hailo Model Zoo, the pose model still has to be converted and benchmarked</a:t>
            </a:r>
            <a:endParaRPr sz="1000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82" name="Google Shape;82;p4"/>
          <p:cNvSpPr/>
          <p:nvPr/>
        </p:nvSpPr>
        <p:spPr>
          <a:xfrm>
            <a:off x="548640" y="1828800"/>
            <a:ext cx="2194560" cy="914400"/>
          </a:xfrm>
          <a:prstGeom prst="homePlate">
            <a:avLst>
              <a:gd fmla="val 50000" name="adj"/>
            </a:avLst>
          </a:prstGeom>
          <a:solidFill>
            <a:schemeClr val="dk2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pic>
        <p:nvPicPr>
          <p:cNvPr descr="preencoded.png" id="83" name="Google Shape;83;p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77240" y="2103120"/>
            <a:ext cx="365760" cy="365760"/>
          </a:xfrm>
          <a:prstGeom prst="rect">
            <a:avLst/>
          </a:prstGeom>
          <a:noFill/>
          <a:ln>
            <a:noFill/>
          </a:ln>
        </p:spPr>
      </p:pic>
      <p:sp>
        <p:nvSpPr>
          <p:cNvPr id="84" name="Google Shape;84;p4"/>
          <p:cNvSpPr txBox="1"/>
          <p:nvPr/>
        </p:nvSpPr>
        <p:spPr>
          <a:xfrm>
            <a:off x="1216152" y="2011680"/>
            <a:ext cx="118872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Font typeface="Roboto"/>
              <a:buNone/>
            </a:pPr>
            <a:r>
              <a:rPr b="1" lang="en-US" sz="15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1 Frames</a:t>
            </a:r>
            <a:endParaRPr sz="15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85" name="Google Shape;85;p4"/>
          <p:cNvSpPr txBox="1"/>
          <p:nvPr/>
        </p:nvSpPr>
        <p:spPr>
          <a:xfrm>
            <a:off x="640080" y="2926080"/>
            <a:ext cx="2057400" cy="8686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Roboto"/>
              <a:buNone/>
            </a:pPr>
            <a:r>
              <a:rPr lang="en-US" sz="13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Video split into one image per frame (120 per second)</a:t>
            </a:r>
            <a:endParaRPr sz="13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86" name="Google Shape;86;p4"/>
          <p:cNvSpPr txBox="1"/>
          <p:nvPr/>
        </p:nvSpPr>
        <p:spPr>
          <a:xfrm>
            <a:off x="640080" y="3794760"/>
            <a:ext cx="20574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200"/>
              <a:buFont typeface="Roboto"/>
              <a:buNone/>
            </a:pPr>
            <a:r>
              <a:rPr b="1" lang="en-US" sz="1200">
                <a:solidFill>
                  <a:schemeClr val="accent5"/>
                </a:solidFill>
                <a:latin typeface="Roboto"/>
                <a:ea typeface="Roboto"/>
                <a:cs typeface="Roboto"/>
                <a:sym typeface="Roboto"/>
              </a:rPr>
              <a:t>Runs on: Phone</a:t>
            </a:r>
            <a:endParaRPr sz="12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87" name="Google Shape;87;p4"/>
          <p:cNvSpPr/>
          <p:nvPr/>
        </p:nvSpPr>
        <p:spPr>
          <a:xfrm>
            <a:off x="2779776" y="1828800"/>
            <a:ext cx="2194560" cy="914400"/>
          </a:xfrm>
          <a:prstGeom prst="chevron">
            <a:avLst>
              <a:gd fmla="val 50000" name="adj"/>
            </a:avLst>
          </a:prstGeom>
          <a:solidFill>
            <a:schemeClr val="dk2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pic>
        <p:nvPicPr>
          <p:cNvPr descr="preencoded.png" id="88" name="Google Shape;88;p4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3236976" y="2103120"/>
            <a:ext cx="365760" cy="365760"/>
          </a:xfrm>
          <a:prstGeom prst="rect">
            <a:avLst/>
          </a:prstGeom>
          <a:noFill/>
          <a:ln>
            <a:noFill/>
          </a:ln>
        </p:spPr>
      </p:pic>
      <p:sp>
        <p:nvSpPr>
          <p:cNvPr id="89" name="Google Shape;89;p4"/>
          <p:cNvSpPr txBox="1"/>
          <p:nvPr/>
        </p:nvSpPr>
        <p:spPr>
          <a:xfrm>
            <a:off x="3675888" y="2011680"/>
            <a:ext cx="118872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Font typeface="Roboto"/>
              <a:buNone/>
            </a:pPr>
            <a:r>
              <a:rPr b="1" lang="en-US" sz="15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2 Skeleton</a:t>
            </a:r>
            <a:endParaRPr sz="15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90" name="Google Shape;90;p4"/>
          <p:cNvSpPr txBox="1"/>
          <p:nvPr/>
        </p:nvSpPr>
        <p:spPr>
          <a:xfrm>
            <a:off x="2871216" y="2926080"/>
            <a:ext cx="2057400" cy="8686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Roboto"/>
              <a:buNone/>
            </a:pPr>
            <a:r>
              <a:rPr lang="en-US" sz="13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Player box + 33-point skeleton on a zoomed crop</a:t>
            </a:r>
            <a:endParaRPr sz="13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91" name="Google Shape;91;p4"/>
          <p:cNvSpPr txBox="1"/>
          <p:nvPr/>
        </p:nvSpPr>
        <p:spPr>
          <a:xfrm>
            <a:off x="2871216" y="3794760"/>
            <a:ext cx="20574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200"/>
              <a:buFont typeface="Roboto"/>
              <a:buNone/>
            </a:pPr>
            <a:r>
              <a:rPr b="1" lang="en-US" sz="1200">
                <a:solidFill>
                  <a:schemeClr val="accent5"/>
                </a:solidFill>
                <a:latin typeface="Roboto"/>
                <a:ea typeface="Roboto"/>
                <a:cs typeface="Roboto"/>
                <a:sym typeface="Roboto"/>
              </a:rPr>
              <a:t>Runs on: UGen300</a:t>
            </a:r>
            <a:endParaRPr sz="12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92" name="Google Shape;92;p4"/>
          <p:cNvSpPr/>
          <p:nvPr/>
        </p:nvSpPr>
        <p:spPr>
          <a:xfrm>
            <a:off x="5010912" y="1828800"/>
            <a:ext cx="2194560" cy="914400"/>
          </a:xfrm>
          <a:prstGeom prst="chevron">
            <a:avLst>
              <a:gd fmla="val 50000" name="adj"/>
            </a:avLst>
          </a:prstGeom>
          <a:solidFill>
            <a:schemeClr val="dk2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pic>
        <p:nvPicPr>
          <p:cNvPr descr="preencoded.png" id="93" name="Google Shape;93;p4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5468112" y="2103120"/>
            <a:ext cx="365760" cy="365760"/>
          </a:xfrm>
          <a:prstGeom prst="rect">
            <a:avLst/>
          </a:prstGeom>
          <a:noFill/>
          <a:ln>
            <a:noFill/>
          </a:ln>
        </p:spPr>
      </p:pic>
      <p:sp>
        <p:nvSpPr>
          <p:cNvPr id="94" name="Google Shape;94;p4"/>
          <p:cNvSpPr txBox="1"/>
          <p:nvPr/>
        </p:nvSpPr>
        <p:spPr>
          <a:xfrm>
            <a:off x="5907024" y="2011680"/>
            <a:ext cx="118872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Font typeface="Roboto"/>
              <a:buNone/>
            </a:pPr>
            <a:r>
              <a:rPr b="1" lang="en-US" sz="15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3 Ball</a:t>
            </a:r>
            <a:endParaRPr sz="15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95" name="Google Shape;95;p4"/>
          <p:cNvSpPr txBox="1"/>
          <p:nvPr/>
        </p:nvSpPr>
        <p:spPr>
          <a:xfrm>
            <a:off x="5102352" y="2926080"/>
            <a:ext cx="2057400" cy="8686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Roboto"/>
              <a:buNone/>
            </a:pPr>
            <a:r>
              <a:rPr lang="en-US" sz="13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Racquet, full-screen ball path, bounce, hitting point</a:t>
            </a:r>
            <a:endParaRPr sz="13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96" name="Google Shape;96;p4"/>
          <p:cNvSpPr txBox="1"/>
          <p:nvPr/>
        </p:nvSpPr>
        <p:spPr>
          <a:xfrm>
            <a:off x="5102352" y="3794760"/>
            <a:ext cx="20574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200"/>
              <a:buFont typeface="Roboto"/>
              <a:buNone/>
            </a:pPr>
            <a:r>
              <a:rPr b="1" lang="en-US" sz="1200">
                <a:solidFill>
                  <a:schemeClr val="accent5"/>
                </a:solidFill>
                <a:latin typeface="Roboto"/>
                <a:ea typeface="Roboto"/>
                <a:cs typeface="Roboto"/>
                <a:sym typeface="Roboto"/>
              </a:rPr>
              <a:t>Runs on: UGen300 + phone</a:t>
            </a:r>
            <a:endParaRPr sz="12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97" name="Google Shape;97;p4"/>
          <p:cNvSpPr/>
          <p:nvPr/>
        </p:nvSpPr>
        <p:spPr>
          <a:xfrm>
            <a:off x="7242048" y="1828800"/>
            <a:ext cx="2194560" cy="914400"/>
          </a:xfrm>
          <a:prstGeom prst="chevron">
            <a:avLst>
              <a:gd fmla="val 50000" name="adj"/>
            </a:avLst>
          </a:prstGeom>
          <a:solidFill>
            <a:schemeClr val="dk2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pic>
        <p:nvPicPr>
          <p:cNvPr descr="preencoded.png" id="98" name="Google Shape;98;p4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7699248" y="2103120"/>
            <a:ext cx="365760" cy="365760"/>
          </a:xfrm>
          <a:prstGeom prst="rect">
            <a:avLst/>
          </a:prstGeom>
          <a:noFill/>
          <a:ln>
            <a:noFill/>
          </a:ln>
        </p:spPr>
      </p:pic>
      <p:sp>
        <p:nvSpPr>
          <p:cNvPr id="99" name="Google Shape;99;p4"/>
          <p:cNvSpPr txBox="1"/>
          <p:nvPr/>
        </p:nvSpPr>
        <p:spPr>
          <a:xfrm>
            <a:off x="8138160" y="2011680"/>
            <a:ext cx="118872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Font typeface="Roboto"/>
              <a:buNone/>
            </a:pPr>
            <a:r>
              <a:rPr b="1" lang="en-US" sz="15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4 Judge</a:t>
            </a:r>
            <a:endParaRPr sz="15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00" name="Google Shape;100;p4"/>
          <p:cNvSpPr txBox="1"/>
          <p:nvPr/>
        </p:nvSpPr>
        <p:spPr>
          <a:xfrm>
            <a:off x="7333488" y="2926080"/>
            <a:ext cx="2057400" cy="8686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Roboto"/>
              <a:buNone/>
            </a:pPr>
            <a:r>
              <a:rPr lang="en-US" sz="13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18 forehand / 15 serve coaching checks</a:t>
            </a:r>
            <a:endParaRPr sz="13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01" name="Google Shape;101;p4"/>
          <p:cNvSpPr txBox="1"/>
          <p:nvPr/>
        </p:nvSpPr>
        <p:spPr>
          <a:xfrm>
            <a:off x="7333488" y="3794760"/>
            <a:ext cx="20574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200"/>
              <a:buFont typeface="Roboto"/>
              <a:buNone/>
            </a:pPr>
            <a:r>
              <a:rPr b="1" lang="en-US" sz="1200">
                <a:solidFill>
                  <a:schemeClr val="accent5"/>
                </a:solidFill>
                <a:latin typeface="Roboto"/>
                <a:ea typeface="Roboto"/>
                <a:cs typeface="Roboto"/>
                <a:sym typeface="Roboto"/>
              </a:rPr>
              <a:t>Runs on: Phone</a:t>
            </a:r>
            <a:endParaRPr sz="12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02" name="Google Shape;102;p4"/>
          <p:cNvSpPr/>
          <p:nvPr/>
        </p:nvSpPr>
        <p:spPr>
          <a:xfrm>
            <a:off x="9473184" y="1828800"/>
            <a:ext cx="2194560" cy="914400"/>
          </a:xfrm>
          <a:prstGeom prst="chevron">
            <a:avLst>
              <a:gd fmla="val 50000" name="adj"/>
            </a:avLst>
          </a:prstGeom>
          <a:solidFill>
            <a:schemeClr val="accent1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pic>
        <p:nvPicPr>
          <p:cNvPr descr="preencoded.png" id="103" name="Google Shape;103;p4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9930384" y="2103120"/>
            <a:ext cx="365760" cy="365760"/>
          </a:xfrm>
          <a:prstGeom prst="rect">
            <a:avLst/>
          </a:prstGeom>
          <a:noFill/>
          <a:ln>
            <a:noFill/>
          </a:ln>
        </p:spPr>
      </p:pic>
      <p:sp>
        <p:nvSpPr>
          <p:cNvPr id="104" name="Google Shape;104;p4"/>
          <p:cNvSpPr txBox="1"/>
          <p:nvPr/>
        </p:nvSpPr>
        <p:spPr>
          <a:xfrm>
            <a:off x="10369296" y="2011680"/>
            <a:ext cx="118872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500"/>
              <a:buFont typeface="Roboto"/>
              <a:buNone/>
            </a:pPr>
            <a:r>
              <a:rPr b="1" lang="en-US" sz="15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rPr>
              <a:t>5 Coach</a:t>
            </a:r>
            <a:endParaRPr sz="15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05" name="Google Shape;105;p4"/>
          <p:cNvSpPr txBox="1"/>
          <p:nvPr/>
        </p:nvSpPr>
        <p:spPr>
          <a:xfrm>
            <a:off x="9564624" y="2926080"/>
            <a:ext cx="2057400" cy="8686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Roboto"/>
              <a:buNone/>
            </a:pPr>
            <a:r>
              <a:rPr lang="en-US" sz="13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Every result as plain-language feedback</a:t>
            </a:r>
            <a:endParaRPr sz="13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06" name="Google Shape;106;p4"/>
          <p:cNvSpPr txBox="1"/>
          <p:nvPr/>
        </p:nvSpPr>
        <p:spPr>
          <a:xfrm>
            <a:off x="9564624" y="3794760"/>
            <a:ext cx="20574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200"/>
              <a:buFont typeface="Roboto"/>
              <a:buNone/>
            </a:pPr>
            <a:r>
              <a:rPr b="1" lang="en-US" sz="1200">
                <a:solidFill>
                  <a:schemeClr val="accent5"/>
                </a:solidFill>
                <a:latin typeface="Roboto"/>
                <a:ea typeface="Roboto"/>
                <a:cs typeface="Roboto"/>
                <a:sym typeface="Roboto"/>
              </a:rPr>
              <a:t>Runs on: Phone or UGen300</a:t>
            </a:r>
            <a:endParaRPr sz="12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07" name="Google Shape;107;p4"/>
          <p:cNvSpPr/>
          <p:nvPr/>
        </p:nvSpPr>
        <p:spPr>
          <a:xfrm>
            <a:off x="548640" y="4389120"/>
            <a:ext cx="5440680" cy="155448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08" name="Google Shape;108;p4"/>
          <p:cNvSpPr txBox="1"/>
          <p:nvPr/>
        </p:nvSpPr>
        <p:spPr>
          <a:xfrm>
            <a:off x="822960" y="4526280"/>
            <a:ext cx="4937760" cy="3657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Roboto"/>
              <a:buNone/>
            </a:pPr>
            <a:r>
              <a:rPr b="1" lang="en-US" sz="16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rPr>
              <a:t>Android phone</a:t>
            </a:r>
            <a:endParaRPr sz="16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09" name="Google Shape;109;p4"/>
          <p:cNvSpPr txBox="1"/>
          <p:nvPr/>
        </p:nvSpPr>
        <p:spPr>
          <a:xfrm>
            <a:off x="822960" y="4937760"/>
            <a:ext cx="4937760" cy="914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oboto"/>
              <a:buNone/>
            </a:pPr>
            <a:r>
              <a:rPr lang="en-US" sz="14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120 fps camera, frame splitting, ball maths (OpenCV), coaching logic, results screen</a:t>
            </a:r>
            <a:endParaRPr sz="14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10" name="Google Shape;110;p4"/>
          <p:cNvSpPr/>
          <p:nvPr/>
        </p:nvSpPr>
        <p:spPr>
          <a:xfrm>
            <a:off x="6172200" y="4389120"/>
            <a:ext cx="5440680" cy="155448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11" name="Google Shape;111;p4"/>
          <p:cNvSpPr txBox="1"/>
          <p:nvPr/>
        </p:nvSpPr>
        <p:spPr>
          <a:xfrm>
            <a:off x="6446520" y="4526280"/>
            <a:ext cx="4937760" cy="3657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600"/>
              <a:buFont typeface="Roboto"/>
              <a:buNone/>
            </a:pPr>
            <a:r>
              <a:rPr b="1" lang="en-US" sz="1600">
                <a:solidFill>
                  <a:schemeClr val="accent1"/>
                </a:solidFill>
                <a:latin typeface="Roboto"/>
                <a:ea typeface="Roboto"/>
                <a:cs typeface="Roboto"/>
                <a:sym typeface="Roboto"/>
              </a:rPr>
              <a:t>ASUS UGen300 (Hailo NPU)</a:t>
            </a:r>
            <a:endParaRPr sz="16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12" name="Google Shape;112;p4"/>
          <p:cNvSpPr txBox="1"/>
          <p:nvPr/>
        </p:nvSpPr>
        <p:spPr>
          <a:xfrm>
            <a:off x="6446520" y="4937760"/>
            <a:ext cx="4937760" cy="914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oboto"/>
              <a:buNone/>
            </a:pPr>
            <a:r>
              <a:rPr lang="en-US" sz="14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Player and racquet detection (YOLOX), skeleton model; optional small local LLM coach</a:t>
            </a:r>
            <a:endParaRPr sz="14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13" name="Google Shape;113;p4"/>
          <p:cNvSpPr txBox="1"/>
          <p:nvPr>
            <p:ph idx="4294967295" type="sldNum"/>
          </p:nvPr>
        </p:nvSpPr>
        <p:spPr>
          <a:xfrm>
            <a:off x="11247120" y="6327648"/>
            <a:ext cx="4572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lang="en-US" sz="1000">
                <a:solidFill>
                  <a:srgbClr val="8A8F80"/>
                </a:solidFill>
                <a:latin typeface="Roboto"/>
                <a:ea typeface="Roboto"/>
                <a:cs typeface="Roboto"/>
                <a:sym typeface="Roboto"/>
              </a:rPr>
              <a:t>‹#›</a:t>
            </a:fld>
            <a:endParaRPr sz="1000">
              <a:solidFill>
                <a:srgbClr val="8A8F80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8" name="Shape 1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" name="Google Shape;119;p5"/>
          <p:cNvSpPr txBox="1"/>
          <p:nvPr>
            <p:ph idx="1" type="body"/>
          </p:nvPr>
        </p:nvSpPr>
        <p:spPr>
          <a:xfrm>
            <a:off x="548640" y="292608"/>
            <a:ext cx="82296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100"/>
              <a:buNone/>
            </a:pPr>
            <a:r>
              <a:rPr b="1" lang="en-US" spc="100" sz="1100">
                <a:solidFill>
                  <a:schemeClr val="accent1"/>
                </a:solidFill>
                <a:latin typeface="Roboto"/>
                <a:ea typeface="Roboto"/>
                <a:cs typeface="Roboto"/>
                <a:sym typeface="Roboto"/>
              </a:rPr>
              <a:t>STAGES 1-3: SEE THE STROKE</a:t>
            </a:r>
            <a:endParaRPr sz="1100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20" name="Google Shape;120;p5"/>
          <p:cNvSpPr txBox="1"/>
          <p:nvPr>
            <p:ph type="title"/>
          </p:nvPr>
        </p:nvSpPr>
        <p:spPr>
          <a:xfrm>
            <a:off x="548640" y="603504"/>
            <a:ext cx="10424160" cy="9601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600"/>
              <a:buFont typeface="Roboto"/>
              <a:buNone/>
            </a:pPr>
            <a:r>
              <a:rPr lang="en-US" sz="26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rPr>
              <a:t>Every frame is kept, the skeleton is fitted on a zoom, and the ball is tracked across the whole screen</a:t>
            </a:r>
            <a:endParaRPr sz="2600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21" name="Google Shape;121;p5"/>
          <p:cNvSpPr txBox="1"/>
          <p:nvPr>
            <p:ph idx="2" type="body"/>
          </p:nvPr>
        </p:nvSpPr>
        <p:spPr>
          <a:xfrm>
            <a:off x="548640" y="6327648"/>
            <a:ext cx="9692640" cy="29260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None/>
            </a:pPr>
            <a:r>
              <a:rPr lang="en-US" sz="1000">
                <a:solidFill>
                  <a:schemeClr val="accent3"/>
                </a:solidFill>
                <a:latin typeface="Roboto"/>
                <a:ea typeface="Roboto"/>
                <a:cs typeface="Roboto"/>
                <a:sym typeface="Roboto"/>
              </a:rPr>
              <a:t>Forehand 1 of the 120 fps clip. Skeleton: MediaPipe BlazePose; player and racquet: YOLOX-tiny (both Apache-2.0)</a:t>
            </a:r>
            <a:endParaRPr sz="1000">
              <a:latin typeface="Roboto"/>
              <a:ea typeface="Roboto"/>
              <a:cs typeface="Roboto"/>
              <a:sym typeface="Roboto"/>
            </a:endParaRPr>
          </a:p>
        </p:txBody>
      </p:sp>
      <p:pic>
        <p:nvPicPr>
          <p:cNvPr descr="preencoded.png" id="122" name="Google Shape;122;p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48640" y="1737360"/>
            <a:ext cx="6583680" cy="3703320"/>
          </a:xfrm>
          <a:prstGeom prst="rect">
            <a:avLst/>
          </a:prstGeom>
          <a:noFill/>
          <a:ln>
            <a:noFill/>
          </a:ln>
        </p:spPr>
      </p:pic>
      <p:sp>
        <p:nvSpPr>
          <p:cNvPr id="123" name="Google Shape;123;p5"/>
          <p:cNvSpPr txBox="1"/>
          <p:nvPr/>
        </p:nvSpPr>
        <p:spPr>
          <a:xfrm>
            <a:off x="548640" y="5486400"/>
            <a:ext cx="658368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100"/>
              <a:buFont typeface="Roboto"/>
              <a:buNone/>
            </a:pPr>
            <a:r>
              <a:rPr lang="en-US" sz="1100">
                <a:solidFill>
                  <a:schemeClr val="accent3"/>
                </a:solidFill>
                <a:latin typeface="Roboto"/>
                <a:ea typeface="Roboto"/>
                <a:cs typeface="Roboto"/>
                <a:sym typeface="Roboto"/>
              </a:rPr>
              <a:t>Full-frame ball path: incoming ball, bounce (cross), hitting point (star) and the ball leaving (arrow)</a:t>
            </a:r>
            <a:endParaRPr sz="11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24" name="Google Shape;124;p5"/>
          <p:cNvSpPr txBox="1"/>
          <p:nvPr/>
        </p:nvSpPr>
        <p:spPr>
          <a:xfrm>
            <a:off x="7498080" y="1783080"/>
            <a:ext cx="41148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600"/>
              <a:buFont typeface="Roboto"/>
              <a:buNone/>
            </a:pPr>
            <a:r>
              <a:rPr b="1" lang="en-US" sz="1600">
                <a:solidFill>
                  <a:schemeClr val="accent5"/>
                </a:solidFill>
                <a:latin typeface="Roboto"/>
                <a:ea typeface="Roboto"/>
                <a:cs typeface="Roboto"/>
                <a:sym typeface="Roboto"/>
              </a:rPr>
              <a:t>1 Frames</a:t>
            </a:r>
            <a:endParaRPr sz="16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25" name="Google Shape;125;p5"/>
          <p:cNvSpPr txBox="1"/>
          <p:nvPr/>
        </p:nvSpPr>
        <p:spPr>
          <a:xfrm>
            <a:off x="7498080" y="2148840"/>
            <a:ext cx="4114800" cy="914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Roboto"/>
              <a:buNone/>
            </a:pPr>
            <a:r>
              <a:rPr lang="en-US" sz="13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120 images per second, written once to disk, so a 1080p clip never fills memory.</a:t>
            </a:r>
            <a:endParaRPr sz="13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26" name="Google Shape;126;p5"/>
          <p:cNvSpPr txBox="1"/>
          <p:nvPr/>
        </p:nvSpPr>
        <p:spPr>
          <a:xfrm>
            <a:off x="7498080" y="3108960"/>
            <a:ext cx="41148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600"/>
              <a:buFont typeface="Roboto"/>
              <a:buNone/>
            </a:pPr>
            <a:r>
              <a:rPr b="1" lang="en-US" sz="1600">
                <a:solidFill>
                  <a:schemeClr val="accent5"/>
                </a:solidFill>
                <a:latin typeface="Roboto"/>
                <a:ea typeface="Roboto"/>
                <a:cs typeface="Roboto"/>
                <a:sym typeface="Roboto"/>
              </a:rPr>
              <a:t>2 Skeleton</a:t>
            </a:r>
            <a:endParaRPr sz="16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27" name="Google Shape;127;p5"/>
          <p:cNvSpPr txBox="1"/>
          <p:nvPr/>
        </p:nvSpPr>
        <p:spPr>
          <a:xfrm>
            <a:off x="7498080" y="3474720"/>
            <a:ext cx="4114800" cy="914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Roboto"/>
              <a:buNone/>
            </a:pPr>
            <a:r>
              <a:rPr lang="en-US" sz="13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33 joints on a zoomed crop, smoothed over ~33 ms and converted to metres from the player's height.</a:t>
            </a:r>
            <a:endParaRPr sz="13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28" name="Google Shape;128;p5"/>
          <p:cNvSpPr txBox="1"/>
          <p:nvPr/>
        </p:nvSpPr>
        <p:spPr>
          <a:xfrm>
            <a:off x="7498080" y="4434840"/>
            <a:ext cx="41148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600"/>
              <a:buFont typeface="Roboto"/>
              <a:buNone/>
            </a:pPr>
            <a:r>
              <a:rPr b="1" lang="en-US" sz="1600">
                <a:solidFill>
                  <a:schemeClr val="accent5"/>
                </a:solidFill>
                <a:latin typeface="Roboto"/>
                <a:ea typeface="Roboto"/>
                <a:cs typeface="Roboto"/>
                <a:sym typeface="Roboto"/>
              </a:rPr>
              <a:t>3 Ball and racquet</a:t>
            </a:r>
            <a:endParaRPr sz="16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29" name="Google Shape;129;p5"/>
          <p:cNvSpPr txBox="1"/>
          <p:nvPr/>
        </p:nvSpPr>
        <p:spPr>
          <a:xfrm>
            <a:off x="7498080" y="4800600"/>
            <a:ext cx="4114800" cy="914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Roboto"/>
              <a:buNone/>
            </a:pPr>
            <a:r>
              <a:rPr lang="en-US" sz="13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Yellow moving blobs anywhere on screen are chained frame to frame; the hitting point is the midpoint of the two frames closest to the racquet head.</a:t>
            </a:r>
            <a:endParaRPr sz="13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30" name="Google Shape;130;p5"/>
          <p:cNvSpPr txBox="1"/>
          <p:nvPr>
            <p:ph idx="4294967295" type="sldNum"/>
          </p:nvPr>
        </p:nvSpPr>
        <p:spPr>
          <a:xfrm>
            <a:off x="11247120" y="6327648"/>
            <a:ext cx="4572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lang="en-US" sz="1000">
                <a:solidFill>
                  <a:srgbClr val="8A8F80"/>
                </a:solidFill>
                <a:latin typeface="Roboto"/>
                <a:ea typeface="Roboto"/>
                <a:cs typeface="Roboto"/>
                <a:sym typeface="Roboto"/>
              </a:rPr>
              <a:t>‹#›</a:t>
            </a:fld>
            <a:endParaRPr sz="1000">
              <a:solidFill>
                <a:srgbClr val="8A8F80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5" name="Shape 1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6" name="Google Shape;136;p6"/>
          <p:cNvSpPr txBox="1"/>
          <p:nvPr>
            <p:ph idx="1" type="body"/>
          </p:nvPr>
        </p:nvSpPr>
        <p:spPr>
          <a:xfrm>
            <a:off x="548640" y="292608"/>
            <a:ext cx="82296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100"/>
              <a:buNone/>
            </a:pPr>
            <a:r>
              <a:rPr b="1" lang="en-US" spc="100" sz="1100">
                <a:solidFill>
                  <a:schemeClr val="accent1"/>
                </a:solidFill>
                <a:latin typeface="Roboto"/>
                <a:ea typeface="Roboto"/>
                <a:cs typeface="Roboto"/>
                <a:sym typeface="Roboto"/>
              </a:rPr>
              <a:t>STAGES 4-5: JUDGE AND COACH</a:t>
            </a:r>
            <a:endParaRPr sz="1100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37" name="Google Shape;137;p6"/>
          <p:cNvSpPr txBox="1"/>
          <p:nvPr>
            <p:ph type="title"/>
          </p:nvPr>
        </p:nvSpPr>
        <p:spPr>
          <a:xfrm>
            <a:off x="548640" y="603504"/>
            <a:ext cx="10424160" cy="9601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600"/>
              <a:buFont typeface="Roboto"/>
              <a:buNone/>
            </a:pPr>
            <a:r>
              <a:rPr lang="en-US" sz="26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rPr>
              <a:t>Plain coaching logic - 18 forehand and 15 serve checks - and the coach reports every one of them</a:t>
            </a:r>
            <a:endParaRPr sz="2600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38" name="Google Shape;138;p6"/>
          <p:cNvSpPr txBox="1"/>
          <p:nvPr>
            <p:ph idx="2" type="body"/>
          </p:nvPr>
        </p:nvSpPr>
        <p:spPr>
          <a:xfrm>
            <a:off x="548640" y="6327648"/>
            <a:ext cx="9692640" cy="29260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None/>
            </a:pPr>
            <a:r>
              <a:rPr lang="en-US" sz="1000">
                <a:solidFill>
                  <a:schemeClr val="accent3"/>
                </a:solidFill>
                <a:latin typeface="Roboto"/>
                <a:ea typeface="Roboto"/>
                <a:cs typeface="Roboto"/>
                <a:sym typeface="Roboto"/>
              </a:rPr>
              <a:t>Targets are general club-coaching ranges for a right-handed player; a check shows 'not measurable' when the clip cannot support it</a:t>
            </a:r>
            <a:endParaRPr sz="1000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39" name="Google Shape;139;p6"/>
          <p:cNvSpPr txBox="1"/>
          <p:nvPr/>
        </p:nvSpPr>
        <p:spPr>
          <a:xfrm>
            <a:off x="548640" y="1737360"/>
            <a:ext cx="54864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600"/>
              <a:buFont typeface="Roboto"/>
              <a:buNone/>
            </a:pPr>
            <a:r>
              <a:rPr b="1" lang="en-US" sz="1600">
                <a:solidFill>
                  <a:schemeClr val="accent5"/>
                </a:solidFill>
                <a:latin typeface="Roboto"/>
                <a:ea typeface="Roboto"/>
                <a:cs typeface="Roboto"/>
                <a:sym typeface="Roboto"/>
              </a:rPr>
              <a:t>Top-priority forehand rules</a:t>
            </a:r>
            <a:endParaRPr sz="16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40" name="Google Shape;140;p6"/>
          <p:cNvSpPr/>
          <p:nvPr/>
        </p:nvSpPr>
        <p:spPr>
          <a:xfrm>
            <a:off x="548640" y="2194560"/>
            <a:ext cx="438912" cy="438912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41" name="Google Shape;141;p6"/>
          <p:cNvSpPr txBox="1"/>
          <p:nvPr/>
        </p:nvSpPr>
        <p:spPr>
          <a:xfrm>
            <a:off x="548640" y="2194560"/>
            <a:ext cx="438912" cy="43891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Roboto"/>
              <a:buNone/>
            </a:pPr>
            <a:r>
              <a:rPr b="1" lang="en-US" sz="14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rPr>
              <a:t>1</a:t>
            </a:r>
            <a:endParaRPr sz="14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42" name="Google Shape;142;p6"/>
          <p:cNvSpPr txBox="1"/>
          <p:nvPr/>
        </p:nvSpPr>
        <p:spPr>
          <a:xfrm>
            <a:off x="1143000" y="2176272"/>
            <a:ext cx="4937760" cy="32918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Roboto"/>
              <a:buNone/>
            </a:pPr>
            <a:r>
              <a:rPr b="1" lang="en-US" sz="14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rPr>
              <a:t>Hitting point above your head</a:t>
            </a:r>
            <a:endParaRPr sz="14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43" name="Google Shape;143;p6"/>
          <p:cNvSpPr txBox="1"/>
          <p:nvPr/>
        </p:nvSpPr>
        <p:spPr>
          <a:xfrm>
            <a:off x="1143000" y="2505456"/>
            <a:ext cx="4937760" cy="6400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Roboto"/>
              <a:buNone/>
            </a:pPr>
            <a:r>
              <a:rPr lang="en-US" sz="12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Behind the baseline: move forward. Inside the court: leave no-man's land and let the ball drop.</a:t>
            </a:r>
            <a:endParaRPr sz="12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44" name="Google Shape;144;p6"/>
          <p:cNvSpPr/>
          <p:nvPr/>
        </p:nvSpPr>
        <p:spPr>
          <a:xfrm>
            <a:off x="548640" y="3200400"/>
            <a:ext cx="438912" cy="438912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45" name="Google Shape;145;p6"/>
          <p:cNvSpPr txBox="1"/>
          <p:nvPr/>
        </p:nvSpPr>
        <p:spPr>
          <a:xfrm>
            <a:off x="548640" y="3200400"/>
            <a:ext cx="438912" cy="43891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Roboto"/>
              <a:buNone/>
            </a:pPr>
            <a:r>
              <a:rPr b="1" lang="en-US" sz="14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rPr>
              <a:t>2</a:t>
            </a:r>
            <a:endParaRPr sz="14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46" name="Google Shape;146;p6"/>
          <p:cNvSpPr txBox="1"/>
          <p:nvPr/>
        </p:nvSpPr>
        <p:spPr>
          <a:xfrm>
            <a:off x="1143000" y="3182112"/>
            <a:ext cx="4937760" cy="32918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Roboto"/>
              <a:buNone/>
            </a:pPr>
            <a:r>
              <a:rPr b="1" lang="en-US" sz="14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rPr>
              <a:t>Ball bounced too far in front</a:t>
            </a:r>
            <a:endParaRPr sz="14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47" name="Google Shape;147;p6"/>
          <p:cNvSpPr txBox="1"/>
          <p:nvPr/>
        </p:nvSpPr>
        <p:spPr>
          <a:xfrm>
            <a:off x="1143000" y="3511296"/>
            <a:ext cx="4937760" cy="6400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Roboto"/>
              <a:buNone/>
            </a:pPr>
            <a:r>
              <a:rPr lang="en-US" sz="12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Ball took longer than 0.8 s from bounce to racquet: move forward to meet it.</a:t>
            </a:r>
            <a:endParaRPr sz="12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48" name="Google Shape;148;p6"/>
          <p:cNvSpPr/>
          <p:nvPr/>
        </p:nvSpPr>
        <p:spPr>
          <a:xfrm>
            <a:off x="548640" y="4206240"/>
            <a:ext cx="438912" cy="438912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49" name="Google Shape;149;p6"/>
          <p:cNvSpPr txBox="1"/>
          <p:nvPr/>
        </p:nvSpPr>
        <p:spPr>
          <a:xfrm>
            <a:off x="548640" y="4206240"/>
            <a:ext cx="438912" cy="43891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Roboto"/>
              <a:buNone/>
            </a:pPr>
            <a:r>
              <a:rPr b="1" lang="en-US" sz="14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rPr>
              <a:t>3</a:t>
            </a:r>
            <a:endParaRPr sz="14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50" name="Google Shape;150;p6"/>
          <p:cNvSpPr txBox="1"/>
          <p:nvPr/>
        </p:nvSpPr>
        <p:spPr>
          <a:xfrm>
            <a:off x="1143000" y="4187952"/>
            <a:ext cx="4937760" cy="32918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Roboto"/>
              <a:buNone/>
            </a:pPr>
            <a:r>
              <a:rPr b="1" lang="en-US" sz="14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rPr>
              <a:t>Not sideways in preparation</a:t>
            </a:r>
            <a:endParaRPr sz="14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51" name="Google Shape;151;p6"/>
          <p:cNvSpPr txBox="1"/>
          <p:nvPr/>
        </p:nvSpPr>
        <p:spPr>
          <a:xfrm>
            <a:off x="1143000" y="4517136"/>
            <a:ext cx="4937760" cy="6400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Roboto"/>
              <a:buNone/>
            </a:pPr>
            <a:r>
              <a:rPr lang="en-US" sz="12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Turn shoulders and hips sideways before the swing.</a:t>
            </a:r>
            <a:endParaRPr sz="12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52" name="Google Shape;152;p6"/>
          <p:cNvSpPr txBox="1"/>
          <p:nvPr/>
        </p:nvSpPr>
        <p:spPr>
          <a:xfrm>
            <a:off x="548640" y="5257800"/>
            <a:ext cx="5486400" cy="7772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200"/>
              <a:buFont typeface="Roboto"/>
              <a:buNone/>
            </a:pPr>
            <a:r>
              <a:rPr b="1" lang="en-US" sz="1200">
                <a:solidFill>
                  <a:schemeClr val="accent5"/>
                </a:solidFill>
                <a:latin typeface="Roboto"/>
                <a:ea typeface="Roboto"/>
                <a:cs typeface="Roboto"/>
                <a:sym typeface="Roboto"/>
              </a:rPr>
              <a:t>Also checked: </a:t>
            </a:r>
            <a:r>
              <a:rPr lang="en-US" sz="12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contact in front, left foot in front, contact height, spacing, arm, head still, early preparation, left arm, knees, base, racquet drop, low-to-high, leg drive, finish, balance.</a:t>
            </a:r>
            <a:endParaRPr sz="12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53" name="Google Shape;153;p6"/>
          <p:cNvSpPr/>
          <p:nvPr/>
        </p:nvSpPr>
        <p:spPr>
          <a:xfrm>
            <a:off x="6400800" y="1737360"/>
            <a:ext cx="5212080" cy="429768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pic>
        <p:nvPicPr>
          <p:cNvPr descr="preencoded.png" id="154" name="Google Shape;154;p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629400" y="1920240"/>
            <a:ext cx="365760" cy="365760"/>
          </a:xfrm>
          <a:prstGeom prst="rect">
            <a:avLst/>
          </a:prstGeom>
          <a:noFill/>
          <a:ln>
            <a:noFill/>
          </a:ln>
        </p:spPr>
      </p:pic>
      <p:sp>
        <p:nvSpPr>
          <p:cNvPr id="155" name="Google Shape;155;p6"/>
          <p:cNvSpPr txBox="1"/>
          <p:nvPr/>
        </p:nvSpPr>
        <p:spPr>
          <a:xfrm>
            <a:off x="7132320" y="1920240"/>
            <a:ext cx="4297680" cy="3657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Font typeface="Roboto"/>
              <a:buNone/>
            </a:pPr>
            <a:r>
              <a:rPr b="1" lang="en-US" sz="1400">
                <a:solidFill>
                  <a:schemeClr val="accent5"/>
                </a:solidFill>
                <a:latin typeface="Roboto"/>
                <a:ea typeface="Roboto"/>
                <a:cs typeface="Roboto"/>
                <a:sym typeface="Roboto"/>
              </a:rPr>
              <a:t>Coach, forehand 4</a:t>
            </a:r>
            <a:endParaRPr sz="14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56" name="Google Shape;156;p6"/>
          <p:cNvSpPr txBox="1"/>
          <p:nvPr/>
        </p:nvSpPr>
        <p:spPr>
          <a:xfrm>
            <a:off x="6629400" y="2423160"/>
            <a:ext cx="4800600" cy="35204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Roboto"/>
              <a:buNone/>
            </a:pPr>
            <a:r>
              <a:rPr lang="en-US" sz="11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Good (12): Contact not above your head; Ball bounced close enough; Body sideways in preparation; Contact in front of the body; Early preparation; Left arm tracks the ball; Load the legs (squat); Stable base; Racquet drops below the ball; Low-to-high swing (topspin); Legs drive up into the ball; Finish over the left shoulder.</a:t>
            </a:r>
            <a:endParaRPr sz="11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Roboto"/>
              <a:buNone/>
            </a:pPr>
            <a:r>
              <a:rPr lang="en-US" sz="11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To improve on your next forehands (5, most important first):</a:t>
            </a:r>
            <a:endParaRPr sz="11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Roboto"/>
              <a:buNone/>
            </a:pPr>
            <a:r>
              <a:rPr lang="en-US" sz="11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1. [Footwork] At contact your right foot is in front of your left. Step in with the LEFT foot so your weight transfers forward through the ball.</a:t>
            </a:r>
            <a:endParaRPr sz="11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Roboto"/>
              <a:buNone/>
            </a:pPr>
            <a:r>
              <a:rPr lang="en-US" sz="11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2. [Contact] You are hitting the ball too low - bend your knees to get down to it or take it a little earlier.</a:t>
            </a:r>
            <a:endParaRPr sz="11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Roboto"/>
              <a:buNone/>
            </a:pPr>
            <a:r>
              <a:rPr lang="en-US" sz="11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3. [Contact] Give yourself room: meet the ball about an arm's length to your right, not jammed into the body or at full stretch.</a:t>
            </a:r>
            <a:endParaRPr sz="11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Roboto"/>
              <a:buNone/>
            </a:pPr>
            <a:r>
              <a:rPr lang="en-US" sz="11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4. [Contact] Keep your head still and your eyes on the contact point until the ball has left the strings.</a:t>
            </a:r>
            <a:endParaRPr sz="11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Roboto"/>
              <a:buNone/>
            </a:pPr>
            <a:r>
              <a:rPr lang="en-US" sz="11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5. [Finish] Stay balanced: at the finish your head should be over your feet, not falling away.</a:t>
            </a:r>
            <a:endParaRPr sz="11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Roboto"/>
              <a:buNone/>
            </a:pPr>
            <a:r>
              <a:rPr lang="en-US" sz="11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Could not measure (1): Arm not cramped at contact (film a little closer, steady, with the ball in view).</a:t>
            </a:r>
            <a:endParaRPr sz="11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57" name="Google Shape;157;p6"/>
          <p:cNvSpPr txBox="1"/>
          <p:nvPr>
            <p:ph idx="4294967295" type="sldNum"/>
          </p:nvPr>
        </p:nvSpPr>
        <p:spPr>
          <a:xfrm>
            <a:off x="11247120" y="6327648"/>
            <a:ext cx="4572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lang="en-US" sz="1000">
                <a:solidFill>
                  <a:srgbClr val="8A8F80"/>
                </a:solidFill>
                <a:latin typeface="Roboto"/>
                <a:ea typeface="Roboto"/>
                <a:cs typeface="Roboto"/>
                <a:sym typeface="Roboto"/>
              </a:rPr>
              <a:t>‹#›</a:t>
            </a:fld>
            <a:endParaRPr sz="1000">
              <a:solidFill>
                <a:srgbClr val="8A8F80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2" name="Shape 1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" name="Google Shape;163;p7"/>
          <p:cNvSpPr txBox="1"/>
          <p:nvPr>
            <p:ph idx="1" type="body"/>
          </p:nvPr>
        </p:nvSpPr>
        <p:spPr>
          <a:xfrm>
            <a:off x="548640" y="292608"/>
            <a:ext cx="82296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100"/>
              <a:buNone/>
            </a:pPr>
            <a:r>
              <a:rPr b="1" lang="en-US" spc="100" sz="1100">
                <a:solidFill>
                  <a:schemeClr val="accent1"/>
                </a:solidFill>
                <a:latin typeface="Roboto"/>
                <a:ea typeface="Roboto"/>
                <a:cs typeface="Roboto"/>
                <a:sym typeface="Roboto"/>
              </a:rPr>
              <a:t>DEMO RESULT: SERVE</a:t>
            </a:r>
            <a:endParaRPr sz="1100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64" name="Google Shape;164;p7"/>
          <p:cNvSpPr txBox="1"/>
          <p:nvPr>
            <p:ph type="title"/>
          </p:nvPr>
        </p:nvSpPr>
        <p:spPr>
          <a:xfrm>
            <a:off x="548640" y="603504"/>
            <a:ext cx="10424160" cy="9601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600"/>
              <a:buFont typeface="Roboto"/>
              <a:buNone/>
            </a:pPr>
            <a:r>
              <a:rPr lang="en-US" sz="26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rPr>
              <a:t>Serve: the toss, the exact contact moment and the heights that matter, from a low-resolution phone clip</a:t>
            </a:r>
            <a:endParaRPr sz="2600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65" name="Google Shape;165;p7"/>
          <p:cNvSpPr txBox="1"/>
          <p:nvPr>
            <p:ph idx="2" type="body"/>
          </p:nvPr>
        </p:nvSpPr>
        <p:spPr>
          <a:xfrm>
            <a:off x="548640" y="6327648"/>
            <a:ext cx="9692640" cy="29260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None/>
            </a:pPr>
            <a:r>
              <a:rPr lang="en-US" sz="1000">
                <a:solidFill>
                  <a:schemeClr val="accent3"/>
                </a:solidFill>
                <a:latin typeface="Roboto"/>
                <a:ea typeface="Roboto"/>
                <a:cs typeface="Roboto"/>
                <a:sym typeface="Roboto"/>
              </a:rPr>
              <a:t>Clip IMG_3025: phone, 30 fps, player about 86 px tall. Heights scaled from the player's entered height (1.80 m); ball speed is a lower bound</a:t>
            </a:r>
            <a:endParaRPr sz="1000">
              <a:latin typeface="Roboto"/>
              <a:ea typeface="Roboto"/>
              <a:cs typeface="Roboto"/>
              <a:sym typeface="Roboto"/>
            </a:endParaRPr>
          </a:p>
        </p:txBody>
      </p:sp>
      <p:pic>
        <p:nvPicPr>
          <p:cNvPr descr="preencoded.png" id="166" name="Google Shape;166;p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48640" y="1691640"/>
            <a:ext cx="8229600" cy="2743200"/>
          </a:xfrm>
          <a:prstGeom prst="rect">
            <a:avLst/>
          </a:prstGeom>
          <a:noFill/>
          <a:ln>
            <a:noFill/>
          </a:ln>
        </p:spPr>
      </p:pic>
      <p:sp>
        <p:nvSpPr>
          <p:cNvPr id="167" name="Google Shape;167;p7"/>
          <p:cNvSpPr txBox="1"/>
          <p:nvPr/>
        </p:nvSpPr>
        <p:spPr>
          <a:xfrm>
            <a:off x="9098280" y="1691640"/>
            <a:ext cx="2560320" cy="38404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2200"/>
              <a:buFont typeface="Roboto"/>
              <a:buNone/>
            </a:pPr>
            <a:r>
              <a:rPr b="1" lang="en-US" sz="2200">
                <a:solidFill>
                  <a:schemeClr val="accent5"/>
                </a:solidFill>
                <a:latin typeface="Roboto"/>
                <a:ea typeface="Roboto"/>
                <a:cs typeface="Roboto"/>
                <a:sym typeface="Roboto"/>
              </a:rPr>
              <a:t>3.25 m</a:t>
            </a:r>
            <a:endParaRPr sz="22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68" name="Google Shape;168;p7"/>
          <p:cNvSpPr txBox="1"/>
          <p:nvPr/>
        </p:nvSpPr>
        <p:spPr>
          <a:xfrm>
            <a:off x="9098280" y="2057400"/>
            <a:ext cx="2560320" cy="29260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Roboto"/>
              <a:buNone/>
            </a:pPr>
            <a:r>
              <a:rPr lang="en-US" sz="12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contact height, with a jump</a:t>
            </a:r>
            <a:endParaRPr sz="12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69" name="Google Shape;169;p7"/>
          <p:cNvSpPr txBox="1"/>
          <p:nvPr/>
        </p:nvSpPr>
        <p:spPr>
          <a:xfrm>
            <a:off x="9098280" y="2404872"/>
            <a:ext cx="2560320" cy="38404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2200"/>
              <a:buFont typeface="Roboto"/>
              <a:buNone/>
            </a:pPr>
            <a:r>
              <a:rPr b="1" lang="en-US" sz="2200">
                <a:solidFill>
                  <a:schemeClr val="accent5"/>
                </a:solidFill>
                <a:latin typeface="Roboto"/>
                <a:ea typeface="Roboto"/>
                <a:cs typeface="Roboto"/>
                <a:sym typeface="Roboto"/>
              </a:rPr>
              <a:t>4.23 m</a:t>
            </a:r>
            <a:endParaRPr sz="22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70" name="Google Shape;170;p7"/>
          <p:cNvSpPr txBox="1"/>
          <p:nvPr/>
        </p:nvSpPr>
        <p:spPr>
          <a:xfrm>
            <a:off x="9098280" y="2770632"/>
            <a:ext cx="2560320" cy="29260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Roboto"/>
              <a:buNone/>
            </a:pPr>
            <a:r>
              <a:rPr lang="en-US" sz="12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toss peak</a:t>
            </a:r>
            <a:endParaRPr sz="12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71" name="Google Shape;171;p7"/>
          <p:cNvSpPr txBox="1"/>
          <p:nvPr/>
        </p:nvSpPr>
        <p:spPr>
          <a:xfrm>
            <a:off x="9098280" y="3118104"/>
            <a:ext cx="2560320" cy="38404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2200"/>
              <a:buFont typeface="Roboto"/>
              <a:buNone/>
            </a:pPr>
            <a:r>
              <a:rPr b="1" lang="en-US" sz="2200">
                <a:solidFill>
                  <a:schemeClr val="accent5"/>
                </a:solidFill>
                <a:latin typeface="Roboto"/>
                <a:ea typeface="Roboto"/>
                <a:cs typeface="Roboto"/>
                <a:sym typeface="Roboto"/>
              </a:rPr>
              <a:t>≥ 100 km/h</a:t>
            </a:r>
            <a:endParaRPr sz="22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72" name="Google Shape;172;p7"/>
          <p:cNvSpPr txBox="1"/>
          <p:nvPr/>
        </p:nvSpPr>
        <p:spPr>
          <a:xfrm>
            <a:off x="9098280" y="3483864"/>
            <a:ext cx="2560320" cy="29260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Roboto"/>
              <a:buNone/>
            </a:pPr>
            <a:r>
              <a:rPr lang="en-US" sz="12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ball speed off the racquet</a:t>
            </a:r>
            <a:endParaRPr sz="12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73" name="Google Shape;173;p7"/>
          <p:cNvSpPr txBox="1"/>
          <p:nvPr/>
        </p:nvSpPr>
        <p:spPr>
          <a:xfrm>
            <a:off x="9098280" y="3831336"/>
            <a:ext cx="2560320" cy="38404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2200"/>
              <a:buFont typeface="Roboto"/>
              <a:buNone/>
            </a:pPr>
            <a:r>
              <a:rPr b="1" lang="en-US" sz="2200">
                <a:solidFill>
                  <a:schemeClr val="accent5"/>
                </a:solidFill>
                <a:latin typeface="Roboto"/>
                <a:ea typeface="Roboto"/>
                <a:cs typeface="Roboto"/>
                <a:sym typeface="Roboto"/>
              </a:rPr>
              <a:t>Frame 50.5</a:t>
            </a:r>
            <a:endParaRPr sz="22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74" name="Google Shape;174;p7"/>
          <p:cNvSpPr txBox="1"/>
          <p:nvPr/>
        </p:nvSpPr>
        <p:spPr>
          <a:xfrm>
            <a:off x="9098280" y="4197096"/>
            <a:ext cx="2560320" cy="29260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Roboto"/>
              <a:buNone/>
            </a:pPr>
            <a:r>
              <a:rPr lang="en-US" sz="12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contact, same as the manual check</a:t>
            </a:r>
            <a:endParaRPr sz="12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75" name="Google Shape;175;p7"/>
          <p:cNvSpPr txBox="1"/>
          <p:nvPr/>
        </p:nvSpPr>
        <p:spPr>
          <a:xfrm>
            <a:off x="548640" y="4663440"/>
            <a:ext cx="11064240" cy="12801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Font typeface="Roboto"/>
              <a:buNone/>
            </a:pPr>
            <a:r>
              <a:rPr b="1" lang="en-US" sz="1400">
                <a:solidFill>
                  <a:schemeClr val="accent5"/>
                </a:solidFill>
                <a:latin typeface="Roboto"/>
                <a:ea typeface="Roboto"/>
                <a:cs typeface="Roboto"/>
                <a:sym typeface="Roboto"/>
              </a:rPr>
              <a:t>What the coach says: </a:t>
            </a:r>
            <a:r>
              <a:rPr lang="en-US" sz="14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10 of 15 checks good; 3 fixes in priority order - shoulders tilted up to the ball; toss arm stays up; land inside the court.</a:t>
            </a:r>
            <a:endParaRPr sz="14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76" name="Google Shape;176;p7"/>
          <p:cNvSpPr txBox="1"/>
          <p:nvPr>
            <p:ph idx="4294967295" type="sldNum"/>
          </p:nvPr>
        </p:nvSpPr>
        <p:spPr>
          <a:xfrm>
            <a:off x="11247120" y="6327648"/>
            <a:ext cx="4572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lang="en-US" sz="1000">
                <a:solidFill>
                  <a:srgbClr val="8A8F80"/>
                </a:solidFill>
                <a:latin typeface="Roboto"/>
                <a:ea typeface="Roboto"/>
                <a:cs typeface="Roboto"/>
                <a:sym typeface="Roboto"/>
              </a:rPr>
              <a:t>‹#›</a:t>
            </a:fld>
            <a:endParaRPr sz="1000">
              <a:solidFill>
                <a:srgbClr val="8A8F80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1" name="Shape 1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2" name="Google Shape;182;p8"/>
          <p:cNvSpPr txBox="1"/>
          <p:nvPr>
            <p:ph idx="1" type="body"/>
          </p:nvPr>
        </p:nvSpPr>
        <p:spPr>
          <a:xfrm>
            <a:off x="548640" y="292608"/>
            <a:ext cx="82296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100"/>
              <a:buNone/>
            </a:pPr>
            <a:r>
              <a:rPr b="1" lang="en-US" spc="100" sz="1100">
                <a:solidFill>
                  <a:schemeClr val="accent1"/>
                </a:solidFill>
                <a:latin typeface="Roboto"/>
                <a:ea typeface="Roboto"/>
                <a:cs typeface="Roboto"/>
                <a:sym typeface="Roboto"/>
              </a:rPr>
              <a:t>DEMO RESULT: FOREHAND</a:t>
            </a:r>
            <a:endParaRPr sz="1100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83" name="Google Shape;183;p8"/>
          <p:cNvSpPr txBox="1"/>
          <p:nvPr>
            <p:ph type="title"/>
          </p:nvPr>
        </p:nvSpPr>
        <p:spPr>
          <a:xfrm>
            <a:off x="548640" y="603504"/>
            <a:ext cx="10424160" cy="9601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600"/>
              <a:buFont typeface="Roboto"/>
              <a:buNone/>
            </a:pPr>
            <a:r>
              <a:rPr lang="en-US" sz="26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rPr>
              <a:t>Forehand: 4 forehands in one 15 s clip, each fully checked - and the one backhand is recognised and skipped</a:t>
            </a:r>
            <a:endParaRPr sz="2600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84" name="Google Shape;184;p8"/>
          <p:cNvSpPr txBox="1"/>
          <p:nvPr>
            <p:ph idx="2" type="body"/>
          </p:nvPr>
        </p:nvSpPr>
        <p:spPr>
          <a:xfrm>
            <a:off x="548640" y="6327648"/>
            <a:ext cx="9692640" cy="29260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None/>
            </a:pPr>
            <a:r>
              <a:rPr lang="en-US" sz="1000">
                <a:solidFill>
                  <a:schemeClr val="accent3"/>
                </a:solidFill>
                <a:latin typeface="Roboto"/>
                <a:ea typeface="Roboto"/>
                <a:cs typeface="Roboto"/>
                <a:sym typeface="Roboto"/>
              </a:rPr>
              <a:t>Clip forehand_120fps.mp4: 1080p at 120 fps. A stroke counts only when the ball leaves a fast-moving racquet in the swing direction; unclear strokes and backhands are skipped</a:t>
            </a:r>
            <a:endParaRPr sz="1000">
              <a:latin typeface="Roboto"/>
              <a:ea typeface="Roboto"/>
              <a:cs typeface="Roboto"/>
              <a:sym typeface="Roboto"/>
            </a:endParaRPr>
          </a:p>
        </p:txBody>
      </p:sp>
      <p:pic>
        <p:nvPicPr>
          <p:cNvPr descr="preencoded.png" id="185" name="Google Shape;185;p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48640" y="1737360"/>
            <a:ext cx="6949440" cy="2322576"/>
          </a:xfrm>
          <a:prstGeom prst="rect">
            <a:avLst/>
          </a:prstGeom>
          <a:noFill/>
          <a:ln>
            <a:noFill/>
          </a:ln>
        </p:spPr>
      </p:pic>
      <p:sp>
        <p:nvSpPr>
          <p:cNvPr id="186" name="Google Shape;186;p8"/>
          <p:cNvSpPr txBox="1"/>
          <p:nvPr/>
        </p:nvSpPr>
        <p:spPr>
          <a:xfrm>
            <a:off x="548640" y="4133088"/>
            <a:ext cx="6949440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100"/>
              <a:buFont typeface="Roboto"/>
              <a:buNone/>
            </a:pPr>
            <a:r>
              <a:rPr lang="en-US" sz="1100">
                <a:solidFill>
                  <a:schemeClr val="accent3"/>
                </a:solidFill>
                <a:latin typeface="Roboto"/>
                <a:ea typeface="Roboto"/>
                <a:cs typeface="Roboto"/>
                <a:sym typeface="Roboto"/>
              </a:rPr>
              <a:t>Forehand 1: white = racquet, star = hitting point, yellow = incoming ball, orange = ball leaving</a:t>
            </a:r>
            <a:endParaRPr sz="11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87" name="Google Shape;187;p8"/>
          <p:cNvSpPr txBox="1"/>
          <p:nvPr/>
        </p:nvSpPr>
        <p:spPr>
          <a:xfrm>
            <a:off x="548640" y="4572000"/>
            <a:ext cx="6949440" cy="12801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Font typeface="Roboto"/>
              <a:buNone/>
            </a:pPr>
            <a:r>
              <a:rPr b="1" lang="en-US" sz="1400">
                <a:solidFill>
                  <a:schemeClr val="accent5"/>
                </a:solidFill>
                <a:latin typeface="Roboto"/>
                <a:ea typeface="Roboto"/>
                <a:cs typeface="Roboto"/>
                <a:sym typeface="Roboto"/>
              </a:rPr>
              <a:t>Read-out: </a:t>
            </a:r>
            <a:r>
              <a:rPr lang="en-US" sz="14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hitting point at 1.11 m, in front of the body, left foot in front, 16 of 18 checks good; one fix - the ball took 0.86 s from bounce to racquet, so move forward to meet it.</a:t>
            </a:r>
            <a:endParaRPr sz="14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graphicFrame>
        <p:nvGraphicFramePr>
          <p:cNvPr id="188" name="Google Shape;188;p8"/>
          <p:cNvGraphicFramePr/>
          <p:nvPr/>
        </p:nvGraphicFramePr>
        <p:xfrm>
          <a:off x="7863840" y="1737360"/>
          <a:ext cx="3000000" cy="2588525"/>
        </p:xfrm>
        <a:graphic>
          <a:graphicData uri="http://schemas.openxmlformats.org/drawingml/2006/table">
            <a:tbl>
              <a:tblPr>
                <a:noFill/>
                <a:tableStyleId>{17042F10-DA1B-4D29-8927-06B5654F61AB}</a:tableStyleId>
              </a:tblPr>
              <a:tblGrid>
                <a:gridCol w="365750"/>
                <a:gridCol w="1097275"/>
                <a:gridCol w="1097275"/>
                <a:gridCol w="1188725"/>
              </a:tblGrid>
              <a:tr h="41147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lt1"/>
                        </a:buClr>
                        <a:buSzPts val="1200"/>
                        <a:buFont typeface="Arial"/>
                        <a:buNone/>
                      </a:pPr>
                      <a:r>
                        <a:rPr b="1" lang="en-US" sz="1200" u="none" cap="none" strike="noStrike">
                          <a:solidFill>
                            <a:schemeClr val="lt1"/>
                          </a:solidFill>
                        </a:rPr>
                        <a:t>#</a:t>
                      </a:r>
                      <a:endParaRPr sz="1200" u="none" cap="none" strike="noStrike"/>
                    </a:p>
                  </a:txBody>
                  <a:tcPr marT="36575" marB="36575" marR="73150" marL="7315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dk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lt1"/>
                        </a:buClr>
                        <a:buSzPts val="1200"/>
                        <a:buFont typeface="Arial"/>
                        <a:buNone/>
                      </a:pPr>
                      <a:r>
                        <a:rPr b="1" lang="en-US" sz="1200" u="none" cap="none" strike="noStrike">
                          <a:solidFill>
                            <a:schemeClr val="lt1"/>
                          </a:solidFill>
                        </a:rPr>
                        <a:t>Hitting point</a:t>
                      </a:r>
                      <a:endParaRPr sz="1200" u="none" cap="none" strike="noStrike"/>
                    </a:p>
                  </a:txBody>
                  <a:tcPr marT="36575" marB="36575" marR="73150" marL="7315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dk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lt1"/>
                        </a:buClr>
                        <a:buSzPts val="1200"/>
                        <a:buFont typeface="Arial"/>
                        <a:buNone/>
                      </a:pPr>
                      <a:r>
                        <a:rPr b="1" lang="en-US" sz="1200" u="none" cap="none" strike="noStrike">
                          <a:solidFill>
                            <a:schemeClr val="lt1"/>
                          </a:solidFill>
                        </a:rPr>
                        <a:t>Bounce to hit</a:t>
                      </a:r>
                      <a:endParaRPr sz="1200" u="none" cap="none" strike="noStrike"/>
                    </a:p>
                  </a:txBody>
                  <a:tcPr marT="36575" marB="36575" marR="73150" marL="7315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dk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lt1"/>
                        </a:buClr>
                        <a:buSzPts val="1200"/>
                        <a:buFont typeface="Arial"/>
                        <a:buNone/>
                      </a:pPr>
                      <a:r>
                        <a:rPr b="1" lang="en-US" sz="1200" u="none" cap="none" strike="noStrike">
                          <a:solidFill>
                            <a:schemeClr val="lt1"/>
                          </a:solidFill>
                        </a:rPr>
                        <a:t>Fixes</a:t>
                      </a:r>
                      <a:endParaRPr sz="1200" u="none" cap="none" strike="noStrike"/>
                    </a:p>
                  </a:txBody>
                  <a:tcPr marT="36575" marB="36575" marR="73150" marL="7315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dk2"/>
                    </a:solidFill>
                  </a:tcPr>
                </a:tc>
              </a:tr>
              <a:tr h="41147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Arial"/>
                        <a:buNone/>
                      </a:pPr>
                      <a:r>
                        <a:rPr lang="en-US" sz="1200" u="none" cap="none" strike="noStrike">
                          <a:solidFill>
                            <a:schemeClr val="dk1"/>
                          </a:solidFill>
                        </a:rPr>
                        <a:t>1</a:t>
                      </a:r>
                      <a:endParaRPr sz="1200" u="none" cap="none" strike="noStrike"/>
                    </a:p>
                  </a:txBody>
                  <a:tcPr marT="36575" marB="36575" marR="73150" marL="7315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Arial"/>
                        <a:buNone/>
                      </a:pPr>
                      <a:r>
                        <a:rPr lang="en-US" sz="1200" u="none" cap="none" strike="noStrike">
                          <a:solidFill>
                            <a:schemeClr val="dk1"/>
                          </a:solidFill>
                        </a:rPr>
                        <a:t>1.11 m</a:t>
                      </a:r>
                      <a:endParaRPr sz="1200" u="none" cap="none" strike="noStrike"/>
                    </a:p>
                  </a:txBody>
                  <a:tcPr marT="36575" marB="36575" marR="73150" marL="7315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Arial"/>
                        <a:buNone/>
                      </a:pPr>
                      <a:r>
                        <a:rPr lang="en-US" sz="1200" u="none" cap="none" strike="noStrike">
                          <a:solidFill>
                            <a:schemeClr val="dk1"/>
                          </a:solidFill>
                        </a:rPr>
                        <a:t>0.86 s</a:t>
                      </a:r>
                      <a:endParaRPr sz="1200" u="none" cap="none" strike="noStrike"/>
                    </a:p>
                  </a:txBody>
                  <a:tcPr marT="36575" marB="36575" marR="73150" marL="7315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Arial"/>
                        <a:buNone/>
                      </a:pPr>
                      <a:r>
                        <a:rPr lang="en-US" sz="1200" u="none" cap="none" strike="noStrike">
                          <a:solidFill>
                            <a:schemeClr val="dk1"/>
                          </a:solidFill>
                        </a:rPr>
                        <a:t>1</a:t>
                      </a:r>
                      <a:endParaRPr sz="1200" u="none" cap="none" strike="noStrike"/>
                    </a:p>
                  </a:txBody>
                  <a:tcPr marT="36575" marB="36575" marR="73150" marL="7315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  <a:tr h="41147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Arial"/>
                        <a:buNone/>
                      </a:pPr>
                      <a:r>
                        <a:rPr lang="en-US" sz="1200" u="none" cap="none" strike="noStrike">
                          <a:solidFill>
                            <a:schemeClr val="dk1"/>
                          </a:solidFill>
                        </a:rPr>
                        <a:t>2</a:t>
                      </a:r>
                      <a:endParaRPr sz="1200" u="none" cap="none" strike="noStrike"/>
                    </a:p>
                  </a:txBody>
                  <a:tcPr marT="36575" marB="36575" marR="73150" marL="7315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Arial"/>
                        <a:buNone/>
                      </a:pPr>
                      <a:r>
                        <a:rPr lang="en-US" sz="1200" u="none" cap="none" strike="noStrike">
                          <a:solidFill>
                            <a:schemeClr val="dk1"/>
                          </a:solidFill>
                        </a:rPr>
                        <a:t>0.52 m</a:t>
                      </a:r>
                      <a:endParaRPr sz="1200" u="none" cap="none" strike="noStrike"/>
                    </a:p>
                  </a:txBody>
                  <a:tcPr marT="36575" marB="36575" marR="73150" marL="7315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Arial"/>
                        <a:buNone/>
                      </a:pPr>
                      <a:r>
                        <a:rPr lang="en-US" sz="1200" u="none" cap="none" strike="noStrike">
                          <a:solidFill>
                            <a:schemeClr val="dk1"/>
                          </a:solidFill>
                        </a:rPr>
                        <a:t>not seen</a:t>
                      </a:r>
                      <a:endParaRPr sz="1200" u="none" cap="none" strike="noStrike"/>
                    </a:p>
                  </a:txBody>
                  <a:tcPr marT="36575" marB="36575" marR="73150" marL="7315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Arial"/>
                        <a:buNone/>
                      </a:pPr>
                      <a:r>
                        <a:rPr lang="en-US" sz="1200" u="none" cap="none" strike="noStrike">
                          <a:solidFill>
                            <a:schemeClr val="dk1"/>
                          </a:solidFill>
                        </a:rPr>
                        <a:t>3</a:t>
                      </a:r>
                      <a:endParaRPr sz="1200" u="none" cap="none" strike="noStrike"/>
                    </a:p>
                  </a:txBody>
                  <a:tcPr marT="36575" marB="36575" marR="73150" marL="7315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  <a:tr h="41147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Arial"/>
                        <a:buNone/>
                      </a:pPr>
                      <a:r>
                        <a:rPr lang="en-US" sz="1200" u="none" cap="none" strike="noStrike">
                          <a:solidFill>
                            <a:schemeClr val="dk1"/>
                          </a:solidFill>
                        </a:rPr>
                        <a:t>3</a:t>
                      </a:r>
                      <a:endParaRPr sz="1200" u="none" cap="none" strike="noStrike"/>
                    </a:p>
                  </a:txBody>
                  <a:tcPr marT="36575" marB="36575" marR="73150" marL="7315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Arial"/>
                        <a:buNone/>
                      </a:pPr>
                      <a:r>
                        <a:rPr lang="en-US" sz="1200" u="none" cap="none" strike="noStrike">
                          <a:solidFill>
                            <a:schemeClr val="dk1"/>
                          </a:solidFill>
                        </a:rPr>
                        <a:t>0.95 m</a:t>
                      </a:r>
                      <a:endParaRPr sz="1200" u="none" cap="none" strike="noStrike"/>
                    </a:p>
                  </a:txBody>
                  <a:tcPr marT="36575" marB="36575" marR="73150" marL="7315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Arial"/>
                        <a:buNone/>
                      </a:pPr>
                      <a:r>
                        <a:rPr lang="en-US" sz="1200" u="none" cap="none" strike="noStrike">
                          <a:solidFill>
                            <a:schemeClr val="dk1"/>
                          </a:solidFill>
                        </a:rPr>
                        <a:t>not seen</a:t>
                      </a:r>
                      <a:endParaRPr sz="1200" u="none" cap="none" strike="noStrike"/>
                    </a:p>
                  </a:txBody>
                  <a:tcPr marT="36575" marB="36575" marR="73150" marL="7315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Arial"/>
                        <a:buNone/>
                      </a:pPr>
                      <a:r>
                        <a:rPr lang="en-US" sz="1200" u="none" cap="none" strike="noStrike">
                          <a:solidFill>
                            <a:schemeClr val="dk1"/>
                          </a:solidFill>
                        </a:rPr>
                        <a:t>1</a:t>
                      </a:r>
                      <a:endParaRPr sz="1200" u="none" cap="none" strike="noStrike"/>
                    </a:p>
                  </a:txBody>
                  <a:tcPr marT="36575" marB="36575" marR="73150" marL="7315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2"/>
                    </a:solidFill>
                  </a:tcPr>
                </a:tc>
              </a:tr>
              <a:tr h="41147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Arial"/>
                        <a:buNone/>
                      </a:pPr>
                      <a:r>
                        <a:rPr lang="en-US" sz="1200" u="none" cap="none" strike="noStrike">
                          <a:solidFill>
                            <a:schemeClr val="dk1"/>
                          </a:solidFill>
                        </a:rPr>
                        <a:t>4</a:t>
                      </a:r>
                      <a:endParaRPr sz="1200" u="none" cap="none" strike="noStrike"/>
                    </a:p>
                  </a:txBody>
                  <a:tcPr marT="36575" marB="36575" marR="73150" marL="7315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Arial"/>
                        <a:buNone/>
                      </a:pPr>
                      <a:r>
                        <a:rPr lang="en-US" sz="1200" u="none" cap="none" strike="noStrike">
                          <a:solidFill>
                            <a:schemeClr val="dk1"/>
                          </a:solidFill>
                        </a:rPr>
                        <a:t>0.54 m</a:t>
                      </a:r>
                      <a:endParaRPr sz="1200" u="none" cap="none" strike="noStrike"/>
                    </a:p>
                  </a:txBody>
                  <a:tcPr marT="36575" marB="36575" marR="73150" marL="7315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Arial"/>
                        <a:buNone/>
                      </a:pPr>
                      <a:r>
                        <a:rPr lang="en-US" sz="1200" u="none" cap="none" strike="noStrike">
                          <a:solidFill>
                            <a:schemeClr val="dk1"/>
                          </a:solidFill>
                        </a:rPr>
                        <a:t>0.55 s</a:t>
                      </a:r>
                      <a:endParaRPr sz="1200" u="none" cap="none" strike="noStrike"/>
                    </a:p>
                  </a:txBody>
                  <a:tcPr marT="36575" marB="36575" marR="73150" marL="7315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Arial"/>
                        <a:buNone/>
                      </a:pPr>
                      <a:r>
                        <a:rPr lang="en-US" sz="1200" u="none" cap="none" strike="noStrike">
                          <a:solidFill>
                            <a:schemeClr val="dk1"/>
                          </a:solidFill>
                        </a:rPr>
                        <a:t>5</a:t>
                      </a:r>
                      <a:endParaRPr sz="1200" u="none" cap="none" strike="noStrike"/>
                    </a:p>
                  </a:txBody>
                  <a:tcPr marT="36575" marB="36575" marR="73150" marL="7315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</a:tbl>
          </a:graphicData>
        </a:graphic>
      </p:graphicFrame>
      <p:sp>
        <p:nvSpPr>
          <p:cNvPr id="189" name="Google Shape;189;p8"/>
          <p:cNvSpPr txBox="1"/>
          <p:nvPr>
            <p:ph idx="4294967295" type="sldNum"/>
          </p:nvPr>
        </p:nvSpPr>
        <p:spPr>
          <a:xfrm>
            <a:off x="11247120" y="6327648"/>
            <a:ext cx="4572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lang="en-US" sz="1000">
                <a:solidFill>
                  <a:srgbClr val="8A8F80"/>
                </a:solidFill>
                <a:latin typeface="Roboto"/>
                <a:ea typeface="Roboto"/>
                <a:cs typeface="Roboto"/>
                <a:sym typeface="Roboto"/>
              </a:rPr>
              <a:t>‹#›</a:t>
            </a:fld>
            <a:endParaRPr sz="1000">
              <a:solidFill>
                <a:srgbClr val="8A8F80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4" name="Shape 1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5" name="Google Shape;195;p9"/>
          <p:cNvSpPr txBox="1"/>
          <p:nvPr>
            <p:ph idx="1" type="body"/>
          </p:nvPr>
        </p:nvSpPr>
        <p:spPr>
          <a:xfrm>
            <a:off x="548640" y="292608"/>
            <a:ext cx="82296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100"/>
              <a:buNone/>
            </a:pPr>
            <a:r>
              <a:rPr b="1" lang="en-US" spc="100" sz="1100">
                <a:solidFill>
                  <a:schemeClr val="accent1"/>
                </a:solidFill>
                <a:latin typeface="Roboto"/>
                <a:ea typeface="Roboto"/>
                <a:cs typeface="Roboto"/>
                <a:sym typeface="Roboto"/>
              </a:rPr>
              <a:t>DEMO EXPERIENCE</a:t>
            </a:r>
            <a:endParaRPr sz="1100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96" name="Google Shape;196;p9"/>
          <p:cNvSpPr txBox="1"/>
          <p:nvPr>
            <p:ph type="title"/>
          </p:nvPr>
        </p:nvSpPr>
        <p:spPr>
          <a:xfrm>
            <a:off x="548640" y="603504"/>
            <a:ext cx="10424160" cy="9601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600"/>
              <a:buFont typeface="Roboto"/>
              <a:buNone/>
            </a:pPr>
            <a:r>
              <a:rPr lang="en-US" sz="26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rPr>
              <a:t>The player gets the answer first - the coach's note - and the visual evidence underneath</a:t>
            </a:r>
            <a:endParaRPr sz="2600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97" name="Google Shape;197;p9"/>
          <p:cNvSpPr txBox="1"/>
          <p:nvPr>
            <p:ph idx="2" type="body"/>
          </p:nvPr>
        </p:nvSpPr>
        <p:spPr>
          <a:xfrm>
            <a:off x="548640" y="6327648"/>
            <a:ext cx="9692640" cy="29260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None/>
            </a:pPr>
            <a:r>
              <a:rPr lang="en-US" sz="1000">
                <a:solidFill>
                  <a:schemeClr val="accent3"/>
                </a:solidFill>
                <a:latin typeface="Roboto"/>
                <a:ea typeface="Roboto"/>
                <a:cs typeface="Roboto"/>
                <a:sym typeface="Roboto"/>
              </a:rPr>
              <a:t>Screenshot of the Serve Lab web demo (serve mode, clip IMG_3025)</a:t>
            </a:r>
            <a:endParaRPr sz="1000">
              <a:latin typeface="Roboto"/>
              <a:ea typeface="Roboto"/>
              <a:cs typeface="Roboto"/>
              <a:sym typeface="Roboto"/>
            </a:endParaRPr>
          </a:p>
        </p:txBody>
      </p:sp>
      <p:pic>
        <p:nvPicPr>
          <p:cNvPr descr="preencoded.png" id="198" name="Google Shape;198;p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48640" y="1691640"/>
            <a:ext cx="5760720" cy="4343400"/>
          </a:xfrm>
          <a:prstGeom prst="rect">
            <a:avLst/>
          </a:prstGeom>
          <a:noFill/>
          <a:ln>
            <a:noFill/>
          </a:ln>
        </p:spPr>
      </p:pic>
      <p:sp>
        <p:nvSpPr>
          <p:cNvPr id="199" name="Google Shape;199;p9"/>
          <p:cNvSpPr/>
          <p:nvPr/>
        </p:nvSpPr>
        <p:spPr>
          <a:xfrm>
            <a:off x="6675120" y="1783080"/>
            <a:ext cx="502920" cy="502920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00" name="Google Shape;200;p9"/>
          <p:cNvSpPr txBox="1"/>
          <p:nvPr/>
        </p:nvSpPr>
        <p:spPr>
          <a:xfrm>
            <a:off x="6675120" y="1783080"/>
            <a:ext cx="50292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Roboto"/>
              <a:buNone/>
            </a:pPr>
            <a:r>
              <a:rPr b="1" lang="en-US" sz="16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rPr>
              <a:t>1</a:t>
            </a:r>
            <a:endParaRPr sz="16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01" name="Google Shape;201;p9"/>
          <p:cNvSpPr txBox="1"/>
          <p:nvPr/>
        </p:nvSpPr>
        <p:spPr>
          <a:xfrm>
            <a:off x="7360920" y="1764792"/>
            <a:ext cx="4206240" cy="3657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700"/>
              <a:buFont typeface="Roboto"/>
              <a:buNone/>
            </a:pPr>
            <a:r>
              <a:rPr b="1" lang="en-US" sz="17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rPr>
              <a:t>Coach's note</a:t>
            </a:r>
            <a:endParaRPr sz="17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02" name="Google Shape;202;p9"/>
          <p:cNvSpPr txBox="1"/>
          <p:nvPr/>
        </p:nvSpPr>
        <p:spPr>
          <a:xfrm>
            <a:off x="7360920" y="2130552"/>
            <a:ext cx="4206240" cy="5943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Roboto"/>
              <a:buNone/>
            </a:pPr>
            <a:r>
              <a:rPr lang="en-US" sz="13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everything that is good, every fix in priority order, what could not be measured</a:t>
            </a:r>
            <a:endParaRPr sz="13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03" name="Google Shape;203;p9"/>
          <p:cNvSpPr/>
          <p:nvPr/>
        </p:nvSpPr>
        <p:spPr>
          <a:xfrm>
            <a:off x="6675120" y="2834640"/>
            <a:ext cx="502920" cy="502920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04" name="Google Shape;204;p9"/>
          <p:cNvSpPr txBox="1"/>
          <p:nvPr/>
        </p:nvSpPr>
        <p:spPr>
          <a:xfrm>
            <a:off x="6675120" y="2834640"/>
            <a:ext cx="50292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Roboto"/>
              <a:buNone/>
            </a:pPr>
            <a:r>
              <a:rPr b="1" lang="en-US" sz="16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rPr>
              <a:t>2</a:t>
            </a:r>
            <a:endParaRPr sz="16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05" name="Google Shape;205;p9"/>
          <p:cNvSpPr txBox="1"/>
          <p:nvPr/>
        </p:nvSpPr>
        <p:spPr>
          <a:xfrm>
            <a:off x="7360920" y="2816352"/>
            <a:ext cx="4206240" cy="3657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700"/>
              <a:buFont typeface="Roboto"/>
              <a:buNone/>
            </a:pPr>
            <a:r>
              <a:rPr b="1" lang="en-US" sz="17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rPr>
              <a:t>Ball trajectory</a:t>
            </a:r>
            <a:endParaRPr sz="17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06" name="Google Shape;206;p9"/>
          <p:cNvSpPr txBox="1"/>
          <p:nvPr/>
        </p:nvSpPr>
        <p:spPr>
          <a:xfrm>
            <a:off x="7360920" y="3182112"/>
            <a:ext cx="4206240" cy="5943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Roboto"/>
              <a:buNone/>
            </a:pPr>
            <a:r>
              <a:rPr lang="en-US" sz="13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full-screen path: incoming ball, bounce, hitting point, ball leaving</a:t>
            </a:r>
            <a:endParaRPr sz="13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07" name="Google Shape;207;p9"/>
          <p:cNvSpPr/>
          <p:nvPr/>
        </p:nvSpPr>
        <p:spPr>
          <a:xfrm>
            <a:off x="6675120" y="3886200"/>
            <a:ext cx="502920" cy="502920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08" name="Google Shape;208;p9"/>
          <p:cNvSpPr txBox="1"/>
          <p:nvPr/>
        </p:nvSpPr>
        <p:spPr>
          <a:xfrm>
            <a:off x="6675120" y="3886200"/>
            <a:ext cx="50292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Roboto"/>
              <a:buNone/>
            </a:pPr>
            <a:r>
              <a:rPr b="1" lang="en-US" sz="16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rPr>
              <a:t>3</a:t>
            </a:r>
            <a:endParaRPr sz="16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09" name="Google Shape;209;p9"/>
          <p:cNvSpPr txBox="1"/>
          <p:nvPr/>
        </p:nvSpPr>
        <p:spPr>
          <a:xfrm>
            <a:off x="7360920" y="3867912"/>
            <a:ext cx="4206240" cy="3657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700"/>
              <a:buFont typeface="Roboto"/>
              <a:buNone/>
            </a:pPr>
            <a:r>
              <a:rPr b="1" lang="en-US" sz="17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rPr>
              <a:t>Slow motion</a:t>
            </a:r>
            <a:endParaRPr sz="17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10" name="Google Shape;210;p9"/>
          <p:cNvSpPr txBox="1"/>
          <p:nvPr/>
        </p:nvSpPr>
        <p:spPr>
          <a:xfrm>
            <a:off x="7360920" y="4233672"/>
            <a:ext cx="4206240" cy="5943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Roboto"/>
              <a:buNone/>
            </a:pPr>
            <a:r>
              <a:rPr lang="en-US" sz="13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annotated sequence with skeleton and racquet, key moments, joint heights</a:t>
            </a:r>
            <a:endParaRPr sz="13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11" name="Google Shape;211;p9"/>
          <p:cNvSpPr/>
          <p:nvPr/>
        </p:nvSpPr>
        <p:spPr>
          <a:xfrm>
            <a:off x="6675120" y="4937760"/>
            <a:ext cx="502920" cy="502920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12" name="Google Shape;212;p9"/>
          <p:cNvSpPr txBox="1"/>
          <p:nvPr/>
        </p:nvSpPr>
        <p:spPr>
          <a:xfrm>
            <a:off x="6675120" y="4937760"/>
            <a:ext cx="50292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Roboto"/>
              <a:buNone/>
            </a:pPr>
            <a:r>
              <a:rPr b="1" lang="en-US" sz="16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rPr>
              <a:t>4</a:t>
            </a:r>
            <a:endParaRPr sz="16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13" name="Google Shape;213;p9"/>
          <p:cNvSpPr txBox="1"/>
          <p:nvPr/>
        </p:nvSpPr>
        <p:spPr>
          <a:xfrm>
            <a:off x="7360920" y="4919472"/>
            <a:ext cx="4206240" cy="3657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700"/>
              <a:buFont typeface="Roboto"/>
              <a:buNone/>
            </a:pPr>
            <a:r>
              <a:rPr b="1" lang="en-US" sz="17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rPr>
              <a:t>Checklist</a:t>
            </a:r>
            <a:endParaRPr sz="17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14" name="Google Shape;214;p9"/>
          <p:cNvSpPr txBox="1"/>
          <p:nvPr/>
        </p:nvSpPr>
        <p:spPr>
          <a:xfrm>
            <a:off x="7360920" y="5285232"/>
            <a:ext cx="4206240" cy="5943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Roboto"/>
              <a:buNone/>
            </a:pPr>
            <a:r>
              <a:rPr lang="en-US" sz="13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every check: good, improve or not measurable, with the measured value</a:t>
            </a:r>
            <a:endParaRPr sz="13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15" name="Google Shape;215;p9"/>
          <p:cNvSpPr txBox="1"/>
          <p:nvPr>
            <p:ph idx="4294967295" type="sldNum"/>
          </p:nvPr>
        </p:nvSpPr>
        <p:spPr>
          <a:xfrm>
            <a:off x="11247120" y="6327648"/>
            <a:ext cx="4572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lang="en-US" sz="1000">
                <a:solidFill>
                  <a:srgbClr val="8A8F80"/>
                </a:solidFill>
                <a:latin typeface="Roboto"/>
                <a:ea typeface="Roboto"/>
                <a:cs typeface="Roboto"/>
                <a:sym typeface="Roboto"/>
              </a:rPr>
              <a:t>‹#›</a:t>
            </a:fld>
            <a:endParaRPr sz="1000">
              <a:solidFill>
                <a:srgbClr val="8A8F80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20" name="Shape 2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1" name="Google Shape;221;p10"/>
          <p:cNvSpPr txBox="1"/>
          <p:nvPr>
            <p:ph idx="1" type="body"/>
          </p:nvPr>
        </p:nvSpPr>
        <p:spPr>
          <a:xfrm>
            <a:off x="548640" y="292608"/>
            <a:ext cx="82296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100"/>
              <a:buNone/>
            </a:pPr>
            <a:r>
              <a:rPr b="1" lang="en-US" spc="100" sz="1100">
                <a:solidFill>
                  <a:schemeClr val="accent1"/>
                </a:solidFill>
                <a:latin typeface="Roboto"/>
                <a:ea typeface="Roboto"/>
                <a:cs typeface="Roboto"/>
                <a:sym typeface="Roboto"/>
              </a:rPr>
              <a:t>EDGE READINESS</a:t>
            </a:r>
            <a:endParaRPr sz="1100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22" name="Google Shape;222;p10"/>
          <p:cNvSpPr txBox="1"/>
          <p:nvPr>
            <p:ph type="title"/>
          </p:nvPr>
        </p:nvSpPr>
        <p:spPr>
          <a:xfrm>
            <a:off x="548640" y="603504"/>
            <a:ext cx="10424160" cy="9601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600"/>
              <a:buFont typeface="Roboto"/>
              <a:buNone/>
            </a:pPr>
            <a:r>
              <a:rPr lang="en-US" sz="26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rPr>
              <a:t>The heavy part is exactly what the NPU accelerates, and the whole stack is licensed for commercial use</a:t>
            </a:r>
            <a:endParaRPr sz="2600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23" name="Google Shape;223;p10"/>
          <p:cNvSpPr txBox="1"/>
          <p:nvPr>
            <p:ph idx="2" type="body"/>
          </p:nvPr>
        </p:nvSpPr>
        <p:spPr>
          <a:xfrm>
            <a:off x="548640" y="6327648"/>
            <a:ext cx="9692640" cy="29260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None/>
            </a:pPr>
            <a:r>
              <a:rPr lang="en-US" sz="1000">
                <a:solidFill>
                  <a:schemeClr val="accent3"/>
                </a:solidFill>
                <a:latin typeface="Roboto"/>
                <a:ea typeface="Roboto"/>
                <a:cs typeface="Roboto"/>
                <a:sym typeface="Roboto"/>
              </a:rPr>
              <a:t>CPU time on a 2-core cloud machine, forehand clip (1818 frames, 1280x720 at 120 fps). Not yet benchmarked on the UGen300</a:t>
            </a:r>
            <a:endParaRPr sz="1000">
              <a:latin typeface="Roboto"/>
              <a:ea typeface="Roboto"/>
              <a:cs typeface="Roboto"/>
              <a:sym typeface="Roboto"/>
            </a:endParaRPr>
          </a:p>
        </p:txBody>
      </p:sp>
      <p:graphicFrame>
        <p:nvGraphicFramePr>
          <p:cNvPr id="224" name="Google Shape;224;p10"/>
          <p:cNvGraphicFramePr/>
          <p:nvPr/>
        </p:nvGraphicFramePr>
        <p:xfrm>
          <a:off x="548640" y="1691640"/>
          <a:ext cx="5852160" cy="4206240"/>
        </p:xfrm>
        <a:graphic>
          <a:graphicData uri="http://schemas.openxmlformats.org/drawingml/2006/chart">
            <c:chart r:id="rId3"/>
          </a:graphicData>
        </a:graphic>
      </p:graphicFrame>
      <p:sp>
        <p:nvSpPr>
          <p:cNvPr id="225" name="Google Shape;225;p10"/>
          <p:cNvSpPr txBox="1"/>
          <p:nvPr/>
        </p:nvSpPr>
        <p:spPr>
          <a:xfrm>
            <a:off x="6858000" y="1783080"/>
            <a:ext cx="4754880" cy="3657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Roboto"/>
              <a:buNone/>
            </a:pPr>
            <a:r>
              <a:rPr b="1" lang="en-US" sz="16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rPr>
              <a:t>Speed-ups already in</a:t>
            </a:r>
            <a:endParaRPr sz="16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26" name="Google Shape;226;p10"/>
          <p:cNvSpPr txBox="1"/>
          <p:nvPr/>
        </p:nvSpPr>
        <p:spPr>
          <a:xfrm>
            <a:off x="6858000" y="2148840"/>
            <a:ext cx="4754880" cy="914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Roboto"/>
              <a:buNone/>
            </a:pPr>
            <a:r>
              <a:rPr lang="en-US" sz="13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Detector at 10 Hz, skeleton at 60 Hz with gaps filled, shake estimate on a small copy: the forehand clip went from 270-390 s to 199 s.</a:t>
            </a:r>
            <a:endParaRPr sz="13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27" name="Google Shape;227;p10"/>
          <p:cNvSpPr txBox="1"/>
          <p:nvPr/>
        </p:nvSpPr>
        <p:spPr>
          <a:xfrm>
            <a:off x="6858000" y="3154680"/>
            <a:ext cx="4754880" cy="3657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Roboto"/>
              <a:buNone/>
            </a:pPr>
            <a:r>
              <a:rPr b="1" lang="en-US" sz="16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rPr>
              <a:t>To the NPU</a:t>
            </a:r>
            <a:endParaRPr sz="16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28" name="Google Shape;228;p10"/>
          <p:cNvSpPr txBox="1"/>
          <p:nvPr/>
        </p:nvSpPr>
        <p:spPr>
          <a:xfrm>
            <a:off x="6858000" y="3520440"/>
            <a:ext cx="4754880" cy="914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Roboto"/>
              <a:buNone/>
            </a:pPr>
            <a:r>
              <a:rPr lang="en-US" sz="13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Detection, racquet and skeleton are standard networks - the work the Hailo NPU is built for.</a:t>
            </a:r>
            <a:endParaRPr sz="13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29" name="Google Shape;229;p10"/>
          <p:cNvSpPr txBox="1"/>
          <p:nvPr/>
        </p:nvSpPr>
        <p:spPr>
          <a:xfrm>
            <a:off x="6858000" y="4526280"/>
            <a:ext cx="4754880" cy="3657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600"/>
              <a:buFont typeface="Roboto"/>
              <a:buNone/>
            </a:pPr>
            <a:r>
              <a:rPr b="1" lang="en-US" sz="1600">
                <a:solidFill>
                  <a:schemeClr val="accent5"/>
                </a:solidFill>
                <a:latin typeface="Roboto"/>
                <a:ea typeface="Roboto"/>
                <a:cs typeface="Roboto"/>
                <a:sym typeface="Roboto"/>
              </a:rPr>
              <a:t>Commercially clean</a:t>
            </a:r>
            <a:endParaRPr sz="16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30" name="Google Shape;230;p10"/>
          <p:cNvSpPr txBox="1"/>
          <p:nvPr/>
        </p:nvSpPr>
        <p:spPr>
          <a:xfrm>
            <a:off x="6858000" y="4892040"/>
            <a:ext cx="4754880" cy="914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Roboto"/>
              <a:buNone/>
            </a:pPr>
            <a:r>
              <a:rPr lang="en-US" sz="13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OpenCV, MediaPipe, YOLOX, ONNX Runtime: Apache / BSD / MIT. Ultralytics YOLO (AGPL) deliberately avoided.</a:t>
            </a:r>
            <a:endParaRPr sz="13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31" name="Google Shape;231;p10"/>
          <p:cNvSpPr txBox="1"/>
          <p:nvPr>
            <p:ph idx="4294967295" type="sldNum"/>
          </p:nvPr>
        </p:nvSpPr>
        <p:spPr>
          <a:xfrm>
            <a:off x="11247120" y="6327648"/>
            <a:ext cx="4572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lang="en-US" sz="1000">
                <a:solidFill>
                  <a:srgbClr val="8A8F80"/>
                </a:solidFill>
                <a:latin typeface="Roboto"/>
                <a:ea typeface="Roboto"/>
                <a:cs typeface="Roboto"/>
                <a:sym typeface="Roboto"/>
              </a:rPr>
              <a:t>‹#›</a:t>
            </a:fld>
            <a:endParaRPr sz="1000">
              <a:solidFill>
                <a:srgbClr val="8A8F80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36" name="Shape 2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7" name="Google Shape;237;p11"/>
          <p:cNvSpPr txBox="1"/>
          <p:nvPr>
            <p:ph type="title"/>
          </p:nvPr>
        </p:nvSpPr>
        <p:spPr>
          <a:xfrm>
            <a:off x="731520" y="2148840"/>
            <a:ext cx="8778240" cy="173736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000"/>
              <a:buFont typeface="Roboto"/>
              <a:buNone/>
            </a:pPr>
            <a:r>
              <a:rPr b="1" lang="en-US" sz="40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Next: from web demo to an Android app with the UGen300 doing the heavy lifting</a:t>
            </a:r>
            <a:endParaRPr sz="4000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38" name="Google Shape;238;p11"/>
          <p:cNvSpPr txBox="1"/>
          <p:nvPr/>
        </p:nvSpPr>
        <p:spPr>
          <a:xfrm>
            <a:off x="731520" y="4206240"/>
            <a:ext cx="3383280" cy="3657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800"/>
              <a:buFont typeface="Roboto"/>
              <a:buNone/>
            </a:pPr>
            <a:r>
              <a:rPr b="1" lang="en-US" sz="1800">
                <a:solidFill>
                  <a:schemeClr val="accent1"/>
                </a:solidFill>
                <a:latin typeface="Roboto"/>
                <a:ea typeface="Roboto"/>
                <a:cs typeface="Roboto"/>
                <a:sym typeface="Roboto"/>
              </a:rPr>
              <a:t>Now</a:t>
            </a:r>
            <a:endParaRPr sz="18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39" name="Google Shape;239;p11"/>
          <p:cNvSpPr txBox="1"/>
          <p:nvPr/>
        </p:nvSpPr>
        <p:spPr>
          <a:xfrm>
            <a:off x="731520" y="4617720"/>
            <a:ext cx="3383280" cy="8229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oboto"/>
              <a:buNone/>
            </a:pPr>
            <a:r>
              <a:rPr lang="en-US" sz="14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Serve and forehand working end to end; web demo</a:t>
            </a:r>
            <a:endParaRPr sz="14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40" name="Google Shape;240;p11"/>
          <p:cNvSpPr txBox="1"/>
          <p:nvPr/>
        </p:nvSpPr>
        <p:spPr>
          <a:xfrm>
            <a:off x="4343400" y="4206240"/>
            <a:ext cx="3383280" cy="3657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800"/>
              <a:buFont typeface="Roboto"/>
              <a:buNone/>
            </a:pPr>
            <a:r>
              <a:rPr b="1" lang="en-US" sz="1800">
                <a:solidFill>
                  <a:schemeClr val="accent1"/>
                </a:solidFill>
                <a:latin typeface="Roboto"/>
                <a:ea typeface="Roboto"/>
                <a:cs typeface="Roboto"/>
                <a:sym typeface="Roboto"/>
              </a:rPr>
              <a:t>Next</a:t>
            </a:r>
            <a:endParaRPr sz="18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41" name="Google Shape;241;p11"/>
          <p:cNvSpPr txBox="1"/>
          <p:nvPr/>
        </p:nvSpPr>
        <p:spPr>
          <a:xfrm>
            <a:off x="4343400" y="4617720"/>
            <a:ext cx="3383280" cy="8229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oboto"/>
              <a:buNone/>
            </a:pPr>
            <a:r>
              <a:rPr lang="en-US" sz="14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YOLOX + pose on the Hailo NPU; Android app with filming guide</a:t>
            </a:r>
            <a:endParaRPr sz="14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42" name="Google Shape;242;p11"/>
          <p:cNvSpPr txBox="1"/>
          <p:nvPr/>
        </p:nvSpPr>
        <p:spPr>
          <a:xfrm>
            <a:off x="7955280" y="4206240"/>
            <a:ext cx="3383280" cy="3657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800"/>
              <a:buFont typeface="Roboto"/>
              <a:buNone/>
            </a:pPr>
            <a:r>
              <a:rPr b="1" lang="en-US" sz="1800">
                <a:solidFill>
                  <a:schemeClr val="accent1"/>
                </a:solidFill>
                <a:latin typeface="Roboto"/>
                <a:ea typeface="Roboto"/>
                <a:cs typeface="Roboto"/>
                <a:sym typeface="Roboto"/>
              </a:rPr>
              <a:t>Then</a:t>
            </a:r>
            <a:endParaRPr sz="18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43" name="Google Shape;243;p11"/>
          <p:cNvSpPr txBox="1"/>
          <p:nvPr/>
        </p:nvSpPr>
        <p:spPr>
          <a:xfrm>
            <a:off x="7955280" y="4617720"/>
            <a:ext cx="3383280" cy="8229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oboto"/>
              <a:buNone/>
            </a:pPr>
            <a:r>
              <a:rPr lang="en-US" sz="14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Coaches validate thresholds; backhand; club trials</a:t>
            </a:r>
            <a:endParaRPr sz="14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44" name="Google Shape;244;p11"/>
          <p:cNvSpPr txBox="1"/>
          <p:nvPr/>
        </p:nvSpPr>
        <p:spPr>
          <a:xfrm>
            <a:off x="731520" y="5760720"/>
            <a:ext cx="100584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800"/>
              <a:buFont typeface="Roboto"/>
              <a:buNone/>
            </a:pPr>
            <a:r>
              <a:rPr b="1" lang="en-US" sz="1800">
                <a:solidFill>
                  <a:schemeClr val="accent4"/>
                </a:solidFill>
                <a:latin typeface="Roboto"/>
                <a:ea typeface="Roboto"/>
                <a:cs typeface="Roboto"/>
                <a:sym typeface="Roboto"/>
              </a:rPr>
              <a:t>Thank you - Jefferson &amp; Ben</a:t>
            </a:r>
            <a:endParaRPr sz="18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45" name="Google Shape;245;p11"/>
          <p:cNvSpPr txBox="1"/>
          <p:nvPr>
            <p:ph idx="1" type="body"/>
          </p:nvPr>
        </p:nvSpPr>
        <p:spPr>
          <a:xfrm>
            <a:off x="731520" y="4069080"/>
            <a:ext cx="8778240" cy="914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800"/>
              <a:buNone/>
            </a:pPr>
            <a:r>
              <a:t/>
            </a:r>
            <a:endParaRPr sz="1800"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Serve Lab">
  <a:themeElements>
    <a:clrScheme name="Serve Lab">
      <a:dk1>
        <a:srgbClr val="1F211C"/>
      </a:dk1>
      <a:lt1>
        <a:srgbClr val="FFFFFF"/>
      </a:lt1>
      <a:dk2>
        <a:srgbClr val="373A31"/>
      </a:dk2>
      <a:lt2>
        <a:srgbClr val="F1F2EE"/>
      </a:lt2>
      <a:accent1>
        <a:srgbClr val="79BA00"/>
      </a:accent1>
      <a:accent2>
        <a:srgbClr val="373A31"/>
      </a:accent2>
      <a:accent3>
        <a:srgbClr val="8A8F80"/>
      </a:accent3>
      <a:accent4>
        <a:srgbClr val="C6E39A"/>
      </a:accent4>
      <a:accent5>
        <a:srgbClr val="3E6B00"/>
      </a:accent5>
      <a:accent6>
        <a:srgbClr val="B9BCB2"/>
      </a:accent6>
      <a:hlink>
        <a:srgbClr val="3E6B00"/>
      </a:hlink>
      <a:folHlink>
        <a:srgbClr val="5E6355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2026-10-11T22:54:46Z</dcterms:created>
  <dc:creator>PptxGenJS</dc:creator>
</cp:coreProperties>
</file>